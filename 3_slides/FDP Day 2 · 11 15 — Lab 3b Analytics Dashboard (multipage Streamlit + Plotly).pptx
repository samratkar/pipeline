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6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2821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after Lab 3a. About 75 minutes: 10 minutes on the two idioms and the morning run, 45 minutes building the dashboard live, 10 minutes on Mission 6's release strategy, 10 to close and issue the extensions. Same repository, same .venv, API from Lab 3a still running on :8000. The dashboard runs on :8501.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distinction the Lab 3 handout draws at the end of Part 3a, and it is the reason 3b is a separate app rather than a fourth tab on the planner screen. For the analytics courses in the portfolio, this slide alone is worth teaching: most student dashboards fail because they try to be both.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for a number, not a principle — most rooms land somewhere between a few hundred and a few thousand lines. Then name the cost nobody volunteers: the batch path loads the model itself, so it is a second place the tier boundaries live. If the API's thresholds change and the batch scorer's do not, the morning list and the planner screen disagree.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Serve beat: a planner gets a score in under two milliseconds, a manager gets a dashboard over the same data, and a shadow harness is ready for the next candidate. Then hand the thread to Lab 4 — the feature-age observation is the loose end, and a participant who built the feature-health page as a take-home will arrive at M5 already convinced.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3A63B"/>
                </a:solidFill>
                <a:latin typeface="JetBrains Mono" pitchFamily="34" charset="0"/>
                <a:ea typeface="JetBrains Mono" pitchFamily="34" charset="-122"/>
                <a:cs typeface="JetBrains Mono" pitchFamily="34" charset="-120"/>
              </a:rPr>
              <a:t>FROM PIPELINES TO PRODUCTION · DAY 2 · 11:15–12:30</a:t>
            </a:r>
            <a:endParaRPr lang="en-US" sz="1200" dirty="0"/>
          </a:p>
        </p:txBody>
      </p:sp>
      <p:sp>
        <p:nvSpPr>
          <p:cNvPr id="3" name="Text 1"/>
          <p:cNvSpPr/>
          <p:nvPr/>
        </p:nvSpPr>
        <p:spPr>
          <a:xfrm>
            <a:off x="812800" y="1153120"/>
            <a:ext cx="10883392"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F6F4EE"/>
                </a:solidFill>
                <a:latin typeface="IBM Plex Sans" pitchFamily="34" charset="0"/>
                <a:ea typeface="IBM Plex Sans" pitchFamily="34" charset="-122"/>
                <a:cs typeface="IBM Plex Sans" pitchFamily="34" charset="-120"/>
              </a:rPr>
              <a:t>Lab 3b</a:t>
            </a:r>
            <a:endParaRPr lang="en-US" sz="5600" dirty="0"/>
          </a:p>
        </p:txBody>
      </p:sp>
      <p:sp>
        <p:nvSpPr>
          <p:cNvPr id="4" name="Text 2"/>
          <p:cNvSpPr/>
          <p:nvPr/>
        </p:nvSpPr>
        <p:spPr>
          <a:xfrm>
            <a:off x="812800" y="2026841"/>
            <a:ext cx="9810750" cy="817761"/>
          </a:xfrm>
          <a:prstGeom prst="rect">
            <a:avLst/>
          </a:prstGeom>
          <a:noFill/>
          <a:ln/>
        </p:spPr>
        <p:txBody>
          <a:bodyPr wrap="square" lIns="0" tIns="0" rIns="0" bIns="0" rtlCol="0" anchor="t">
            <a:normAutofit/>
          </a:bodyPr>
          <a:lstStyle/>
          <a:p>
            <a:pPr marL="0" indent="0" algn="l">
              <a:lnSpc>
                <a:spcPts val="3120"/>
              </a:lnSpc>
              <a:buNone/>
            </a:pPr>
            <a:r>
              <a:rPr lang="en-US" sz="2400" dirty="0">
                <a:solidFill>
                  <a:srgbClr val="F6F4EE"/>
                </a:solidFill>
                <a:latin typeface="IBM Plex Sans" pitchFamily="34" charset="0"/>
                <a:ea typeface="IBM Plex Sans" pitchFamily="34" charset="-122"/>
                <a:cs typeface="IBM Plex Sans" pitchFamily="34" charset="-120"/>
              </a:rPr>
              <a:t>The analytics dashboard: multipage Streamlit and Plotly over the reorder data</a:t>
            </a:r>
            <a:endParaRPr lang="en-US" sz="2400" dirty="0"/>
          </a:p>
        </p:txBody>
      </p:sp>
      <p:sp>
        <p:nvSpPr>
          <p:cNvPr id="5" name="Shape 3"/>
          <p:cNvSpPr/>
          <p:nvPr/>
        </p:nvSpPr>
        <p:spPr>
          <a:xfrm>
            <a:off x="812800" y="5200749"/>
            <a:ext cx="10566400" cy="0"/>
          </a:xfrm>
          <a:prstGeom prst="line">
            <a:avLst/>
          </a:prstGeom>
          <a:noFill/>
          <a:ln w="12700">
            <a:solidFill>
              <a:srgbClr val="3A4B57"/>
            </a:solidFill>
            <a:prstDash val="solid"/>
          </a:ln>
        </p:spPr>
        <p:txBody>
          <a:bodyPr/>
          <a:lstStyle/>
          <a:p>
            <a:endParaRPr lang="en-IN"/>
          </a:p>
        </p:txBody>
      </p:sp>
      <p:sp>
        <p:nvSpPr>
          <p:cNvPr id="6" name="Text 4"/>
          <p:cNvSpPr/>
          <p:nvPr/>
        </p:nvSpPr>
        <p:spPr>
          <a:xfrm>
            <a:off x="812800" y="5410299"/>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8C5CB"/>
                </a:solidFill>
                <a:latin typeface="IBM Plex Sans" pitchFamily="34" charset="0"/>
                <a:ea typeface="IBM Plex Sans" pitchFamily="34" charset="-122"/>
                <a:cs typeface="IBM Plex Sans" pitchFamily="34" charset="-120"/>
              </a:rPr>
              <a:t>Batch scoring · KPI cards · cohort filters · chart choice · core built live, extensions take-home</a:t>
            </a:r>
            <a:endParaRPr lang="en-US" sz="1600" dirty="0"/>
          </a:p>
        </p:txBody>
      </p:sp>
      <p:sp>
        <p:nvSpPr>
          <p:cNvPr id="7" name="Text 5"/>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5CB"/>
                </a:solidFill>
                <a:latin typeface="JetBrains Mono" pitchFamily="34" charset="0"/>
                <a:ea typeface="JetBrains Mono" pitchFamily="34" charset="-122"/>
                <a:cs typeface="JetBrains Mono" pitchFamily="34" charset="-120"/>
              </a:rPr>
              <a:t>BITS Pilani WILP · CSIS · Pravin Y Pawar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148728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WHERE 3A ENDS AND 3B BEGINS</a:t>
            </a:r>
            <a:endParaRPr lang="en-US" sz="1200" dirty="0"/>
          </a:p>
        </p:txBody>
      </p:sp>
      <p:sp>
        <p:nvSpPr>
          <p:cNvPr id="3" name="Text 1"/>
          <p:cNvSpPr/>
          <p:nvPr/>
        </p:nvSpPr>
        <p:spPr>
          <a:xfrm>
            <a:off x="812800" y="1802209"/>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Two idioms, and the tell is the question each answers</a:t>
            </a:r>
            <a:endParaRPr lang="en-US" sz="3200" dirty="0"/>
          </a:p>
        </p:txBody>
      </p:sp>
      <p:sp>
        <p:nvSpPr>
          <p:cNvPr id="4" name="Shape 2"/>
          <p:cNvSpPr/>
          <p:nvPr/>
        </p:nvSpPr>
        <p:spPr>
          <a:xfrm>
            <a:off x="819150" y="2560340"/>
            <a:ext cx="5168900" cy="1706761"/>
          </a:xfrm>
          <a:prstGeom prst="roundRect">
            <a:avLst>
              <a:gd name="adj" fmla="val 5581"/>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054100" y="2795290"/>
            <a:ext cx="48399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Serving idiom · Lab 3a</a:t>
            </a:r>
            <a:endParaRPr lang="en-US" sz="1200" dirty="0"/>
          </a:p>
        </p:txBody>
      </p:sp>
      <p:sp>
        <p:nvSpPr>
          <p:cNvPr id="6" name="Text 4"/>
          <p:cNvSpPr/>
          <p:nvPr/>
        </p:nvSpPr>
        <p:spPr>
          <a:xfrm>
            <a:off x="1054100" y="3110210"/>
            <a:ext cx="483997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32E"/>
                </a:solidFill>
                <a:latin typeface="IBM Plex Sans" pitchFamily="34" charset="0"/>
                <a:ea typeface="IBM Plex Sans" pitchFamily="34" charset="-122"/>
                <a:cs typeface="IBM Plex Sans" pitchFamily="34" charset="-120"/>
              </a:rPr>
              <a:t>“What should I do about this line?”</a:t>
            </a:r>
            <a:endParaRPr lang="en-US" sz="2000" dirty="0"/>
          </a:p>
        </p:txBody>
      </p:sp>
      <p:sp>
        <p:nvSpPr>
          <p:cNvPr id="7" name="Text 5"/>
          <p:cNvSpPr/>
          <p:nvPr/>
        </p:nvSpPr>
        <p:spPr>
          <a:xfrm>
            <a:off x="1054100" y="3516610"/>
            <a:ext cx="4839970"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E5B63"/>
                </a:solidFill>
                <a:latin typeface="IBM Plex Sans" pitchFamily="34" charset="0"/>
                <a:ea typeface="IBM Plex Sans" pitchFamily="34" charset="-122"/>
                <a:cs typeface="IBM Plex Sans" pitchFamily="34" charset="-120"/>
              </a:rPr>
              <a:t>One input, one answer, fast, with the model version beside it. An operational app.</a:t>
            </a:r>
            <a:endParaRPr lang="en-US" sz="1400" dirty="0"/>
          </a:p>
        </p:txBody>
      </p:sp>
      <p:sp>
        <p:nvSpPr>
          <p:cNvPr id="8" name="Shape 6"/>
          <p:cNvSpPr/>
          <p:nvPr/>
        </p:nvSpPr>
        <p:spPr>
          <a:xfrm>
            <a:off x="6203950" y="2560340"/>
            <a:ext cx="5168900" cy="1706761"/>
          </a:xfrm>
          <a:prstGeom prst="roundRect">
            <a:avLst>
              <a:gd name="adj" fmla="val 5581"/>
            </a:avLst>
          </a:prstGeom>
          <a:solidFill>
            <a:srgbClr val="E2EEEC"/>
          </a:solidFill>
          <a:ln w="12700">
            <a:solidFill>
              <a:srgbClr val="0E6F6D"/>
            </a:solidFill>
            <a:prstDash val="solid"/>
          </a:ln>
        </p:spPr>
        <p:txBody>
          <a:bodyPr/>
          <a:lstStyle/>
          <a:p>
            <a:endParaRPr lang="en-IN"/>
          </a:p>
        </p:txBody>
      </p:sp>
      <p:sp>
        <p:nvSpPr>
          <p:cNvPr id="9" name="Text 7"/>
          <p:cNvSpPr/>
          <p:nvPr/>
        </p:nvSpPr>
        <p:spPr>
          <a:xfrm>
            <a:off x="6438900" y="2795290"/>
            <a:ext cx="48399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Analytics idiom · Lab 3b</a:t>
            </a:r>
            <a:endParaRPr lang="en-US" sz="1200" dirty="0"/>
          </a:p>
        </p:txBody>
      </p:sp>
      <p:sp>
        <p:nvSpPr>
          <p:cNvPr id="10" name="Text 8"/>
          <p:cNvSpPr/>
          <p:nvPr/>
        </p:nvSpPr>
        <p:spPr>
          <a:xfrm>
            <a:off x="6438900" y="3110210"/>
            <a:ext cx="483997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32E"/>
                </a:solidFill>
                <a:latin typeface="IBM Plex Sans" pitchFamily="34" charset="0"/>
                <a:ea typeface="IBM Plex Sans" pitchFamily="34" charset="-122"/>
                <a:cs typeface="IBM Plex Sans" pitchFamily="34" charset="-120"/>
              </a:rPr>
              <a:t>“What is happening across my stores?”</a:t>
            </a:r>
            <a:endParaRPr lang="en-US" sz="2000" dirty="0"/>
          </a:p>
        </p:txBody>
      </p:sp>
      <p:sp>
        <p:nvSpPr>
          <p:cNvPr id="11" name="Text 9"/>
          <p:cNvSpPr/>
          <p:nvPr/>
        </p:nvSpPr>
        <p:spPr>
          <a:xfrm>
            <a:off x="6438900" y="3516610"/>
            <a:ext cx="4839970"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E5B63"/>
                </a:solidFill>
                <a:latin typeface="IBM Plex Sans" pitchFamily="34" charset="0"/>
                <a:ea typeface="IBM Plex Sans" pitchFamily="34" charset="-122"/>
                <a:cs typeface="IBM Plex Sans" pitchFamily="34" charset="-120"/>
              </a:rPr>
              <a:t>Many rows, filters, comparison over time and cohort. A product for exploring.</a:t>
            </a:r>
            <a:endParaRPr lang="en-US" sz="1400" dirty="0"/>
          </a:p>
        </p:txBody>
      </p:sp>
      <p:sp>
        <p:nvSpPr>
          <p:cNvPr id="12" name="Text 10"/>
          <p:cNvSpPr/>
          <p:nvPr/>
        </p:nvSpPr>
        <p:spPr>
          <a:xfrm>
            <a:off x="812800" y="4578251"/>
            <a:ext cx="10883392" cy="61456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16232E"/>
                </a:solidFill>
                <a:latin typeface="IBM Plex Sans" pitchFamily="34" charset="0"/>
                <a:ea typeface="IBM Plex Sans" pitchFamily="34" charset="-122"/>
                <a:cs typeface="IBM Plex Sans" pitchFamily="34" charset="-120"/>
              </a:rPr>
              <a:t>Keeping them separate is a real design skill — and the mistake is to bolt charts onto the serving app until neither does its job well.</a:t>
            </a:r>
            <a:endParaRPr lang="en-US" sz="16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3b</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167530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 5 · STOP &amp; DECIDE</a:t>
            </a:r>
            <a:endParaRPr lang="en-US" sz="1200" dirty="0"/>
          </a:p>
        </p:txBody>
      </p:sp>
      <p:sp>
        <p:nvSpPr>
          <p:cNvPr id="3" name="Text 1"/>
          <p:cNvSpPr/>
          <p:nvPr/>
        </p:nvSpPr>
        <p:spPr>
          <a:xfrm>
            <a:off x="812800" y="1990229"/>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Batch-score by looping /predict, or add a batch path?</a:t>
            </a:r>
            <a:endParaRPr lang="en-US" sz="3200" dirty="0"/>
          </a:p>
        </p:txBody>
      </p:sp>
      <p:sp>
        <p:nvSpPr>
          <p:cNvPr id="4" name="Shape 2"/>
          <p:cNvSpPr/>
          <p:nvPr/>
        </p:nvSpPr>
        <p:spPr>
          <a:xfrm>
            <a:off x="819150" y="2748359"/>
            <a:ext cx="5168900" cy="1330722"/>
          </a:xfrm>
          <a:prstGeom prst="roundRect">
            <a:avLst>
              <a:gd name="adj" fmla="val 7158"/>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054100" y="2983309"/>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32E"/>
                </a:solidFill>
                <a:latin typeface="IBM Plex Sans" pitchFamily="34" charset="0"/>
                <a:ea typeface="IBM Plex Sans" pitchFamily="34" charset="-122"/>
                <a:cs typeface="IBM Plex Sans" pitchFamily="34" charset="-120"/>
              </a:rPr>
              <a:t>Dozens: loop it</a:t>
            </a:r>
            <a:endParaRPr lang="en-US" sz="1800" dirty="0"/>
          </a:p>
        </p:txBody>
      </p:sp>
      <p:sp>
        <p:nvSpPr>
          <p:cNvPr id="6" name="Text 4"/>
          <p:cNvSpPr/>
          <p:nvPr/>
        </p:nvSpPr>
        <p:spPr>
          <a:xfrm>
            <a:off x="1054100" y="3346450"/>
            <a:ext cx="483997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The planner app already does exactly that, and the code stays in one place.</a:t>
            </a:r>
            <a:endParaRPr lang="en-US" sz="1400" dirty="0"/>
          </a:p>
        </p:txBody>
      </p:sp>
      <p:sp>
        <p:nvSpPr>
          <p:cNvPr id="7" name="Shape 5"/>
          <p:cNvSpPr/>
          <p:nvPr/>
        </p:nvSpPr>
        <p:spPr>
          <a:xfrm>
            <a:off x="6203950" y="2748359"/>
            <a:ext cx="5168900" cy="1330722"/>
          </a:xfrm>
          <a:prstGeom prst="roundRect">
            <a:avLst>
              <a:gd name="adj" fmla="val 7158"/>
            </a:avLst>
          </a:prstGeom>
          <a:solidFill>
            <a:srgbClr val="E2EEEC"/>
          </a:solidFill>
          <a:ln w="12700">
            <a:solidFill>
              <a:srgbClr val="0E6F6D"/>
            </a:solidFill>
            <a:prstDash val="solid"/>
          </a:ln>
        </p:spPr>
        <p:txBody>
          <a:bodyPr/>
          <a:lstStyle/>
          <a:p>
            <a:endParaRPr lang="en-IN"/>
          </a:p>
        </p:txBody>
      </p:sp>
      <p:sp>
        <p:nvSpPr>
          <p:cNvPr id="8" name="Text 6"/>
          <p:cNvSpPr/>
          <p:nvPr/>
        </p:nvSpPr>
        <p:spPr>
          <a:xfrm>
            <a:off x="6438900" y="2983309"/>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32E"/>
                </a:solidFill>
                <a:latin typeface="IBM Plex Sans" pitchFamily="34" charset="0"/>
                <a:ea typeface="IBM Plex Sans" pitchFamily="34" charset="-122"/>
                <a:cs typeface="IBM Plex Sans" pitchFamily="34" charset="-120"/>
              </a:rPr>
              <a:t>Thousands: batch it</a:t>
            </a:r>
            <a:endParaRPr lang="en-US" sz="1800" dirty="0"/>
          </a:p>
        </p:txBody>
      </p:sp>
      <p:sp>
        <p:nvSpPr>
          <p:cNvPr id="9" name="Text 7"/>
          <p:cNvSpPr/>
          <p:nvPr/>
        </p:nvSpPr>
        <p:spPr>
          <a:xfrm>
            <a:off x="6438900" y="3346450"/>
            <a:ext cx="483997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One Feast lookup and one vectorised predict — the shape of a real morning replenishment run.</a:t>
            </a:r>
            <a:endParaRPr lang="en-US" sz="1400" dirty="0"/>
          </a:p>
        </p:txBody>
      </p:sp>
      <p:sp>
        <p:nvSpPr>
          <p:cNvPr id="10" name="Text 8"/>
          <p:cNvSpPr/>
          <p:nvPr/>
        </p:nvSpPr>
        <p:spPr>
          <a:xfrm>
            <a:off x="812800" y="4390231"/>
            <a:ext cx="10883392" cy="614561"/>
          </a:xfrm>
          <a:prstGeom prst="rect">
            <a:avLst/>
          </a:prstGeom>
          <a:noFill/>
          <a:ln/>
        </p:spPr>
        <p:txBody>
          <a:bodyPr wrap="square" lIns="0" tIns="0" rIns="0" bIns="0" rtlCol="0" anchor="t">
            <a:normAutofit/>
          </a:bodyPr>
          <a:lstStyle/>
          <a:p>
            <a:pPr marL="0" indent="0" algn="l">
              <a:lnSpc>
                <a:spcPts val="2320"/>
              </a:lnSpc>
              <a:buNone/>
            </a:pPr>
            <a:r>
              <a:rPr lang="en-US" sz="1600" b="1" dirty="0">
                <a:solidFill>
                  <a:srgbClr val="16232E"/>
                </a:solidFill>
                <a:latin typeface="IBM Plex Sans" pitchFamily="34" charset="0"/>
                <a:ea typeface="IBM Plex Sans" pitchFamily="34" charset="-122"/>
                <a:cs typeface="IBM Plex Sans" pitchFamily="34" charset="-120"/>
              </a:rPr>
              <a:t>Put a number on where you would switch</a:t>
            </a:r>
            <a:r>
              <a:rPr lang="en-US" sz="1600" dirty="0">
                <a:solidFill>
                  <a:srgbClr val="16232E"/>
                </a:solidFill>
                <a:latin typeface="IBM Plex Sans" pitchFamily="34" charset="0"/>
                <a:ea typeface="IBM Plex Sans" pitchFamily="34" charset="-122"/>
                <a:cs typeface="IBM Plex Sans" pitchFamily="34" charset="-120"/>
              </a:rPr>
              <a:t>, and say what you are trading away — a second code path that can drift from the API's.</a:t>
            </a:r>
            <a:endParaRPr lang="en-US" sz="16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Lab 3b</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4">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1830784"/>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3A63B"/>
                </a:solidFill>
                <a:latin typeface="JetBrains Mono" pitchFamily="34" charset="0"/>
                <a:ea typeface="JetBrains Mono" pitchFamily="34" charset="-122"/>
                <a:cs typeface="JetBrains Mono" pitchFamily="34" charset="-120"/>
              </a:rPr>
              <a:t>DEBRIEF · SERVE → MONITOR</a:t>
            </a:r>
            <a:endParaRPr lang="en-US" sz="1200" dirty="0"/>
          </a:p>
        </p:txBody>
      </p:sp>
      <p:sp>
        <p:nvSpPr>
          <p:cNvPr id="3" name="Text 1"/>
          <p:cNvSpPr/>
          <p:nvPr/>
        </p:nvSpPr>
        <p:spPr>
          <a:xfrm>
            <a:off x="812800" y="2323505"/>
            <a:ext cx="10883392" cy="1602680"/>
          </a:xfrm>
          <a:prstGeom prst="rect">
            <a:avLst/>
          </a:prstGeom>
          <a:noFill/>
          <a:ln/>
        </p:spPr>
        <p:txBody>
          <a:bodyPr wrap="square" lIns="0" tIns="0" rIns="0" bIns="0" rtlCol="0" anchor="t">
            <a:normAutofit/>
          </a:bodyPr>
          <a:lstStyle/>
          <a:p>
            <a:pPr marL="0" indent="0" algn="l">
              <a:lnSpc>
                <a:spcPts val="4140"/>
              </a:lnSpc>
              <a:buNone/>
            </a:pPr>
            <a:r>
              <a:rPr lang="en-US" sz="3600" b="1" dirty="0">
                <a:solidFill>
                  <a:srgbClr val="F6F4EE"/>
                </a:solidFill>
                <a:latin typeface="IBM Plex Sans" pitchFamily="34" charset="0"/>
                <a:ea typeface="IBM Plex Sans" pitchFamily="34" charset="-122"/>
                <a:cs typeface="IBM Plex Sans" pitchFamily="34" charset="-120"/>
              </a:rPr>
              <a:t>The dashboard is green, the service is fast, and none of that tells you whether the model is still right.</a:t>
            </a:r>
            <a:endParaRPr lang="en-US" sz="3600" dirty="0"/>
          </a:p>
        </p:txBody>
      </p:sp>
      <p:sp>
        <p:nvSpPr>
          <p:cNvPr id="4" name="Shape 2"/>
          <p:cNvSpPr/>
          <p:nvPr/>
        </p:nvSpPr>
        <p:spPr>
          <a:xfrm>
            <a:off x="812800" y="4189710"/>
            <a:ext cx="5130800" cy="0"/>
          </a:xfrm>
          <a:prstGeom prst="line">
            <a:avLst/>
          </a:prstGeom>
          <a:noFill/>
          <a:ln w="19050">
            <a:solidFill>
              <a:srgbClr val="E3A63B"/>
            </a:solidFill>
            <a:prstDash val="solid"/>
          </a:ln>
        </p:spPr>
        <p:txBody>
          <a:bodyPr/>
          <a:lstStyle/>
          <a:p>
            <a:endParaRPr lang="en-IN"/>
          </a:p>
        </p:txBody>
      </p:sp>
      <p:sp>
        <p:nvSpPr>
          <p:cNvPr id="5" name="Text 3"/>
          <p:cNvSpPr/>
          <p:nvPr/>
        </p:nvSpPr>
        <p:spPr>
          <a:xfrm>
            <a:off x="812800" y="4326235"/>
            <a:ext cx="5284724"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5CB"/>
                </a:solidFill>
                <a:latin typeface="IBM Plex Sans" pitchFamily="34" charset="0"/>
                <a:ea typeface="IBM Plex Sans" pitchFamily="34" charset="-122"/>
                <a:cs typeface="IBM Plex Sans" pitchFamily="34" charset="-120"/>
              </a:rPr>
              <a:t>Half the lines are already scored on yesterday's features, and one on features fourteen days old.</a:t>
            </a:r>
            <a:endParaRPr lang="en-US" sz="1400" dirty="0"/>
          </a:p>
        </p:txBody>
      </p:sp>
      <p:sp>
        <p:nvSpPr>
          <p:cNvPr id="6" name="Shape 4"/>
          <p:cNvSpPr/>
          <p:nvPr/>
        </p:nvSpPr>
        <p:spPr>
          <a:xfrm>
            <a:off x="6248400" y="4189710"/>
            <a:ext cx="5130800" cy="0"/>
          </a:xfrm>
          <a:prstGeom prst="line">
            <a:avLst/>
          </a:prstGeom>
          <a:noFill/>
          <a:ln w="19050">
            <a:solidFill>
              <a:srgbClr val="E3A63B"/>
            </a:solidFill>
            <a:prstDash val="solid"/>
          </a:ln>
        </p:spPr>
        <p:txBody>
          <a:bodyPr/>
          <a:lstStyle/>
          <a:p>
            <a:endParaRPr lang="en-IN"/>
          </a:p>
        </p:txBody>
      </p:sp>
      <p:sp>
        <p:nvSpPr>
          <p:cNvPr id="7" name="Text 5"/>
          <p:cNvSpPr/>
          <p:nvPr/>
        </p:nvSpPr>
        <p:spPr>
          <a:xfrm>
            <a:off x="6248400" y="4326235"/>
            <a:ext cx="5284724"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5CB"/>
                </a:solidFill>
                <a:latin typeface="IBM Plex Sans" pitchFamily="34" charset="0"/>
                <a:ea typeface="IBM Plex Sans" pitchFamily="34" charset="-122"/>
                <a:cs typeface="IBM Plex Sans" pitchFamily="34" charset="-120"/>
              </a:rPr>
              <a:t>After lunch, Lab 4: how would you know the world had moved — and which pipeline should re-run when it has?</a:t>
            </a:r>
            <a:endParaRPr lang="en-US" sz="14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2 · Lab 3b</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14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619</Words>
  <Application>Microsoft Office PowerPoint</Application>
  <PresentationFormat>Widescreen</PresentationFormat>
  <Paragraphs>39</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IBM Plex Sans</vt:lpstr>
      <vt:lpstr>JetBrains Mono</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FDP Day 2 · 11:15 — Lab 3b: Analytics Dashboard (multipage Streamlit + Plotly)</dc:title>
  <dc:subject>PptxGenJS Presentation</dc:subject>
  <dc:creator>PptxGenJS</dc:creator>
  <cp:lastModifiedBy>Pravin Yashwant Pawar .</cp:lastModifiedBy>
  <cp:revision>3</cp:revision>
  <dcterms:created xsi:type="dcterms:W3CDTF">2026-09-27T04:23:58Z</dcterms:created>
  <dcterms:modified xsi:type="dcterms:W3CDTF">2026-09-28T13:10:33Z</dcterms:modified>
</cp:coreProperties>
</file>