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2968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lunch, 105 minutes. Suggested split: M5 theory about 45 minutes (slides 2–19), Lab 4 about 50 minutes (20–23), 10 minutes debrief. Participants need the API from Lab 3 able to start, and Docker Desktop running for Mission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Recap. Lab 3 ended with a green, fast service and one uncomfortable line nobody asked for: feature age. This session covers two beats, Monitor and Re-execute, and ends by packaging the stack for Lab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1 runs the service and the monitor side by side. Every probe from Lab 3 answers its infrastructure question correctly while the model quietly gets worse. Most ML incidents are not outages; they are silent quality decay. Nobody is paged because nothing failed.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M5 theory in four movements: what drifts (5–7), how to measure it (8–11), what to do about it (12–14), and how to show it (15–18).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reality box from Mission 1. The two kinds answer different questions and fail differently. A platform team will happily report 99.99% availability for a model that has been wrong for a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FreshMart line under each card is the Lab 4 capture for the festival batch, except concept drift, which is the condition the monitor checks for: an AUC drop with no input drift. Data drift says the world moved; concept drift says the rules moved. They call for different pipelines to be re-run.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Continuity: no new dataset appears. Commands: generate_data.py --drift --seed 7 --out data/current_raw.parquet, then clean and engineer into data/current_batch.parquet, then monitor.py. The data_hash changes because the extract changed — lineage is itself an observability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principles from Mission 2. Bins come from the reference (training) distribution; empty bins are clipped to a small floor so the log stays finite. The bands are convention, not law — the threshold is a policy choice, like Lab 2's decision threshold.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Mission 4 attribution challenge. Two features have KS p-values below 1e-05 and PSI under 0.02 — statistically detectable, operationally negligible. A team that alerts on KS p-values retrains on noise. Attribution also saves an engineer from checking eight features by hand: units_7d and units_28d drive the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Mission 3. In the lab the batch is synthetic, so labels exist immediately; in production the performance check runs a week behind the other two. That is also why prediction drift is often the first signal anyone sees.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back the five pillars from M1. In Lab 1 they gated a batch against the last run; here they describe a production batch against the training reference. Freshness comes from Lab 3's latency mission, lineage from the two data hashes. Schema unchanged is the point of the scenario: the contract passes, the world 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Encode the policy rather than describing it. This is the decide() function in src/monitor.py, with PSI_THRESHOLD 0.20 and AUC_DROP 0.05. The noop branch matters too: a monitor that says clearly when nothing moved is one people believe when it fires. For the festival batch the decision is rerun_data_pipeline, attributed to units_7d and units_28d.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 capture from python src/monitor.py. Note the order of the three signals and that the decision carries its reason. The JSON file is the hand-off to Lab 5's CI/CD pipeline, which re-executes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and decide: what stops a monitor that fires at 0.21, retrains, then fires at 0.20 an hour later? Without persistence and a cap, automation is worse than none, because the thrashing is now scheduled. The real PSI sequence from the festival window shows the lone spikes at t1 and t3 absorbed, the re-run at t4, and the cap holding at t5.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Keeping the two idioms separate is a design skill and a teaching point for the analytics courses. The tell is the question each answers. Analytics dashboards are built for exploration, filters and cohorts; observability dashboards are built for thresholds, alerts and time series, and increasingly their consumer is another program, like Lab 5 reading trigger_result.json.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code using Evidently's current Report API (0.7 and later); check the installed version, as the API changed substantially from 0.4. The Lab 4 handout computes PSI and KS by hand with NumPy and SciPy, which is better for teaching the mechanics. Evidently is what students will meet in industry; configure its drift method to PSI if you want its verdicts to match monitor.py.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Mock-up of a Grafana board, not a screenshot: typically fed by Prometheus scraping a /metrics endpoint the API would expose. Values shown are this workshop's captures where they exist; requests per minute and error rate are left as labels. Grafana is not built in the handout's Lab 4; present it as the production counterpart to the monitor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Continual learning in this workshop means re-execution of the right pipeline, then the same gates as the first model. dvc repro re-runs only stages whose inputs changed, so a new extract rebuilds from generate onwards. The new model carries a new data_hash. Lab 5 decides whether it is promoted.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Abridged from the Lab 4 Dockerfile; the compose file adds a monitor sidecar from the same image that waits for service_healthy. The HEALTHCHECK reuses Lab 3's /ready probe; the 60-second start period covers the model and feature-store load. The image is tagged freshmart-reorder:1.0.0. The container output was shown as expected output in the handout (no Docker daemon on the authoring machine). Facilitator note: check the base image and pins before the workshop — see the setup-guide findings.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4 begins in Lab 1's repository with .venv active. The full clean and engineer commands are in the handout (both take --in and --out). Missions 1 to 5 are pure Python; Mission 6 needs Docker Desktop running. The captures on the earlier slides are the values participants should see — but read the facilitator note about script versions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Lab 4 assessment kit. There is no single right answer; strong answers name the trade (reproducibility versus freshness), tie it to the readiness probe and start period, and propose a signal — for example, alerting when /ready reports a model version older than the registry's @production.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three are the Lab 4 assessment-kit viva questions; the fourth checks the decision policy. Ask, take one answer, reveal.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Answered: drift detected with PSI and KS, attributed to units_7d, input drift separated from concept drift, re-execution decided without thrashing, and the stack packaged as freshmart-reorder:1.0.0. Short break, then Lab 5 at 15:30.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13:30–15:15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53120"/>
            <a:ext cx="10883392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5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M5 + Lab 4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2026841"/>
            <a:ext cx="981075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r>
              <a:rPr lang="en-US" sz="2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Monitoring and the two dashboard idioms → a re-execution trigger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12800" y="5200749"/>
            <a:ext cx="10566400" cy="0"/>
          </a:xfrm>
          <a:prstGeom prst="line">
            <a:avLst/>
          </a:prstGeom>
          <a:noFill/>
          <a:ln w="12700">
            <a:solidFill>
              <a:srgbClr val="3A4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12800" y="5410299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vs concept drift · PSI / KS · five pillars · re-execution triggers · analytics vs observability dashboards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57963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BITS Pilani WILP · CSIS </a:t>
            </a:r>
            <a:r>
              <a:rPr lang="en-US" sz="140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Pravin Y Pawar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WHERE WE ARE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Monitor: is the model still right?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936651"/>
            <a:ext cx="1420515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89000" y="2095401"/>
            <a:ext cx="128081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Discover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89000" y="2407741"/>
            <a:ext cx="1280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41265" y="1936651"/>
            <a:ext cx="1420614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411115" y="2095401"/>
            <a:ext cx="1280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Prepare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11115" y="2407741"/>
            <a:ext cx="1280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63479" y="1936651"/>
            <a:ext cx="1420515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933329" y="2095401"/>
            <a:ext cx="128081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3329" y="2407741"/>
            <a:ext cx="128081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85594" y="1936651"/>
            <a:ext cx="1420614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455444" y="2095401"/>
            <a:ext cx="1280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55444" y="2407741"/>
            <a:ext cx="1280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7808" y="1936651"/>
            <a:ext cx="1420614" cy="843161"/>
          </a:xfrm>
          <a:prstGeom prst="roundRect">
            <a:avLst>
              <a:gd name="adj" fmla="val 9791"/>
            </a:avLst>
          </a:prstGeom>
          <a:solidFill>
            <a:srgbClr val="0E6F6D"/>
          </a:solidFill>
          <a:ln w="1270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77658" y="2095401"/>
            <a:ext cx="1280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77658" y="2407741"/>
            <a:ext cx="1280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FE6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430022" y="1936651"/>
            <a:ext cx="1420614" cy="843161"/>
          </a:xfrm>
          <a:prstGeom prst="roundRect">
            <a:avLst>
              <a:gd name="adj" fmla="val 9791"/>
            </a:avLst>
          </a:prstGeom>
          <a:solidFill>
            <a:srgbClr val="0E6F6D"/>
          </a:solidFill>
          <a:ln w="1270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499872" y="2095401"/>
            <a:ext cx="1280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Re-execute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99872" y="2407741"/>
            <a:ext cx="1280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CFE6E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4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952236" y="1936651"/>
            <a:ext cx="1420614" cy="843161"/>
          </a:xfrm>
          <a:prstGeom prst="roundRect">
            <a:avLst>
              <a:gd name="adj" fmla="val 979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0022086" y="2095401"/>
            <a:ext cx="128091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22086" y="2407741"/>
            <a:ext cx="1280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12800" y="3151287"/>
            <a:ext cx="3318867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12800" y="3287812"/>
            <a:ext cx="3418433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2 ms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812800" y="3907532"/>
            <a:ext cx="3418433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end-to-end latency from Lab 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436467" y="3151287"/>
            <a:ext cx="3318966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436467" y="3287812"/>
            <a:ext cx="341853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 day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4436467" y="3907532"/>
            <a:ext cx="3418535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median age of served features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060234" y="3151287"/>
            <a:ext cx="3318966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8060234" y="3287812"/>
            <a:ext cx="341853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 days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8060234" y="3907532"/>
            <a:ext cx="3418535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oldest feature being served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2800" y="4485977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3 left a loose thread: the service is fast and healthy, and some of its answers already rest on stale inputs.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84725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1 · THE GREEN DASHBOARD PARADOX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365375"/>
            <a:ext cx="10883392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Green means the service is up — not that the model is right.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12800" y="3848100"/>
            <a:ext cx="5130800" cy="0"/>
          </a:xfrm>
          <a:prstGeom prst="line">
            <a:avLst/>
          </a:prstGeom>
          <a:noFill/>
          <a:ln w="19050">
            <a:solidFill>
              <a:srgbClr val="3A4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12800" y="3984625"/>
            <a:ext cx="528472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/health · /ready · /predict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4309666"/>
            <a:ext cx="528472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 · 200 · 200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248400" y="3848100"/>
            <a:ext cx="5130800" cy="0"/>
          </a:xfrm>
          <a:prstGeom prst="line">
            <a:avLst/>
          </a:prstGeom>
          <a:noFill/>
          <a:ln w="19050">
            <a:solidFill>
              <a:srgbClr val="E3A63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248400" y="3984625"/>
            <a:ext cx="528472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monitor · AUC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48400" y="4309666"/>
            <a:ext cx="5284724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0.697 → 0.654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53890"/>
            <a:ext cx="1088339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8000"/>
              </a:lnSpc>
              <a:buNone/>
            </a:pPr>
            <a:r>
              <a:rPr lang="en-US" sz="8000" b="1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M5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812800" y="3023890"/>
            <a:ext cx="10883392" cy="1076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Monitoring, Observability,</a:t>
            </a:r>
            <a:endParaRPr lang="en-US" sz="3600" dirty="0"/>
          </a:p>
          <a:p>
            <a:pPr marL="0" indent="0" algn="l">
              <a:lnSpc>
                <a:spcPts val="4140"/>
              </a:lnSpc>
              <a:buNone/>
            </a:pPr>
            <a:r>
              <a:rPr lang="en-US" sz="36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Drift &amp; Continual Learning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4329410"/>
            <a:ext cx="981075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vs concept drift · PSI and KS · the five pillars, revisited · re-execution triggers and hysteresis · analytics vs observability dashboards · Evidently and Grafana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SERVICE VS MODEL MONITORING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need two kinds of monitoring, owned by two teams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79501"/>
          <a:ext cx="10566400" cy="1929805"/>
        </p:xfrm>
        <a:graphic>
          <a:graphicData uri="http://schemas.openxmlformats.org/drawingml/2006/table">
            <a:tbl>
              <a:tblPr/>
              <a:tblGrid>
                <a:gridCol w="2535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2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7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Service monitoring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and model monitoring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Question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 it up and fast?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Are the answers still right?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Signals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Latency, errors, readiness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Input, prediction and outcome distributions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Failure looks like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 outage — loud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Quality decay — silent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Usually owned by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Platform / SRE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ML and data teams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304605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3 built the first kind. Lab 4 builds the second — and they live on different dashboards.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 VS CONCEPT DRIFT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things can drift; only one breaks the model's logic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851"/>
            <a:ext cx="2514600" cy="2191643"/>
          </a:xfrm>
          <a:prstGeom prst="roundRect">
            <a:avLst>
              <a:gd name="adj" fmla="val 376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3300" y="2070001"/>
            <a:ext cx="22106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drift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3300" y="2389981"/>
            <a:ext cx="221068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P(X) changes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3300" y="2697262"/>
            <a:ext cx="221068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Inputs move: bigger baskets in a festival week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3300" y="3235623"/>
            <a:ext cx="22106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units_7d PSI 0.81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98850" y="1885851"/>
            <a:ext cx="2514600" cy="2191643"/>
          </a:xfrm>
          <a:prstGeom prst="roundRect">
            <a:avLst>
              <a:gd name="adj" fmla="val 376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83000" y="2070001"/>
            <a:ext cx="22106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Prediction drift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83000" y="2389981"/>
            <a:ext cx="221068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P(ŷ) changes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83000" y="2697262"/>
            <a:ext cx="221068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Scores move — visible at once, no labels needed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83000" y="3235623"/>
            <a:ext cx="22106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score PSI 0.71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8550" y="1885851"/>
            <a:ext cx="2514600" cy="2191643"/>
          </a:xfrm>
          <a:prstGeom prst="roundRect">
            <a:avLst>
              <a:gd name="adj" fmla="val 376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362700" y="2070001"/>
            <a:ext cx="22106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Label drift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62700" y="2389981"/>
            <a:ext cx="221068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P(y) changes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62700" y="2697262"/>
            <a:ext cx="221068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base rate moves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62700" y="3004542"/>
            <a:ext cx="221068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label rate 0.20 → 0.49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858250" y="1885851"/>
            <a:ext cx="2514600" cy="2191643"/>
          </a:xfrm>
          <a:prstGeom prst="roundRect">
            <a:avLst>
              <a:gd name="adj" fmla="val 376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042400" y="2070001"/>
            <a:ext cx="2210689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Concept drift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42400" y="2389981"/>
            <a:ext cx="221068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P(y | X) changes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42400" y="2697262"/>
            <a:ext cx="2210689" cy="71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inputs, different outcome — the relationship moved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042400" y="3466703"/>
            <a:ext cx="2210689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AUC drops, inputs stable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4388644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model can survive shifted inputs, and it can rot while inputs sit still. That is why you watch an outcome signal too.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SCENARIO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festival promotion: same pipeline, bigger baskets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28701"/>
            <a:ext cx="6462014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Weeks after launch, customers buy more units per basket across every store. Same products, same schema, same 06:10 batch.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2570262"/>
            <a:ext cx="64620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drifted batch is Lab 1's own generator run with </a:t>
            </a:r>
            <a:r>
              <a:rPr lang="en-US" sz="1500" dirty="0">
                <a:solidFill>
                  <a:srgbClr val="0E6F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--drift</a:t>
            </a: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The contract, clean and feature stages run unchanged.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3275112"/>
            <a:ext cx="646201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pipeline is fine. The world moved.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442200" y="1838226"/>
            <a:ext cx="39370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442200" y="1974751"/>
            <a:ext cx="405511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16,818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7442200" y="2594471"/>
            <a:ext cx="405511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rows vs 17,869 reference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42200" y="3004641"/>
            <a:ext cx="3937000" cy="0"/>
          </a:xfrm>
          <a:prstGeom prst="line">
            <a:avLst/>
          </a:prstGeom>
          <a:noFill/>
          <a:ln w="1905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42200" y="3141166"/>
            <a:ext cx="4055110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d4f014b88eba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442200" y="3760887"/>
            <a:ext cx="4055110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data_hash — a different extract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POPULATION STABILITY INDEX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PSI measures how far a distribution has moved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01"/>
            <a:ext cx="10566400" cy="1249561"/>
          </a:xfrm>
          <a:prstGeom prst="roundRect">
            <a:avLst>
              <a:gd name="adj" fmla="val 8131"/>
            </a:avLst>
          </a:prstGeom>
          <a:solidFill>
            <a:srgbClr val="162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66800" y="2082701"/>
            <a:ext cx="1036015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PSI = Σ (cᵢ − rᵢ) · ln(cᵢ / rᵢ)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66800" y="2575421"/>
            <a:ext cx="1036015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 bins i · r = reference proportions · c = current proportions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800" y="3332262"/>
            <a:ext cx="3522067" cy="784721"/>
          </a:xfrm>
          <a:prstGeom prst="rect">
            <a:avLst/>
          </a:prstGeom>
          <a:solidFill>
            <a:srgbClr val="E2EE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965200" y="3484662"/>
            <a:ext cx="331378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0.1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5200" y="3733502"/>
            <a:ext cx="331378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negligible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4867" y="3332262"/>
            <a:ext cx="3522166" cy="784721"/>
          </a:xfrm>
          <a:prstGeom prst="rect">
            <a:avLst/>
          </a:prstGeom>
          <a:solidFill>
            <a:srgbClr val="F4E4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487267" y="3484662"/>
            <a:ext cx="331388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0.1 – 0.2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87267" y="3733502"/>
            <a:ext cx="331388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moderate: watch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57034" y="3332262"/>
            <a:ext cx="3522166" cy="784721"/>
          </a:xfrm>
          <a:prstGeom prst="rect">
            <a:avLst/>
          </a:prstGeom>
          <a:solidFill>
            <a:srgbClr val="F1D2C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009434" y="3484662"/>
            <a:ext cx="331388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&gt; 0.2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09434" y="3733502"/>
            <a:ext cx="331388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significant: 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4370983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magnitude you can set a threshold on. Lab 4 acts above </a:t>
            </a: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0.20</a:t>
            </a: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PSI AND KS DISAGREE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16,818 rows, KS calls noise significant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7901"/>
          <a:ext cx="7594600" cy="2993231"/>
        </p:xfrm>
        <a:graphic>
          <a:graphicData uri="http://schemas.openxmlformats.org/drawingml/2006/table">
            <a:tbl>
              <a:tblPr/>
              <a:tblGrid>
                <a:gridCol w="22783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0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59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PSI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KS p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Verdict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units_7d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0.8149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0.00e+00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Drifted — both agree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units_28d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0.3767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0.00e+00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Drifted — both agree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quiet_days_28d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0.0123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5.87e-06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KS only: sample size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trend_ratio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0.0048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2.57e-10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KS only: sample size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days_since_last_sale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0.0027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8.33e-02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Stable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avg_unit_price_7d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0.0022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7.47e-02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Stable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lead_time_days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0.0006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8.75e-01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Stable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8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promo_active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0.0000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1.00e+00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Stable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340" marR="53340" marT="53340" marB="5334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712200" y="1777901"/>
            <a:ext cx="2747010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KS p-values shrink as n grows.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712200" y="2206526"/>
            <a:ext cx="2747010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Decide on PSI magnitude; read KS as corroboration.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THREE SIGNALS, IN ORDER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label lag is why the early signals exist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851"/>
            <a:ext cx="3407767" cy="1473002"/>
          </a:xfrm>
          <a:prstGeom prst="roundRect">
            <a:avLst>
              <a:gd name="adj" fmla="val 5604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03300" y="2070001"/>
            <a:ext cx="313065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Immediately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3300" y="2377281"/>
            <a:ext cx="3130651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 drift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3300" y="2712541"/>
            <a:ext cx="3130651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PSI per feature against training data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2017" y="1885851"/>
            <a:ext cx="3407866" cy="1473002"/>
          </a:xfrm>
          <a:prstGeom prst="roundRect">
            <a:avLst>
              <a:gd name="adj" fmla="val 5604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6167" y="2070001"/>
            <a:ext cx="31307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Immediately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6167" y="2377281"/>
            <a:ext cx="313075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Prediction drift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76167" y="2712541"/>
            <a:ext cx="313075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PSI on the score distribution — no labels needed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64984" y="1885851"/>
            <a:ext cx="3407866" cy="1473002"/>
          </a:xfrm>
          <a:prstGeom prst="roundRect">
            <a:avLst>
              <a:gd name="adj" fmla="val 5604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149134" y="2070001"/>
            <a:ext cx="31307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8A5A1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 days late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49134" y="2377281"/>
            <a:ext cx="3130753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49134" y="2712541"/>
            <a:ext cx="31307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AUC once the seven-day labels arrive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3670002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a seven-day label, performance is always a week behind. Input and prediction drift are your early warning.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FIVE PILLARS, REVISITED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M1 pillars now watch the model's inputs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79501"/>
          <a:ext cx="10566400" cy="2315766"/>
        </p:xfrm>
        <a:graphic>
          <a:graphicData uri="http://schemas.openxmlformats.org/drawingml/2006/table">
            <a:tbl>
              <a:tblPr/>
              <a:tblGrid>
                <a:gridCol w="211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7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Pillar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Festival batch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Reading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Freshness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Median 1 day, oldest 14 days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 features score today's lines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Volume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17,869 → 16,818 rows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Within band; not the alarm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Schema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Unchanged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contract still passes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Distribution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units_7d PSI 0.81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alarm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Lineage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e0ce921bf845 → d4f014b88eba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 different extract feeds the model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690566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one pillar fires — which is why a monitor must say which, not just that something moved.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RE-EXECUTION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signal moved decides which pipeline re-runs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85851"/>
            <a:ext cx="3407767" cy="1318121"/>
          </a:xfrm>
          <a:prstGeom prst="roundRect">
            <a:avLst>
              <a:gd name="adj" fmla="val 7226"/>
            </a:avLst>
          </a:prstGeom>
          <a:solidFill>
            <a:srgbClr val="E2EEEC"/>
          </a:solidFill>
          <a:ln w="1270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8700" y="2095401"/>
            <a:ext cx="30783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 drift: any feature PSI &gt; 0.20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8700" y="2415381"/>
            <a:ext cx="3078327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world moved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8700" y="2763341"/>
            <a:ext cx="307832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rerun_data_pipeline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92017" y="1885851"/>
            <a:ext cx="3407866" cy="1318121"/>
          </a:xfrm>
          <a:prstGeom prst="roundRect">
            <a:avLst>
              <a:gd name="adj" fmla="val 7226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601567" y="2095401"/>
            <a:ext cx="307842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AUC drop &gt; 0.05 with stable inputs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01567" y="2415381"/>
            <a:ext cx="307842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relationship moved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01567" y="2763341"/>
            <a:ext cx="307842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rerun_ml_pipeline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64984" y="1885851"/>
            <a:ext cx="3407866" cy="1318121"/>
          </a:xfrm>
          <a:prstGeom prst="roundRect">
            <a:avLst>
              <a:gd name="adj" fmla="val 7226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174534" y="2095401"/>
            <a:ext cx="307842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signals within thresholds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74534" y="2415381"/>
            <a:ext cx="3078429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moved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74534" y="2763341"/>
            <a:ext cx="3078429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noop — and say so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3515122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 drift re-runs the </a:t>
            </a: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</a:t>
            </a: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pipeline first: rebuild features and the training set before concluding anything about the model.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TRIGGER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monitor's output is a decision, not a chart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01"/>
            <a:ext cx="10566400" cy="3206849"/>
          </a:xfrm>
          <a:prstGeom prst="roundRect">
            <a:avLst>
              <a:gd name="adj" fmla="val 3168"/>
            </a:avLst>
          </a:prstGeom>
          <a:solidFill>
            <a:srgbClr val="162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1400" y="2057301"/>
            <a:ext cx="10412476" cy="1642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[monitor] reference 17,869 rows vs current 16,818 rows, champion v1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[monitor] input drift top PSI: units_7d=0.8149, units_28d=0.3767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[monitor] prediction drift PSI=0.7094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[monitor] performance AUC 0.697 -&gt; 0.654 label rate 0.2024 -&gt; 0.49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[monitor] decision: RERUN_DATA_PIPELINE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 (input drift on ['units_28d', 'units_7d'] (PSI &gt; 0.2))</a:t>
            </a:r>
            <a:endParaRPr lang="en-US" sz="1300" dirty="0"/>
          </a:p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[monitor] wrote artifacts/trigger_result.json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5289550"/>
            <a:ext cx="528472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0E6F6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trigger_result.json</a:t>
            </a: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is machine-readable. Lab 5 reads it; nobody reads it with their eyes.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48400" y="5289550"/>
            <a:ext cx="528472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system watched by another system — the observability idiom in its purest form.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5 · STOP IT THRASHING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 on persistent drift, and cap the re-runs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28701"/>
          <a:ext cx="7162800" cy="2514898"/>
        </p:xfrm>
        <a:graphic>
          <a:graphicData uri="http://schemas.openxmlformats.org/drawingml/2006/table">
            <a:tbl>
              <a:tblPr/>
              <a:tblGrid>
                <a:gridCol w="1146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9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8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Window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PSI max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Why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3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t0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HOLD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within threshold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0.31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HOLD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drifted, waiting for confirmation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t2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HOLD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within threshold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0.33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HOLD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drifted, waiting for confirmation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t4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0.81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RERUN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drift persisted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27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0.77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HOLD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23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daily cap (1) reached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7785" marR="57785" marT="57785" marB="57785">
                    <a:lnL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6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331200" y="1828701"/>
            <a:ext cx="313944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rules: N consecutive drifted windows before acting, and at most one re-run per day.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331200" y="2809776"/>
            <a:ext cx="3139440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cost is a one-window delay on genuine drift — a policy trade, not a technical one.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THE TWO DASHBOARD IDIOMS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Analytics dashboards explore; observability dashboards watch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282031"/>
            <a:ext cx="5168900" cy="3375422"/>
          </a:xfrm>
          <a:prstGeom prst="roundRect">
            <a:avLst>
              <a:gd name="adj" fmla="val 2822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54100" y="2516981"/>
            <a:ext cx="48399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54100" y="2913856"/>
            <a:ext cx="4699000" cy="0"/>
          </a:xfrm>
          <a:prstGeom prst="line">
            <a:avLst/>
          </a:prstGeom>
          <a:noFill/>
          <a:ln w="635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054100" y="299323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4100" y="3231952"/>
            <a:ext cx="483997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is happening across my stores?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4100" y="3564037"/>
            <a:ext cx="4699000" cy="0"/>
          </a:xfrm>
          <a:prstGeom prst="line">
            <a:avLst/>
          </a:prstGeom>
          <a:noFill/>
          <a:ln w="635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54100" y="3643412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4100" y="3882132"/>
            <a:ext cx="483997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person exploring — planners, managers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54100" y="4214217"/>
            <a:ext cx="4699000" cy="0"/>
          </a:xfrm>
          <a:prstGeom prst="line">
            <a:avLst/>
          </a:prstGeom>
          <a:noFill/>
          <a:ln w="635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054100" y="4293592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54100" y="4532313"/>
            <a:ext cx="483997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Streamlit, Plotly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54100" y="4864398"/>
            <a:ext cx="4699000" cy="0"/>
          </a:xfrm>
          <a:prstGeom prst="line">
            <a:avLst/>
          </a:prstGeom>
          <a:noFill/>
          <a:ln w="635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054100" y="4943773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this workshop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4100" y="5182493"/>
            <a:ext cx="483997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3b dashboard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03950" y="2282031"/>
            <a:ext cx="5168900" cy="3375422"/>
          </a:xfrm>
          <a:prstGeom prst="roundRect">
            <a:avLst>
              <a:gd name="adj" fmla="val 2822"/>
            </a:avLst>
          </a:prstGeom>
          <a:solidFill>
            <a:srgbClr val="E2EEEC"/>
          </a:solidFill>
          <a:ln w="12700">
            <a:solidFill>
              <a:srgbClr val="0E6F6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38900" y="2516981"/>
            <a:ext cx="483997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Observability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38900" y="2913856"/>
            <a:ext cx="4699000" cy="0"/>
          </a:xfrm>
          <a:prstGeom prst="line">
            <a:avLst/>
          </a:prstGeom>
          <a:noFill/>
          <a:ln w="635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438900" y="2993231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38900" y="3231952"/>
            <a:ext cx="483997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the system still healthy and right?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38900" y="3564037"/>
            <a:ext cx="4699000" cy="0"/>
          </a:xfrm>
          <a:prstGeom prst="line">
            <a:avLst/>
          </a:prstGeom>
          <a:noFill/>
          <a:ln w="635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438900" y="3643412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Audience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38900" y="3882132"/>
            <a:ext cx="483997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On-call engineers — and other systems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38900" y="4214217"/>
            <a:ext cx="4699000" cy="0"/>
          </a:xfrm>
          <a:prstGeom prst="line">
            <a:avLst/>
          </a:prstGeom>
          <a:noFill/>
          <a:ln w="635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438900" y="4293592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38900" y="4532313"/>
            <a:ext cx="483997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Evidently, Grafana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38900" y="4864398"/>
            <a:ext cx="4699000" cy="0"/>
          </a:xfrm>
          <a:prstGeom prst="line">
            <a:avLst/>
          </a:prstGeom>
          <a:noFill/>
          <a:ln w="635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38900" y="4943773"/>
            <a:ext cx="48399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this workshop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38900" y="5182493"/>
            <a:ext cx="4839970" cy="2654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4 monitor and trigger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OBSERVABILITY TOOLING · EVIDENTLY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Evidently turns the drift check into a report and a test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01"/>
            <a:ext cx="5715000" cy="1992511"/>
          </a:xfrm>
          <a:prstGeom prst="roundRect">
            <a:avLst>
              <a:gd name="adj" fmla="val 5099"/>
            </a:avLst>
          </a:prstGeom>
          <a:solidFill>
            <a:srgbClr val="162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1400" y="2057301"/>
            <a:ext cx="5415534" cy="1560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evidently import Report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evidently.presets import DataDriftPreset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report = Report([DataDriftPreset()])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snapshot = report.run(current_df, reference_df)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snapshot.save_html("artifacts/drift_report.html")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32600" y="1835051"/>
            <a:ext cx="4546600" cy="0"/>
          </a:xfrm>
          <a:prstGeom prst="line">
            <a:avLst/>
          </a:prstGeom>
          <a:noFill/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32600" y="1917601"/>
            <a:ext cx="46829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Per-feature drift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32600" y="2171601"/>
            <a:ext cx="46829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statistical test per column, chosen by type and size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32600" y="2536031"/>
            <a:ext cx="4546600" cy="0"/>
          </a:xfrm>
          <a:prstGeom prst="line">
            <a:avLst/>
          </a:prstGeom>
          <a:noFill/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832600" y="2618581"/>
            <a:ext cx="46829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HTML or JSON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32600" y="2872581"/>
            <a:ext cx="46829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report for people, a result for pipelines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32600" y="3237012"/>
            <a:ext cx="4546600" cy="0"/>
          </a:xfrm>
          <a:prstGeom prst="line">
            <a:avLst/>
          </a:prstGeom>
          <a:noFill/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832600" y="3319562"/>
            <a:ext cx="468299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Tests as gates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32600" y="3573562"/>
            <a:ext cx="46829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Pass or fail conditions a CI step can act 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4075212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idea as monitor.py — the hand-rolled version shows what the library does.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OBSERVABILITY TOOLING · GRAFANA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Grafana puts service and model signals on one wall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28701"/>
            <a:ext cx="6096000" cy="2148681"/>
          </a:xfrm>
          <a:prstGeom prst="roundRect">
            <a:avLst>
              <a:gd name="adj" fmla="val 4728"/>
            </a:avLst>
          </a:prstGeom>
          <a:solidFill>
            <a:srgbClr val="22323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965200" y="1981101"/>
            <a:ext cx="1862634" cy="871141"/>
          </a:xfrm>
          <a:prstGeom prst="roundRect">
            <a:avLst>
              <a:gd name="adj" fmla="val 8747"/>
            </a:avLst>
          </a:prstGeom>
          <a:solidFill>
            <a:srgbClr val="162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117600" y="2133501"/>
            <a:ext cx="16086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Requests / 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7600" y="2397621"/>
            <a:ext cx="160863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live traffic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2929434" y="1981101"/>
            <a:ext cx="1862634" cy="871141"/>
          </a:xfrm>
          <a:prstGeom prst="roundRect">
            <a:avLst>
              <a:gd name="adj" fmla="val 8747"/>
            </a:avLst>
          </a:prstGeom>
          <a:solidFill>
            <a:srgbClr val="162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081834" y="2133501"/>
            <a:ext cx="16086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p95 latency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81834" y="2397621"/>
            <a:ext cx="160863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&lt; 2.2 ms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893667" y="1981101"/>
            <a:ext cx="1862733" cy="871141"/>
          </a:xfrm>
          <a:prstGeom prst="roundRect">
            <a:avLst>
              <a:gd name="adj" fmla="val 8747"/>
            </a:avLst>
          </a:prstGeom>
          <a:solidFill>
            <a:srgbClr val="162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46067" y="2133501"/>
            <a:ext cx="16087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5xx rate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46067" y="2397621"/>
            <a:ext cx="160873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errors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965200" y="2953841"/>
            <a:ext cx="1862634" cy="871141"/>
          </a:xfrm>
          <a:prstGeom prst="roundRect">
            <a:avLst>
              <a:gd name="adj" fmla="val 8747"/>
            </a:avLst>
          </a:prstGeom>
          <a:solidFill>
            <a:srgbClr val="162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117600" y="3106241"/>
            <a:ext cx="16086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/ready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7600" y="3370362"/>
            <a:ext cx="160863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2929434" y="2953841"/>
            <a:ext cx="1862634" cy="871141"/>
          </a:xfrm>
          <a:prstGeom prst="roundRect">
            <a:avLst>
              <a:gd name="adj" fmla="val 8747"/>
            </a:avLst>
          </a:prstGeom>
          <a:solidFill>
            <a:srgbClr val="162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081834" y="3106241"/>
            <a:ext cx="16086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 version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81834" y="3370362"/>
            <a:ext cx="1608634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6F4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v1 @champion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4893667" y="2953841"/>
            <a:ext cx="1862733" cy="871141"/>
          </a:xfrm>
          <a:prstGeom prst="roundRect">
            <a:avLst>
              <a:gd name="adj" fmla="val 8747"/>
            </a:avLst>
          </a:prstGeom>
          <a:solidFill>
            <a:srgbClr val="162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46067" y="3106241"/>
            <a:ext cx="160873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 PSI (max)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46067" y="3370362"/>
            <a:ext cx="160873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0.81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13600" y="1828701"/>
            <a:ext cx="429056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Time-series panels over metrics the service exports, with alert rules on thresholds.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213600" y="2533551"/>
            <a:ext cx="4290568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last panel is the one most teams forget: drift beside latency, so one screen shows both kinds of health.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CONTINUAL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Continual learning is a gated loop, not an automatic retrain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482652"/>
            <a:ext cx="1235472" cy="987822"/>
          </a:xfrm>
          <a:prstGeom prst="roundRect">
            <a:avLst>
              <a:gd name="adj" fmla="val 835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76300" y="2628702"/>
            <a:ext cx="112117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Monitor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76300" y="2928342"/>
            <a:ext cx="1121172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PSI, prediction drift, AUC</a:t>
            </a:r>
            <a:endParaRPr lang="en-US" sz="1200" dirty="0"/>
          </a:p>
        </p:txBody>
      </p:sp>
      <p:pic>
        <p:nvPicPr>
          <p:cNvPr id="7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124472" y="2913063"/>
            <a:ext cx="177800" cy="127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372122" y="2482652"/>
            <a:ext cx="1235571" cy="987822"/>
          </a:xfrm>
          <a:prstGeom prst="roundRect">
            <a:avLst>
              <a:gd name="adj" fmla="val 835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2429272" y="2628702"/>
            <a:ext cx="112127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Trigger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429272" y="2928342"/>
            <a:ext cx="1121271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hysteresis + daily cap</a:t>
            </a:r>
            <a:endParaRPr lang="en-US" sz="1200" dirty="0"/>
          </a:p>
        </p:txBody>
      </p:sp>
      <p:pic>
        <p:nvPicPr>
          <p:cNvPr id="11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77543" y="2913063"/>
            <a:ext cx="177800" cy="12700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925193" y="2383631"/>
            <a:ext cx="1235472" cy="1185863"/>
          </a:xfrm>
          <a:prstGeom prst="roundRect">
            <a:avLst>
              <a:gd name="adj" fmla="val 696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3982343" y="2529681"/>
            <a:ext cx="112117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Re-run data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982343" y="2829322"/>
            <a:ext cx="1121172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dvc repro: changed stages only</a:t>
            </a:r>
            <a:endParaRPr lang="en-US" sz="1200" dirty="0"/>
          </a:p>
        </p:txBody>
      </p:sp>
      <p:pic>
        <p:nvPicPr>
          <p:cNvPr id="15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0515" y="2913063"/>
            <a:ext cx="177800" cy="12700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78165" y="2482652"/>
            <a:ext cx="1235571" cy="987822"/>
          </a:xfrm>
          <a:prstGeom prst="roundRect">
            <a:avLst>
              <a:gd name="adj" fmla="val 835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2"/>
          <p:cNvSpPr/>
          <p:nvPr/>
        </p:nvSpPr>
        <p:spPr>
          <a:xfrm>
            <a:off x="5535315" y="2628702"/>
            <a:ext cx="112127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Retrain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535315" y="2928342"/>
            <a:ext cx="1121271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through the feature store</a:t>
            </a:r>
            <a:endParaRPr lang="en-US" sz="1200" dirty="0"/>
          </a:p>
        </p:txBody>
      </p:sp>
      <p:pic>
        <p:nvPicPr>
          <p:cNvPr id="19" name="Image 3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83586" y="2913063"/>
            <a:ext cx="177800" cy="1270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031236" y="2383631"/>
            <a:ext cx="1235472" cy="1185863"/>
          </a:xfrm>
          <a:prstGeom prst="roundRect">
            <a:avLst>
              <a:gd name="adj" fmla="val 696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5"/>
          <p:cNvSpPr/>
          <p:nvPr/>
        </p:nvSpPr>
        <p:spPr>
          <a:xfrm>
            <a:off x="7088386" y="2529681"/>
            <a:ext cx="112117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7088386" y="2829322"/>
            <a:ext cx="1121172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quality, baseline, latency, lineage</a:t>
            </a:r>
            <a:endParaRPr lang="en-US" sz="1200" dirty="0"/>
          </a:p>
        </p:txBody>
      </p:sp>
      <p:pic>
        <p:nvPicPr>
          <p:cNvPr id="23" name="Image 4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336558" y="2913063"/>
            <a:ext cx="177800" cy="12700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8584208" y="2482652"/>
            <a:ext cx="1235571" cy="987822"/>
          </a:xfrm>
          <a:prstGeom prst="roundRect">
            <a:avLst>
              <a:gd name="adj" fmla="val 835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8"/>
          <p:cNvSpPr/>
          <p:nvPr/>
        </p:nvSpPr>
        <p:spPr>
          <a:xfrm>
            <a:off x="8641358" y="2628702"/>
            <a:ext cx="112127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Register</a:t>
            </a:r>
            <a:endParaRPr lang="en-US" sz="1400" dirty="0"/>
          </a:p>
        </p:txBody>
      </p:sp>
      <p:sp>
        <p:nvSpPr>
          <p:cNvPr id="26" name="Text 19"/>
          <p:cNvSpPr/>
          <p:nvPr/>
        </p:nvSpPr>
        <p:spPr>
          <a:xfrm>
            <a:off x="8641358" y="2928342"/>
            <a:ext cx="1121271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@candidate, new data_hash</a:t>
            </a:r>
            <a:endParaRPr lang="en-US" sz="1200" dirty="0"/>
          </a:p>
        </p:txBody>
      </p:sp>
      <p:pic>
        <p:nvPicPr>
          <p:cNvPr id="27" name="Image 5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889629" y="2913063"/>
            <a:ext cx="177800" cy="127000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10137279" y="2482652"/>
            <a:ext cx="1235571" cy="987822"/>
          </a:xfrm>
          <a:prstGeom prst="roundRect">
            <a:avLst>
              <a:gd name="adj" fmla="val 8357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1"/>
          <p:cNvSpPr/>
          <p:nvPr/>
        </p:nvSpPr>
        <p:spPr>
          <a:xfrm>
            <a:off x="10194429" y="2628702"/>
            <a:ext cx="112127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Promote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10194429" y="2928342"/>
            <a:ext cx="1121271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5: canary, blue/green</a:t>
            </a:r>
            <a:endParaRPr lang="en-US" sz="1200" dirty="0"/>
          </a:p>
        </p:txBody>
      </p:sp>
      <p:sp>
        <p:nvSpPr>
          <p:cNvPr id="31" name="Text 23"/>
          <p:cNvSpPr/>
          <p:nvPr/>
        </p:nvSpPr>
        <p:spPr>
          <a:xfrm>
            <a:off x="812800" y="3931444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step reuses something already built: Lab 1's DAG, Lab 2's gate, the registry's aliases. The loop adds only the trigger.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812800" y="4563269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retrained model is a </a:t>
            </a:r>
            <a:r>
              <a:rPr lang="en-US" sz="1500" b="1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candidate</a:t>
            </a:r>
            <a:r>
              <a:rPr lang="en-US" sz="15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never automatically production — newer is the weakest argument there is.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MISSION 6 · PACKAGE THE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image is the unit Lab 5 ships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03301"/>
            <a:ext cx="6223000" cy="1782961"/>
          </a:xfrm>
          <a:prstGeom prst="roundRect">
            <a:avLst>
              <a:gd name="adj" fmla="val 5698"/>
            </a:avLst>
          </a:prstGeom>
          <a:solidFill>
            <a:srgbClr val="162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41400" y="2031901"/>
            <a:ext cx="5938774" cy="1351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python:3.11-slim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COPY requirements-serve.txt .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RUN pip install --no-cache-dir -r requirements-serve.txt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COPY serving/ feature_repo/ artifacts/ ...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ENV MODEL_ALIAS=production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HEALTHCHECK --start-period=60s CMD python -c "... /ready ..."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239000" y="1803301"/>
            <a:ext cx="4140200" cy="1782961"/>
          </a:xfrm>
          <a:prstGeom prst="roundRect">
            <a:avLst>
              <a:gd name="adj" fmla="val 5698"/>
            </a:avLst>
          </a:prstGeom>
          <a:solidFill>
            <a:srgbClr val="1623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467600" y="2031901"/>
            <a:ext cx="3793490" cy="1130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✔ Container reorder-api Healthy 62.4s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✔ Container monitor     Started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monitor | rerun_data_pipeline - input drift</a:t>
            </a:r>
            <a:endParaRPr lang="en-US" sz="1200" dirty="0"/>
          </a:p>
          <a:p>
            <a:pPr marL="0" indent="0" algn="l">
              <a:lnSpc>
                <a:spcPts val="1740"/>
              </a:lnSpc>
              <a:buNone/>
            </a:pPr>
            <a:r>
              <a:rPr lang="en-US" sz="1200" dirty="0">
                <a:solidFill>
                  <a:srgbClr val="E7EEF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 on ['units_28d', 'units_7d']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800" y="3814862"/>
            <a:ext cx="528472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image:</a:t>
            </a:r>
            <a:r>
              <a:rPr lang="en-US" sz="14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code, pinned dependencies, feature-store config, the registry pointer.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48400" y="3814862"/>
            <a:ext cx="528472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Outside:</a:t>
            </a: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secrets, live connections, data batches — and MODEL_ALIAS, injected at run time.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80109"/>
            <a:ext cx="497078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Lab 4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800" y="2894509"/>
            <a:ext cx="4970780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Re-execution trigger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3455789"/>
            <a:ext cx="4970780" cy="12443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pip install scipy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src/generate_data.py --drift --seed 7 \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--out data/current_raw.parquet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clean + engineer → data/current_batch.parquet</a:t>
            </a:r>
            <a:endParaRPr lang="en-US" sz="1200" dirty="0"/>
          </a:p>
          <a:p>
            <a:pPr marL="0" indent="0" algn="l">
              <a:lnSpc>
                <a:spcPts val="192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src/monitor.py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146800" y="1953320"/>
            <a:ext cx="5232400" cy="0"/>
          </a:xfrm>
          <a:prstGeom prst="line">
            <a:avLst/>
          </a:prstGeom>
          <a:noFill/>
          <a:ln w="12700">
            <a:solidFill>
              <a:srgbClr val="3A4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146800" y="2048570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95740" y="2057400"/>
            <a:ext cx="262601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green dashboard paradox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46800" y="2428280"/>
            <a:ext cx="5232400" cy="0"/>
          </a:xfrm>
          <a:prstGeom prst="line">
            <a:avLst/>
          </a:prstGeom>
          <a:noFill/>
          <a:ln w="12700">
            <a:solidFill>
              <a:srgbClr val="3A4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46800" y="2523530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95740" y="2532360"/>
            <a:ext cx="26018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 the shift: PSI and KS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46800" y="2903240"/>
            <a:ext cx="5232400" cy="0"/>
          </a:xfrm>
          <a:prstGeom prst="line">
            <a:avLst/>
          </a:prstGeom>
          <a:noFill/>
          <a:ln w="12700">
            <a:solidFill>
              <a:srgbClr val="3A4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146800" y="2998490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95740" y="3007320"/>
            <a:ext cx="25221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Is the model actually worse?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46800" y="3378200"/>
            <a:ext cx="5232400" cy="0"/>
          </a:xfrm>
          <a:prstGeom prst="line">
            <a:avLst/>
          </a:prstGeom>
          <a:noFill/>
          <a:ln w="12700">
            <a:solidFill>
              <a:srgbClr val="3A4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46800" y="3473450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95740" y="3482280"/>
            <a:ext cx="227987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re-execution decision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46800" y="3853160"/>
            <a:ext cx="5232400" cy="0"/>
          </a:xfrm>
          <a:prstGeom prst="line">
            <a:avLst/>
          </a:prstGeom>
          <a:noFill/>
          <a:ln w="12700">
            <a:solidFill>
              <a:srgbClr val="3A4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46800" y="3948410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95740" y="3957241"/>
            <a:ext cx="145256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it thrashing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46800" y="4328120"/>
            <a:ext cx="5232400" cy="0"/>
          </a:xfrm>
          <a:prstGeom prst="line">
            <a:avLst/>
          </a:prstGeom>
          <a:noFill/>
          <a:ln w="12700">
            <a:solidFill>
              <a:srgbClr val="3A4B5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146800" y="4423370"/>
            <a:ext cx="1727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5740" y="4432201"/>
            <a:ext cx="159295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Package the stack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FACULTY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919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Should the image bake in the registry, or fetch it at startup?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2332831"/>
            <a:ext cx="5168900" cy="1500882"/>
          </a:xfrm>
          <a:prstGeom prst="roundRect">
            <a:avLst>
              <a:gd name="adj" fmla="val 6346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8700" y="2542381"/>
            <a:ext cx="489229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Bake it in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28700" y="2877641"/>
            <a:ext cx="4892294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artifacts/mlflow.db inside the image: fully reproducible — and completely stale the moment a new model is registered.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3950" y="2332831"/>
            <a:ext cx="5168900" cy="1500882"/>
          </a:xfrm>
          <a:prstGeom prst="roundRect">
            <a:avLst>
              <a:gd name="adj" fmla="val 6346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13500" y="2542381"/>
            <a:ext cx="4892294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Fetch at startup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13500" y="2877641"/>
            <a:ext cx="4892294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@production from a remote tracking server: always fresh — and a network call inside the readiness window.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4144863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Which would you choose for FreshMart, and what would you monitor to find out you chose wrong?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0E6F6D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DEBRIEF · QUESTIONS STUDENTS WILL 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127720"/>
            <a:ext cx="10883392" cy="472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questions to close Lab 4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35051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028700" y="2044601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KS says significant, PSI is 0.012. Retrain?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28700" y="2349401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No. KS over-flags on large samples: p = 5.87e-06 on 16,818 rows. Decide on PSI; KS corroborates.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91250" y="1835051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400800" y="2044601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monitor fired twice in an hour. Right?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349401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— add hysteresis: N consecutive drifted windows and a daily cap. The cost is a one-window delay.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9150" y="3211612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28700" y="3421162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containerise before deploying?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28700" y="3725962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image freezes code and dependencies, and it is the unit blue/green, canary and rollback act 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1250" y="3211612"/>
            <a:ext cx="5181600" cy="1186061"/>
          </a:xfrm>
          <a:prstGeom prst="roundRect">
            <a:avLst>
              <a:gd name="adj" fmla="val 8031"/>
            </a:avLst>
          </a:prstGeom>
          <a:solidFill>
            <a:srgbClr val="FDFCF8"/>
          </a:solidFill>
          <a:ln w="12700">
            <a:solidFill>
              <a:srgbClr val="DCD6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400800" y="3421162"/>
            <a:ext cx="49053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3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 drift, or concept drift?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0" y="3725962"/>
            <a:ext cx="4905375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E5B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Inputs moved → re-run the data pipeline. AUC fell with stable inputs → re-run the ML pipeline.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4E5B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1870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50" dirty="0">
                <a:solidFill>
                  <a:srgbClr val="E3A63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MONITOR → RE-EXECUTE → RELEASE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2536825"/>
            <a:ext cx="10883392" cy="1193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trigger has fired and an image is ready. Can we ship the retrained model safely?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12800" y="4010025"/>
            <a:ext cx="9156700" cy="651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B8C5C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Lab 5: retrain, promote and deploy — and roll back without a rebuild when the business signal says stop.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From Pipelines to Production · Day 2 · M5 + Lab 4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8C5C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3574</Words>
  <Application>Microsoft Office PowerPoint</Application>
  <PresentationFormat>Widescreen</PresentationFormat>
  <Paragraphs>434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IBM Plex Sans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FDP Day 2 · 13:30 — M5 + Lab 4: Monitoring, Drift &amp; the Re-execution Trigger</dc:title>
  <dc:subject>PptxGenJS Presentation</dc:subject>
  <dc:creator>PptxGenJS</dc:creator>
  <cp:lastModifiedBy>Pravin Yashwant Pawar .</cp:lastModifiedBy>
  <cp:revision>2</cp:revision>
  <dcterms:created xsi:type="dcterms:W3CDTF">2026-09-23T06:38:24Z</dcterms:created>
  <dcterms:modified xsi:type="dcterms:W3CDTF">2026-09-28T13:10:59Z</dcterms:modified>
</cp:coreProperties>
</file>