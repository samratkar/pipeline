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4" r:id="rId8"/>
    <p:sldId id="265" r:id="rId9"/>
    <p:sldId id="267" r:id="rId10"/>
    <p:sldId id="271" r:id="rId11"/>
    <p:sldId id="273" r:id="rId12"/>
    <p:sldId id="274" r:id="rId13"/>
    <p:sldId id="275" r:id="rId14"/>
    <p:sldId id="276" r:id="rId15"/>
    <p:sldId id="277" r:id="rId16"/>
    <p:sldId id="278" r:id="rId17"/>
    <p:sldId id="279" r:id="rId18"/>
    <p:sldId id="280"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7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2213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2 opens. About 105 minutes: M4 theory roughly 45 minutes (slides 2–19), Lab 3a about 50 minutes (slides 20–24, missions briefed then run), 10 minutes debrief. Lab 3b, the analytics dashboard, follows at 11:15. Participants start from their Day 1 folder: @champion registered, online store materialised.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Day 1's hand-off. Nothing is regenerated today: the API loads the model from the registry by alias and features from the online store Lab 1 materialised. If either is missing, the service starts anyway and reports itself not ready — that is Mission 2's lesson.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question the Lab 3 handout answers. Every part of M4 serves one of its clauses: milliseconds (serving path, latency), without sending a feature (entity-key serving), honest answer (404 and readiness), a screen a planner will use (Streamlit).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M4 theory in three movements: the serving service (slides 5–10), Streamlit as a craft (11–16), packaging and deployment (17–19).</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shape: resolve what to deploy by name, configure by environment, package once, start, gate on readiness, route, observe. Lab 3 builds Resolve, Configure, Start, Gate and Observe; Lab 4 Mission 6 adds Package with a Dockerfile; Lab 5 adds promotion and rollback on top of the same image.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arrows. The app never touches Feast or the model; it calls the same /predict any backend would. The API resolves models:/freshmart_reorder_model@champion once at startup and reads features from the online store on every request. Response carries model_version so every answer says which model gave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principles box from Mission 2. They diverge exactly at startup (alive, not ready) and during transient dependency loss (alive, temporarily not ready). In Kubernetes these map to livenessProbe and readinessProbe; in Docker Compose the healthcheck points at /ready and depends_on waits for service_healthy. Give readiness a longer initial delay than you think: this service takes about 30 seconds to load.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are real captures from Lab 3. The 503 comes from starting the service with MODEL_ALIAS=production before any production alias exists: /health returns 200, /ready returns 503 with the reason. That is the behaviour you want from a botched promotion — alive, explaining itself, receiving no traffic. Q from the assessment kit: some requests 404 — bug? Probably not: those keys are not in the online store; a genuinely new product is a cold-start problem.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wireframe is the Lab 3 planner app: readiness status in the sidebar, two inputs in columns, three metrics in a row. The sidebar showing model version and data hash is deliberate — every screen tells the planner which model is answering. Tabs and expanders are not in the Lab 3 app; they come into play in Lab 3b's multipage dashboard.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and decide from Mission 4: loading the model in the app is one import and feels simpler. Then ask what happens when the alias moves: how many things have to be restarted, and who remembers the second one? This is also why the app shows the model version it got back from the API rather than one it loaded.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Community Cloud suits a standalone analytics app over static data, such as Lab 3b's dashboard; it is not where a model API belongs. The container route is what Lab 5 walks through with AWS ECS, ECR and GitHub Actions.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focus from Lab 3 Mission 6 (part of 3b in the handout). For a first model, modest traffic and a nervous business: shadow first, then canary, with blue/green rollback ready. The shadow harness result is striking: two models 0.036 apart in mean probability disagree on the action for 10% of lines, and the candidate is not promoted.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3a begins, in Lab 1's repository with .venv active. The API takes about 30 seconds to start: model plus feature store. Two terminals: one for uvicorn, one for Streamlit. Each mission ends in a coded challenge with a verified solution; the next slides show the real captures participants should match.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first real request, captured. Right: the coded challenge proving skew is impossible for an entity — four of the eight features shown. Mind the dtype: Feast stores Float32, so 399.41 comes back as 399.410004. Decide the tolerance before looking at the numbers, not after. The mastery evidence in the assessment kit also asks them to notice the feature date.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capture that contradicts expectations: the model call costs more than the feature lookup — mostly DataFrame construction for a single row, not arithmetic. A smaller model would not help; at about 2 ms against a typical 100 ms budget, the right action is to change nothing. The line nobody asks for: feature age. Half the lines are scored on yesterday's features and one on features 14 days old — that is the thread Lab 4 pulls. The mission also runs MODEL_ALIAS=production to see 200 on /health and 503 on /ready.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alias is resolved at startup, so a moved alias takes effect on restart — Lab 5 builds on exactly this. The unknown-key request closes the loop opened in Lab 1: the client sent two ids, every feature came from Feast, none from the client, and an unseen line gets a clean 404.</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streamlit run serving/planner_app.py on port 8501. The app shows readiness in the sidebar, scores one line, and runs a small batch by looping /predict — fine for dozens of lines; for thousands use one Feast lookup and one vectorised predict (the batch-scoring challenge). Keeping the two idioms separate is a real design skill; the tell is the question each answers. The suggested extension exercises the cache and state fundamentals from M4, which the handout's app does not yet use.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two are verbatim viva questions from the Lab 3 assessment kit; the last two follow from this session's design rules. Ask, take one answer, then reveal. Next: Lab 3b at 11:15 — the multipage analytics dashboard over the reorder data.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2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E3A63B"/>
                </a:solidFill>
                <a:latin typeface="JetBrains Mono" pitchFamily="34" charset="0"/>
                <a:ea typeface="JetBrains Mono" pitchFamily="34" charset="-122"/>
                <a:cs typeface="JetBrains Mono" pitchFamily="34" charset="-120"/>
              </a:rPr>
              <a:t>FROM PIPELINES TO PRODUCTION · DAY 2 · 09:30–11:15</a:t>
            </a:r>
            <a:endParaRPr lang="en-US" sz="1200" dirty="0"/>
          </a:p>
        </p:txBody>
      </p:sp>
      <p:sp>
        <p:nvSpPr>
          <p:cNvPr id="3" name="Text 1"/>
          <p:cNvSpPr/>
          <p:nvPr/>
        </p:nvSpPr>
        <p:spPr>
          <a:xfrm>
            <a:off x="812800" y="1153120"/>
            <a:ext cx="10883392" cy="772120"/>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F6F4EE"/>
                </a:solidFill>
                <a:latin typeface="IBM Plex Sans" pitchFamily="34" charset="0"/>
                <a:ea typeface="IBM Plex Sans" pitchFamily="34" charset="-122"/>
                <a:cs typeface="IBM Plex Sans" pitchFamily="34" charset="-120"/>
              </a:rPr>
              <a:t>M4 + Lab 3a</a:t>
            </a:r>
            <a:endParaRPr lang="en-US" sz="5600" dirty="0"/>
          </a:p>
        </p:txBody>
      </p:sp>
      <p:sp>
        <p:nvSpPr>
          <p:cNvPr id="4" name="Text 2"/>
          <p:cNvSpPr/>
          <p:nvPr/>
        </p:nvSpPr>
        <p:spPr>
          <a:xfrm>
            <a:off x="812800" y="2026841"/>
            <a:ext cx="9810750" cy="817761"/>
          </a:xfrm>
          <a:prstGeom prst="rect">
            <a:avLst/>
          </a:prstGeom>
          <a:noFill/>
          <a:ln/>
        </p:spPr>
        <p:txBody>
          <a:bodyPr wrap="square" lIns="0" tIns="0" rIns="0" bIns="0" rtlCol="0" anchor="t">
            <a:normAutofit/>
          </a:bodyPr>
          <a:lstStyle/>
          <a:p>
            <a:pPr marL="0" indent="0" algn="l">
              <a:lnSpc>
                <a:spcPts val="3120"/>
              </a:lnSpc>
              <a:buNone/>
            </a:pPr>
            <a:r>
              <a:rPr lang="en-US" sz="2400" dirty="0">
                <a:solidFill>
                  <a:srgbClr val="F6F4EE"/>
                </a:solidFill>
                <a:latin typeface="IBM Plex Sans" pitchFamily="34" charset="0"/>
                <a:ea typeface="IBM Plex Sans" pitchFamily="34" charset="-122"/>
                <a:cs typeface="IBM Plex Sans" pitchFamily="34" charset="-120"/>
              </a:rPr>
              <a:t>Deployment and data apps → a serving UI with Streamlit fundamentals, on Docker Compose</a:t>
            </a:r>
            <a:endParaRPr lang="en-US" sz="2400" dirty="0"/>
          </a:p>
        </p:txBody>
      </p:sp>
      <p:sp>
        <p:nvSpPr>
          <p:cNvPr id="5" name="Shape 3"/>
          <p:cNvSpPr/>
          <p:nvPr/>
        </p:nvSpPr>
        <p:spPr>
          <a:xfrm>
            <a:off x="812800" y="5200749"/>
            <a:ext cx="10566400" cy="0"/>
          </a:xfrm>
          <a:prstGeom prst="line">
            <a:avLst/>
          </a:prstGeom>
          <a:noFill/>
          <a:ln w="12700">
            <a:solidFill>
              <a:srgbClr val="3A4B57"/>
            </a:solidFill>
            <a:prstDash val="solid"/>
          </a:ln>
        </p:spPr>
        <p:txBody>
          <a:bodyPr/>
          <a:lstStyle/>
          <a:p>
            <a:endParaRPr lang="en-IN"/>
          </a:p>
        </p:txBody>
      </p:sp>
      <p:sp>
        <p:nvSpPr>
          <p:cNvPr id="6" name="Text 4"/>
          <p:cNvSpPr/>
          <p:nvPr/>
        </p:nvSpPr>
        <p:spPr>
          <a:xfrm>
            <a:off x="812800" y="5410299"/>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8C5CB"/>
                </a:solidFill>
                <a:latin typeface="IBM Plex Sans" pitchFamily="34" charset="0"/>
                <a:ea typeface="IBM Plex Sans" pitchFamily="34" charset="-122"/>
                <a:cs typeface="IBM Plex Sans" pitchFamily="34" charset="-120"/>
              </a:rPr>
              <a:t>Deployment pipeline · FastAPI serving · Streamlit as a craft · Docker Compose · health-check gates</a:t>
            </a:r>
            <a:endParaRPr lang="en-US" sz="1600" dirty="0"/>
          </a:p>
        </p:txBody>
      </p:sp>
      <p:sp>
        <p:nvSpPr>
          <p:cNvPr id="7" name="Text 5"/>
          <p:cNvSpPr/>
          <p:nvPr/>
        </p:nvSpPr>
        <p:spPr>
          <a:xfrm>
            <a:off x="812800" y="579635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8C5CB"/>
                </a:solidFill>
                <a:latin typeface="JetBrains Mono" pitchFamily="34" charset="0"/>
                <a:ea typeface="JetBrains Mono" pitchFamily="34" charset="-122"/>
                <a:cs typeface="JetBrains Mono" pitchFamily="34" charset="-120"/>
              </a:rPr>
              <a:t>BITS Pilani WILP · CSIS · Pravin </a:t>
            </a:r>
            <a:r>
              <a:rPr lang="en-US" sz="1400">
                <a:solidFill>
                  <a:srgbClr val="B8C5CB"/>
                </a:solidFill>
                <a:latin typeface="JetBrains Mono" pitchFamily="34" charset="0"/>
                <a:ea typeface="JetBrains Mono" pitchFamily="34" charset="-122"/>
                <a:cs typeface="JetBrains Mono" pitchFamily="34" charset="-120"/>
              </a:rPr>
              <a:t>Y Pawar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WHERE WE ARE</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Serve: turn a registry entry into an answered question</a:t>
            </a:r>
            <a:endParaRPr lang="en-US" sz="3200" dirty="0"/>
          </a:p>
        </p:txBody>
      </p:sp>
      <p:sp>
        <p:nvSpPr>
          <p:cNvPr id="4" name="Shape 2"/>
          <p:cNvSpPr/>
          <p:nvPr/>
        </p:nvSpPr>
        <p:spPr>
          <a:xfrm>
            <a:off x="819150" y="1987451"/>
            <a:ext cx="1420515" cy="843161"/>
          </a:xfrm>
          <a:prstGeom prst="roundRect">
            <a:avLst>
              <a:gd name="adj" fmla="val 9791"/>
            </a:avLst>
          </a:prstGeom>
          <a:solidFill>
            <a:srgbClr val="FDFCF8"/>
          </a:solidFill>
          <a:ln w="12700">
            <a:solidFill>
              <a:srgbClr val="DCD6C8"/>
            </a:solidFill>
            <a:prstDash val="solid"/>
          </a:ln>
        </p:spPr>
        <p:txBody>
          <a:bodyPr/>
          <a:lstStyle/>
          <a:p>
            <a:endParaRPr lang="en-IN"/>
          </a:p>
        </p:txBody>
      </p:sp>
      <p:sp>
        <p:nvSpPr>
          <p:cNvPr id="5" name="Text 3"/>
          <p:cNvSpPr/>
          <p:nvPr/>
        </p:nvSpPr>
        <p:spPr>
          <a:xfrm>
            <a:off x="889000" y="2146201"/>
            <a:ext cx="1280815"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Discover</a:t>
            </a:r>
            <a:endParaRPr lang="en-US" sz="1400" dirty="0"/>
          </a:p>
        </p:txBody>
      </p:sp>
      <p:sp>
        <p:nvSpPr>
          <p:cNvPr id="6" name="Text 4"/>
          <p:cNvSpPr/>
          <p:nvPr/>
        </p:nvSpPr>
        <p:spPr>
          <a:xfrm>
            <a:off x="889000" y="2458541"/>
            <a:ext cx="1280815"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M2</a:t>
            </a:r>
            <a:endParaRPr lang="en-US" sz="1200" dirty="0"/>
          </a:p>
        </p:txBody>
      </p:sp>
      <p:sp>
        <p:nvSpPr>
          <p:cNvPr id="7" name="Shape 5"/>
          <p:cNvSpPr/>
          <p:nvPr/>
        </p:nvSpPr>
        <p:spPr>
          <a:xfrm>
            <a:off x="2341265" y="1987451"/>
            <a:ext cx="1420614" cy="843161"/>
          </a:xfrm>
          <a:prstGeom prst="roundRect">
            <a:avLst>
              <a:gd name="adj" fmla="val 9791"/>
            </a:avLst>
          </a:prstGeom>
          <a:solidFill>
            <a:srgbClr val="FDFCF8"/>
          </a:solidFill>
          <a:ln w="12700">
            <a:solidFill>
              <a:srgbClr val="DCD6C8"/>
            </a:solidFill>
            <a:prstDash val="solid"/>
          </a:ln>
        </p:spPr>
        <p:txBody>
          <a:bodyPr/>
          <a:lstStyle/>
          <a:p>
            <a:endParaRPr lang="en-IN"/>
          </a:p>
        </p:txBody>
      </p:sp>
      <p:sp>
        <p:nvSpPr>
          <p:cNvPr id="8" name="Text 6"/>
          <p:cNvSpPr/>
          <p:nvPr/>
        </p:nvSpPr>
        <p:spPr>
          <a:xfrm>
            <a:off x="2411115" y="2146201"/>
            <a:ext cx="1280914"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Prepare</a:t>
            </a:r>
            <a:endParaRPr lang="en-US" sz="1400" dirty="0"/>
          </a:p>
        </p:txBody>
      </p:sp>
      <p:sp>
        <p:nvSpPr>
          <p:cNvPr id="9" name="Text 7"/>
          <p:cNvSpPr/>
          <p:nvPr/>
        </p:nvSpPr>
        <p:spPr>
          <a:xfrm>
            <a:off x="2411115" y="2458541"/>
            <a:ext cx="1280914"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Lab 1</a:t>
            </a:r>
            <a:endParaRPr lang="en-US" sz="1200" dirty="0"/>
          </a:p>
        </p:txBody>
      </p:sp>
      <p:sp>
        <p:nvSpPr>
          <p:cNvPr id="10" name="Shape 8"/>
          <p:cNvSpPr/>
          <p:nvPr/>
        </p:nvSpPr>
        <p:spPr>
          <a:xfrm>
            <a:off x="3863479" y="1987451"/>
            <a:ext cx="1420515" cy="843161"/>
          </a:xfrm>
          <a:prstGeom prst="roundRect">
            <a:avLst>
              <a:gd name="adj" fmla="val 9791"/>
            </a:avLst>
          </a:prstGeom>
          <a:solidFill>
            <a:srgbClr val="FDFCF8"/>
          </a:solidFill>
          <a:ln w="12700">
            <a:solidFill>
              <a:srgbClr val="DCD6C8"/>
            </a:solidFill>
            <a:prstDash val="solid"/>
          </a:ln>
        </p:spPr>
        <p:txBody>
          <a:bodyPr/>
          <a:lstStyle/>
          <a:p>
            <a:endParaRPr lang="en-IN"/>
          </a:p>
        </p:txBody>
      </p:sp>
      <p:sp>
        <p:nvSpPr>
          <p:cNvPr id="11" name="Text 9"/>
          <p:cNvSpPr/>
          <p:nvPr/>
        </p:nvSpPr>
        <p:spPr>
          <a:xfrm>
            <a:off x="3933329" y="2146201"/>
            <a:ext cx="1280815"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Build</a:t>
            </a:r>
            <a:endParaRPr lang="en-US" sz="1400" dirty="0"/>
          </a:p>
        </p:txBody>
      </p:sp>
      <p:sp>
        <p:nvSpPr>
          <p:cNvPr id="12" name="Text 10"/>
          <p:cNvSpPr/>
          <p:nvPr/>
        </p:nvSpPr>
        <p:spPr>
          <a:xfrm>
            <a:off x="3933329" y="2458541"/>
            <a:ext cx="1280815"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Lab 2</a:t>
            </a:r>
            <a:endParaRPr lang="en-US" sz="1200" dirty="0"/>
          </a:p>
        </p:txBody>
      </p:sp>
      <p:sp>
        <p:nvSpPr>
          <p:cNvPr id="13" name="Shape 11"/>
          <p:cNvSpPr/>
          <p:nvPr/>
        </p:nvSpPr>
        <p:spPr>
          <a:xfrm>
            <a:off x="5385594" y="1987451"/>
            <a:ext cx="1420614" cy="843161"/>
          </a:xfrm>
          <a:prstGeom prst="roundRect">
            <a:avLst>
              <a:gd name="adj" fmla="val 9791"/>
            </a:avLst>
          </a:prstGeom>
          <a:solidFill>
            <a:srgbClr val="0E6F6D"/>
          </a:solidFill>
          <a:ln w="12700">
            <a:solidFill>
              <a:srgbClr val="0E6F6D"/>
            </a:solidFill>
            <a:prstDash val="solid"/>
          </a:ln>
        </p:spPr>
        <p:txBody>
          <a:bodyPr/>
          <a:lstStyle/>
          <a:p>
            <a:endParaRPr lang="en-IN"/>
          </a:p>
        </p:txBody>
      </p:sp>
      <p:sp>
        <p:nvSpPr>
          <p:cNvPr id="14" name="Text 12"/>
          <p:cNvSpPr/>
          <p:nvPr/>
        </p:nvSpPr>
        <p:spPr>
          <a:xfrm>
            <a:off x="5455444" y="2146201"/>
            <a:ext cx="1280914"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F6F4EE"/>
                </a:solidFill>
                <a:latin typeface="IBM Plex Sans" pitchFamily="34" charset="0"/>
                <a:ea typeface="IBM Plex Sans" pitchFamily="34" charset="-122"/>
                <a:cs typeface="IBM Plex Sans" pitchFamily="34" charset="-120"/>
              </a:rPr>
              <a:t>Serve</a:t>
            </a:r>
            <a:endParaRPr lang="en-US" sz="1400" dirty="0"/>
          </a:p>
        </p:txBody>
      </p:sp>
      <p:sp>
        <p:nvSpPr>
          <p:cNvPr id="15" name="Text 13"/>
          <p:cNvSpPr/>
          <p:nvPr/>
        </p:nvSpPr>
        <p:spPr>
          <a:xfrm>
            <a:off x="5455444" y="2458541"/>
            <a:ext cx="1280914"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CFE6E3"/>
                </a:solidFill>
                <a:latin typeface="JetBrains Mono" pitchFamily="34" charset="0"/>
                <a:ea typeface="JetBrains Mono" pitchFamily="34" charset="-122"/>
                <a:cs typeface="JetBrains Mono" pitchFamily="34" charset="-120"/>
              </a:rPr>
              <a:t>Lab 3</a:t>
            </a:r>
            <a:endParaRPr lang="en-US" sz="1200" dirty="0"/>
          </a:p>
        </p:txBody>
      </p:sp>
      <p:sp>
        <p:nvSpPr>
          <p:cNvPr id="16" name="Shape 14"/>
          <p:cNvSpPr/>
          <p:nvPr/>
        </p:nvSpPr>
        <p:spPr>
          <a:xfrm>
            <a:off x="6907808" y="1987451"/>
            <a:ext cx="1420614" cy="843161"/>
          </a:xfrm>
          <a:prstGeom prst="roundRect">
            <a:avLst>
              <a:gd name="adj" fmla="val 9791"/>
            </a:avLst>
          </a:prstGeom>
          <a:solidFill>
            <a:srgbClr val="FDFCF8"/>
          </a:solidFill>
          <a:ln w="12700">
            <a:solidFill>
              <a:srgbClr val="DCD6C8"/>
            </a:solidFill>
            <a:prstDash val="solid"/>
          </a:ln>
        </p:spPr>
        <p:txBody>
          <a:bodyPr/>
          <a:lstStyle/>
          <a:p>
            <a:endParaRPr lang="en-IN"/>
          </a:p>
        </p:txBody>
      </p:sp>
      <p:sp>
        <p:nvSpPr>
          <p:cNvPr id="17" name="Text 15"/>
          <p:cNvSpPr/>
          <p:nvPr/>
        </p:nvSpPr>
        <p:spPr>
          <a:xfrm>
            <a:off x="6977658" y="2146201"/>
            <a:ext cx="1280914"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Monitor</a:t>
            </a:r>
            <a:endParaRPr lang="en-US" sz="1400" dirty="0"/>
          </a:p>
        </p:txBody>
      </p:sp>
      <p:sp>
        <p:nvSpPr>
          <p:cNvPr id="18" name="Text 16"/>
          <p:cNvSpPr/>
          <p:nvPr/>
        </p:nvSpPr>
        <p:spPr>
          <a:xfrm>
            <a:off x="6977658" y="2458541"/>
            <a:ext cx="1280914"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Lab 4</a:t>
            </a:r>
            <a:endParaRPr lang="en-US" sz="1200" dirty="0"/>
          </a:p>
        </p:txBody>
      </p:sp>
      <p:sp>
        <p:nvSpPr>
          <p:cNvPr id="19" name="Shape 17"/>
          <p:cNvSpPr/>
          <p:nvPr/>
        </p:nvSpPr>
        <p:spPr>
          <a:xfrm>
            <a:off x="8430022" y="1987451"/>
            <a:ext cx="1420614" cy="843161"/>
          </a:xfrm>
          <a:prstGeom prst="roundRect">
            <a:avLst>
              <a:gd name="adj" fmla="val 9791"/>
            </a:avLst>
          </a:prstGeom>
          <a:solidFill>
            <a:srgbClr val="FDFCF8"/>
          </a:solidFill>
          <a:ln w="12700">
            <a:solidFill>
              <a:srgbClr val="DCD6C8"/>
            </a:solidFill>
            <a:prstDash val="solid"/>
          </a:ln>
        </p:spPr>
        <p:txBody>
          <a:bodyPr/>
          <a:lstStyle/>
          <a:p>
            <a:endParaRPr lang="en-IN"/>
          </a:p>
        </p:txBody>
      </p:sp>
      <p:sp>
        <p:nvSpPr>
          <p:cNvPr id="20" name="Text 18"/>
          <p:cNvSpPr/>
          <p:nvPr/>
        </p:nvSpPr>
        <p:spPr>
          <a:xfrm>
            <a:off x="8499872" y="2146201"/>
            <a:ext cx="1280914"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Re-execute</a:t>
            </a:r>
            <a:endParaRPr lang="en-US" sz="1400" dirty="0"/>
          </a:p>
        </p:txBody>
      </p:sp>
      <p:sp>
        <p:nvSpPr>
          <p:cNvPr id="21" name="Text 19"/>
          <p:cNvSpPr/>
          <p:nvPr/>
        </p:nvSpPr>
        <p:spPr>
          <a:xfrm>
            <a:off x="8499872" y="2458541"/>
            <a:ext cx="1280914"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Lab 4</a:t>
            </a:r>
            <a:endParaRPr lang="en-US" sz="1200" dirty="0"/>
          </a:p>
        </p:txBody>
      </p:sp>
      <p:sp>
        <p:nvSpPr>
          <p:cNvPr id="22" name="Shape 20"/>
          <p:cNvSpPr/>
          <p:nvPr/>
        </p:nvSpPr>
        <p:spPr>
          <a:xfrm>
            <a:off x="9952236" y="1987451"/>
            <a:ext cx="1420614" cy="843161"/>
          </a:xfrm>
          <a:prstGeom prst="roundRect">
            <a:avLst>
              <a:gd name="adj" fmla="val 9791"/>
            </a:avLst>
          </a:prstGeom>
          <a:solidFill>
            <a:srgbClr val="FDFCF8"/>
          </a:solidFill>
          <a:ln w="12700">
            <a:solidFill>
              <a:srgbClr val="DCD6C8"/>
            </a:solidFill>
            <a:prstDash val="solid"/>
          </a:ln>
        </p:spPr>
        <p:txBody>
          <a:bodyPr/>
          <a:lstStyle/>
          <a:p>
            <a:endParaRPr lang="en-IN"/>
          </a:p>
        </p:txBody>
      </p:sp>
      <p:sp>
        <p:nvSpPr>
          <p:cNvPr id="23" name="Text 21"/>
          <p:cNvSpPr/>
          <p:nvPr/>
        </p:nvSpPr>
        <p:spPr>
          <a:xfrm>
            <a:off x="10022086" y="2146201"/>
            <a:ext cx="1280914"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Release</a:t>
            </a:r>
            <a:endParaRPr lang="en-US" sz="1400" dirty="0"/>
          </a:p>
        </p:txBody>
      </p:sp>
      <p:sp>
        <p:nvSpPr>
          <p:cNvPr id="24" name="Text 22"/>
          <p:cNvSpPr/>
          <p:nvPr/>
        </p:nvSpPr>
        <p:spPr>
          <a:xfrm>
            <a:off x="10022086" y="2458541"/>
            <a:ext cx="1280914"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Lab 5</a:t>
            </a:r>
            <a:endParaRPr lang="en-US" sz="1200" dirty="0"/>
          </a:p>
        </p:txBody>
      </p:sp>
      <p:sp>
        <p:nvSpPr>
          <p:cNvPr id="25" name="Shape 23"/>
          <p:cNvSpPr/>
          <p:nvPr/>
        </p:nvSpPr>
        <p:spPr>
          <a:xfrm>
            <a:off x="812800" y="3252887"/>
            <a:ext cx="2451100" cy="0"/>
          </a:xfrm>
          <a:prstGeom prst="line">
            <a:avLst/>
          </a:prstGeom>
          <a:noFill/>
          <a:ln w="19050">
            <a:solidFill>
              <a:srgbClr val="0E6F6D"/>
            </a:solidFill>
            <a:prstDash val="solid"/>
          </a:ln>
        </p:spPr>
        <p:txBody>
          <a:bodyPr/>
          <a:lstStyle/>
          <a:p>
            <a:endParaRPr lang="en-IN"/>
          </a:p>
        </p:txBody>
      </p:sp>
      <p:sp>
        <p:nvSpPr>
          <p:cNvPr id="26" name="Text 24"/>
          <p:cNvSpPr/>
          <p:nvPr/>
        </p:nvSpPr>
        <p:spPr>
          <a:xfrm>
            <a:off x="812800" y="3389412"/>
            <a:ext cx="2524633"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16232E"/>
                </a:solidFill>
                <a:latin typeface="JetBrains Mono" pitchFamily="34" charset="0"/>
                <a:ea typeface="JetBrains Mono" pitchFamily="34" charset="-122"/>
                <a:cs typeface="JetBrains Mono" pitchFamily="34" charset="-120"/>
              </a:rPr>
              <a:t>v1</a:t>
            </a:r>
            <a:endParaRPr lang="en-US" sz="3200" dirty="0"/>
          </a:p>
        </p:txBody>
      </p:sp>
      <p:sp>
        <p:nvSpPr>
          <p:cNvPr id="27" name="Text 25"/>
          <p:cNvSpPr/>
          <p:nvPr/>
        </p:nvSpPr>
        <p:spPr>
          <a:xfrm>
            <a:off x="812800" y="4009132"/>
            <a:ext cx="2524633"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E5B63"/>
                </a:solidFill>
                <a:latin typeface="IBM Plex Sans" pitchFamily="34" charset="0"/>
                <a:ea typeface="IBM Plex Sans" pitchFamily="34" charset="-122"/>
                <a:cs typeface="IBM Plex Sans" pitchFamily="34" charset="-120"/>
              </a:rPr>
              <a:t>freshmart_reorder_model @champion</a:t>
            </a:r>
            <a:endParaRPr lang="en-US" sz="1300" dirty="0"/>
          </a:p>
        </p:txBody>
      </p:sp>
      <p:sp>
        <p:nvSpPr>
          <p:cNvPr id="28" name="Shape 26"/>
          <p:cNvSpPr/>
          <p:nvPr/>
        </p:nvSpPr>
        <p:spPr>
          <a:xfrm>
            <a:off x="3517900" y="3252887"/>
            <a:ext cx="2451100" cy="0"/>
          </a:xfrm>
          <a:prstGeom prst="line">
            <a:avLst/>
          </a:prstGeom>
          <a:noFill/>
          <a:ln w="19050">
            <a:solidFill>
              <a:srgbClr val="0E6F6D"/>
            </a:solidFill>
            <a:prstDash val="solid"/>
          </a:ln>
        </p:spPr>
        <p:txBody>
          <a:bodyPr/>
          <a:lstStyle/>
          <a:p>
            <a:endParaRPr lang="en-IN"/>
          </a:p>
        </p:txBody>
      </p:sp>
      <p:sp>
        <p:nvSpPr>
          <p:cNvPr id="29" name="Text 27"/>
          <p:cNvSpPr/>
          <p:nvPr/>
        </p:nvSpPr>
        <p:spPr>
          <a:xfrm>
            <a:off x="3517900" y="3389412"/>
            <a:ext cx="2524633"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16232E"/>
                </a:solidFill>
                <a:latin typeface="JetBrains Mono" pitchFamily="34" charset="0"/>
                <a:ea typeface="JetBrains Mono" pitchFamily="34" charset="-122"/>
                <a:cs typeface="JetBrains Mono" pitchFamily="34" charset="-120"/>
              </a:rPr>
              <a:t>0.697</a:t>
            </a:r>
            <a:endParaRPr lang="en-US" sz="3200" dirty="0"/>
          </a:p>
        </p:txBody>
      </p:sp>
      <p:sp>
        <p:nvSpPr>
          <p:cNvPr id="30" name="Text 28"/>
          <p:cNvSpPr/>
          <p:nvPr/>
        </p:nvSpPr>
        <p:spPr>
          <a:xfrm>
            <a:off x="3517900" y="4009132"/>
            <a:ext cx="2524633"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E5B63"/>
                </a:solidFill>
                <a:latin typeface="IBM Plex Sans" pitchFamily="34" charset="0"/>
                <a:ea typeface="IBM Plex Sans" pitchFamily="34" charset="-122"/>
                <a:cs typeface="IBM Plex Sans" pitchFamily="34" charset="-120"/>
              </a:rPr>
              <a:t>AUC, logistic regression</a:t>
            </a:r>
            <a:endParaRPr lang="en-US" sz="1300" dirty="0"/>
          </a:p>
        </p:txBody>
      </p:sp>
      <p:sp>
        <p:nvSpPr>
          <p:cNvPr id="31" name="Shape 29"/>
          <p:cNvSpPr/>
          <p:nvPr/>
        </p:nvSpPr>
        <p:spPr>
          <a:xfrm>
            <a:off x="6223000" y="3252887"/>
            <a:ext cx="2451100" cy="0"/>
          </a:xfrm>
          <a:prstGeom prst="line">
            <a:avLst/>
          </a:prstGeom>
          <a:noFill/>
          <a:ln w="19050">
            <a:solidFill>
              <a:srgbClr val="0E6F6D"/>
            </a:solidFill>
            <a:prstDash val="solid"/>
          </a:ln>
        </p:spPr>
        <p:txBody>
          <a:bodyPr/>
          <a:lstStyle/>
          <a:p>
            <a:endParaRPr lang="en-IN"/>
          </a:p>
        </p:txBody>
      </p:sp>
      <p:sp>
        <p:nvSpPr>
          <p:cNvPr id="32" name="Text 30"/>
          <p:cNvSpPr/>
          <p:nvPr/>
        </p:nvSpPr>
        <p:spPr>
          <a:xfrm>
            <a:off x="6223000" y="3389412"/>
            <a:ext cx="2524633"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16232E"/>
                </a:solidFill>
                <a:latin typeface="JetBrains Mono" pitchFamily="34" charset="0"/>
                <a:ea typeface="JetBrains Mono" pitchFamily="34" charset="-122"/>
                <a:cs typeface="JetBrains Mono" pitchFamily="34" charset="-120"/>
              </a:rPr>
              <a:t>8</a:t>
            </a:r>
            <a:endParaRPr lang="en-US" sz="3200" dirty="0"/>
          </a:p>
        </p:txBody>
      </p:sp>
      <p:sp>
        <p:nvSpPr>
          <p:cNvPr id="33" name="Text 31"/>
          <p:cNvSpPr/>
          <p:nvPr/>
        </p:nvSpPr>
        <p:spPr>
          <a:xfrm>
            <a:off x="6223000" y="4009132"/>
            <a:ext cx="2524633"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E5B63"/>
                </a:solidFill>
                <a:latin typeface="IBM Plex Sans" pitchFamily="34" charset="0"/>
                <a:ea typeface="IBM Plex Sans" pitchFamily="34" charset="-122"/>
                <a:cs typeface="IBM Plex Sans" pitchFamily="34" charset="-120"/>
              </a:rPr>
              <a:t>features in the online store</a:t>
            </a:r>
            <a:endParaRPr lang="en-US" sz="1300" dirty="0"/>
          </a:p>
        </p:txBody>
      </p:sp>
      <p:sp>
        <p:nvSpPr>
          <p:cNvPr id="34" name="Shape 32"/>
          <p:cNvSpPr/>
          <p:nvPr/>
        </p:nvSpPr>
        <p:spPr>
          <a:xfrm>
            <a:off x="8928100" y="3252887"/>
            <a:ext cx="2451100" cy="0"/>
          </a:xfrm>
          <a:prstGeom prst="line">
            <a:avLst/>
          </a:prstGeom>
          <a:noFill/>
          <a:ln w="19050">
            <a:solidFill>
              <a:srgbClr val="0E6F6D"/>
            </a:solidFill>
            <a:prstDash val="solid"/>
          </a:ln>
        </p:spPr>
        <p:txBody>
          <a:bodyPr/>
          <a:lstStyle/>
          <a:p>
            <a:endParaRPr lang="en-IN"/>
          </a:p>
        </p:txBody>
      </p:sp>
      <p:sp>
        <p:nvSpPr>
          <p:cNvPr id="35" name="Text 33"/>
          <p:cNvSpPr/>
          <p:nvPr/>
        </p:nvSpPr>
        <p:spPr>
          <a:xfrm>
            <a:off x="8928100" y="3389412"/>
            <a:ext cx="2524633" cy="1163241"/>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0E6F6D"/>
                </a:solidFill>
                <a:latin typeface="JetBrains Mono" pitchFamily="34" charset="0"/>
                <a:ea typeface="JetBrains Mono" pitchFamily="34" charset="-122"/>
                <a:cs typeface="JetBrains Mono" pitchFamily="34" charset="-120"/>
              </a:rPr>
              <a:t>e0ce921bf845</a:t>
            </a:r>
            <a:endParaRPr lang="en-US" sz="3200" dirty="0"/>
          </a:p>
        </p:txBody>
      </p:sp>
      <p:sp>
        <p:nvSpPr>
          <p:cNvPr id="36" name="Text 34"/>
          <p:cNvSpPr/>
          <p:nvPr/>
        </p:nvSpPr>
        <p:spPr>
          <a:xfrm>
            <a:off x="8928100" y="4578052"/>
            <a:ext cx="2524633"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E5B63"/>
                </a:solidFill>
                <a:latin typeface="IBM Plex Sans" pitchFamily="34" charset="0"/>
                <a:ea typeface="IBM Plex Sans" pitchFamily="34" charset="-122"/>
                <a:cs typeface="IBM Plex Sans" pitchFamily="34" charset="-120"/>
              </a:rPr>
              <a:t>data_hash on the version</a:t>
            </a:r>
            <a:endParaRPr lang="en-US" sz="1300" dirty="0"/>
          </a:p>
        </p:txBody>
      </p:sp>
      <p:sp>
        <p:nvSpPr>
          <p:cNvPr id="37" name="Text 3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2 · M4 + Lab 3a</a:t>
            </a:r>
            <a:endParaRPr lang="en-US" sz="1200" dirty="0"/>
          </a:p>
        </p:txBody>
      </p:sp>
      <p:sp>
        <p:nvSpPr>
          <p:cNvPr id="38" name="Text 3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32E"/>
        </a:solidFill>
        <a:effectLst/>
      </p:bgPr>
    </p:bg>
    <p:spTree>
      <p:nvGrpSpPr>
        <p:cNvPr id="1" name=""/>
        <p:cNvGrpSpPr/>
        <p:nvPr/>
      </p:nvGrpSpPr>
      <p:grpSpPr>
        <a:xfrm>
          <a:off x="0" y="0"/>
          <a:ext cx="0" cy="0"/>
          <a:chOff x="0" y="0"/>
          <a:chExt cx="0" cy="0"/>
        </a:xfrm>
      </p:grpSpPr>
      <p:sp>
        <p:nvSpPr>
          <p:cNvPr id="2" name="Text 0"/>
          <p:cNvSpPr/>
          <p:nvPr/>
        </p:nvSpPr>
        <p:spPr>
          <a:xfrm>
            <a:off x="812800" y="1726605"/>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E3A63B"/>
                </a:solidFill>
                <a:latin typeface="JetBrains Mono" pitchFamily="34" charset="0"/>
                <a:ea typeface="JetBrains Mono" pitchFamily="34" charset="-122"/>
                <a:cs typeface="JetBrains Mono" pitchFamily="34" charset="-120"/>
              </a:rPr>
              <a:t>THE QUESTION FOR THIS SESSION</a:t>
            </a:r>
            <a:endParaRPr lang="en-US" sz="1200" dirty="0"/>
          </a:p>
        </p:txBody>
      </p:sp>
      <p:sp>
        <p:nvSpPr>
          <p:cNvPr id="3" name="Text 1"/>
          <p:cNvSpPr/>
          <p:nvPr/>
        </p:nvSpPr>
        <p:spPr>
          <a:xfrm>
            <a:off x="812800" y="2244725"/>
            <a:ext cx="10883392" cy="1778000"/>
          </a:xfrm>
          <a:prstGeom prst="rect">
            <a:avLst/>
          </a:prstGeom>
          <a:noFill/>
          <a:ln/>
        </p:spPr>
        <p:txBody>
          <a:bodyPr wrap="square" lIns="0" tIns="0" rIns="0" bIns="0" rtlCol="0" anchor="t">
            <a:normAutofit/>
          </a:bodyPr>
          <a:lstStyle/>
          <a:p>
            <a:pPr marL="0" indent="0" algn="l">
              <a:lnSpc>
                <a:spcPts val="4600"/>
              </a:lnSpc>
              <a:buNone/>
            </a:pPr>
            <a:r>
              <a:rPr lang="en-US" sz="4000" b="1" dirty="0">
                <a:solidFill>
                  <a:srgbClr val="F6F4EE"/>
                </a:solidFill>
                <a:latin typeface="IBM Plex Sans" pitchFamily="34" charset="0"/>
                <a:ea typeface="IBM Plex Sans" pitchFamily="34" charset="-122"/>
                <a:cs typeface="IBM Plex Sans" pitchFamily="34" charset="-120"/>
              </a:rPr>
              <a:t>Can a planner get a reorder score in milliseconds — without ever sending a feature?</a:t>
            </a:r>
            <a:endParaRPr lang="en-US" sz="4000" dirty="0"/>
          </a:p>
        </p:txBody>
      </p:sp>
      <p:sp>
        <p:nvSpPr>
          <p:cNvPr id="4" name="Text 2"/>
          <p:cNvSpPr/>
          <p:nvPr/>
        </p:nvSpPr>
        <p:spPr>
          <a:xfrm>
            <a:off x="812800" y="4302125"/>
            <a:ext cx="9156700" cy="651470"/>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B8C5CB"/>
                </a:solidFill>
                <a:latin typeface="IBM Plex Sans" pitchFamily="34" charset="0"/>
                <a:ea typeface="IBM Plex Sans" pitchFamily="34" charset="-122"/>
                <a:cs typeface="IBM Plex Sans" pitchFamily="34" charset="-120"/>
              </a:rPr>
              <a:t>And get an honest answer, not a guess, when the line is unknown. A planner in Pune opens a screen at 07:30 and will not be typing eight feature values.</a:t>
            </a:r>
            <a:endParaRPr lang="en-US" sz="1700" dirty="0"/>
          </a:p>
        </p:txBody>
      </p:sp>
      <p:sp>
        <p:nvSpPr>
          <p:cNvPr id="5" name="Text 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5CB"/>
                </a:solidFill>
                <a:latin typeface="JetBrains Mono" pitchFamily="34" charset="0"/>
                <a:ea typeface="JetBrains Mono" pitchFamily="34" charset="-122"/>
                <a:cs typeface="JetBrains Mono" pitchFamily="34" charset="-120"/>
              </a:rPr>
              <a:t>From Pipelines to Production · Day 2 · M4 + Lab 3a</a:t>
            </a:r>
            <a:endParaRPr lang="en-US" sz="1200" dirty="0"/>
          </a:p>
        </p:txBody>
      </p:sp>
      <p:sp>
        <p:nvSpPr>
          <p:cNvPr id="6" name="Text 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8C5CB"/>
                </a:solidFill>
                <a:latin typeface="JetBrains Mono" pitchFamily="34" charset="0"/>
                <a:ea typeface="JetBrains Mono" pitchFamily="34" charset="-122"/>
                <a:cs typeface="JetBrains Mono"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232E"/>
        </a:solidFill>
        <a:effectLst/>
      </p:bgPr>
    </p:bg>
    <p:spTree>
      <p:nvGrpSpPr>
        <p:cNvPr id="1" name=""/>
        <p:cNvGrpSpPr/>
        <p:nvPr/>
      </p:nvGrpSpPr>
      <p:grpSpPr>
        <a:xfrm>
          <a:off x="0" y="0"/>
          <a:ext cx="0" cy="0"/>
          <a:chOff x="0" y="0"/>
          <a:chExt cx="0" cy="0"/>
        </a:xfrm>
      </p:grpSpPr>
      <p:sp>
        <p:nvSpPr>
          <p:cNvPr id="2" name="Text 0"/>
          <p:cNvSpPr/>
          <p:nvPr/>
        </p:nvSpPr>
        <p:spPr>
          <a:xfrm>
            <a:off x="812800" y="1753890"/>
            <a:ext cx="10883392" cy="1041400"/>
          </a:xfrm>
          <a:prstGeom prst="rect">
            <a:avLst/>
          </a:prstGeom>
          <a:noFill/>
          <a:ln/>
        </p:spPr>
        <p:txBody>
          <a:bodyPr wrap="square" lIns="0" tIns="0" rIns="0" bIns="0" rtlCol="0" anchor="t">
            <a:normAutofit/>
          </a:bodyPr>
          <a:lstStyle/>
          <a:p>
            <a:pPr marL="0" indent="0" algn="l">
              <a:lnSpc>
                <a:spcPts val="8000"/>
              </a:lnSpc>
              <a:buNone/>
            </a:pPr>
            <a:r>
              <a:rPr lang="en-US" sz="8000" b="1" dirty="0">
                <a:solidFill>
                  <a:srgbClr val="E3A63B"/>
                </a:solidFill>
                <a:latin typeface="JetBrains Mono" pitchFamily="34" charset="0"/>
                <a:ea typeface="JetBrains Mono" pitchFamily="34" charset="-122"/>
                <a:cs typeface="JetBrains Mono" pitchFamily="34" charset="-120"/>
              </a:rPr>
              <a:t>M4</a:t>
            </a:r>
            <a:endParaRPr lang="en-US" sz="8000" dirty="0"/>
          </a:p>
        </p:txBody>
      </p:sp>
      <p:sp>
        <p:nvSpPr>
          <p:cNvPr id="3" name="Text 1"/>
          <p:cNvSpPr/>
          <p:nvPr/>
        </p:nvSpPr>
        <p:spPr>
          <a:xfrm>
            <a:off x="812800" y="3023890"/>
            <a:ext cx="10883392" cy="1076920"/>
          </a:xfrm>
          <a:prstGeom prst="rect">
            <a:avLst/>
          </a:prstGeom>
          <a:noFill/>
          <a:ln/>
        </p:spPr>
        <p:txBody>
          <a:bodyPr wrap="square" lIns="0" tIns="0" rIns="0" bIns="0" rtlCol="0" anchor="t">
            <a:normAutofit/>
          </a:bodyPr>
          <a:lstStyle/>
          <a:p>
            <a:pPr marL="0" indent="0" algn="l">
              <a:lnSpc>
                <a:spcPts val="4140"/>
              </a:lnSpc>
              <a:buNone/>
            </a:pPr>
            <a:r>
              <a:rPr lang="en-US" sz="3600" b="1" dirty="0">
                <a:solidFill>
                  <a:srgbClr val="F6F4EE"/>
                </a:solidFill>
                <a:latin typeface="IBM Plex Sans" pitchFamily="34" charset="0"/>
                <a:ea typeface="IBM Plex Sans" pitchFamily="34" charset="-122"/>
                <a:cs typeface="IBM Plex Sans" pitchFamily="34" charset="-120"/>
              </a:rPr>
              <a:t>Deployment, Serving</a:t>
            </a:r>
            <a:endParaRPr lang="en-US" sz="3600" dirty="0"/>
          </a:p>
          <a:p>
            <a:pPr marL="0" indent="0" algn="l">
              <a:lnSpc>
                <a:spcPts val="4140"/>
              </a:lnSpc>
              <a:buNone/>
            </a:pPr>
            <a:r>
              <a:rPr lang="en-US" sz="3600" b="1" dirty="0">
                <a:solidFill>
                  <a:srgbClr val="F6F4EE"/>
                </a:solidFill>
                <a:latin typeface="IBM Plex Sans" pitchFamily="34" charset="0"/>
                <a:ea typeface="IBM Plex Sans" pitchFamily="34" charset="-122"/>
                <a:cs typeface="IBM Plex Sans" pitchFamily="34" charset="-120"/>
              </a:rPr>
              <a:t>&amp; Data Apps</a:t>
            </a:r>
            <a:endParaRPr lang="en-US" sz="3600" dirty="0"/>
          </a:p>
        </p:txBody>
      </p:sp>
      <p:sp>
        <p:nvSpPr>
          <p:cNvPr id="4" name="Text 2"/>
          <p:cNvSpPr/>
          <p:nvPr/>
        </p:nvSpPr>
        <p:spPr>
          <a:xfrm>
            <a:off x="812800" y="4329410"/>
            <a:ext cx="9810750"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B8C5CB"/>
                </a:solidFill>
                <a:latin typeface="IBM Plex Sans" pitchFamily="34" charset="0"/>
                <a:ea typeface="IBM Plex Sans" pitchFamily="34" charset="-122"/>
                <a:cs typeface="IBM Plex Sans" pitchFamily="34" charset="-120"/>
              </a:rPr>
              <a:t>Deployment pipeline · FastAPI serving · health-check gates · Streamlit as a craft: layout, st.cache_data, session_state, multipage, theming, deploy · Docker Compose</a:t>
            </a:r>
            <a:endParaRPr lang="en-US" sz="1500" dirty="0"/>
          </a:p>
        </p:txBody>
      </p:sp>
      <p:sp>
        <p:nvSpPr>
          <p:cNvPr id="5" name="Text 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5CB"/>
                </a:solidFill>
                <a:latin typeface="JetBrains Mono" pitchFamily="34" charset="0"/>
                <a:ea typeface="JetBrains Mono" pitchFamily="34" charset="-122"/>
                <a:cs typeface="JetBrains Mono" pitchFamily="34" charset="-120"/>
              </a:rPr>
              <a:t>From Pipelines to Production · Day 2 · M4 + Lab 3a</a:t>
            </a:r>
            <a:endParaRPr lang="en-US" sz="1200" dirty="0"/>
          </a:p>
        </p:txBody>
      </p:sp>
      <p:sp>
        <p:nvSpPr>
          <p:cNvPr id="6" name="Text 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8C5CB"/>
                </a:solidFill>
                <a:latin typeface="JetBrains Mono" pitchFamily="34" charset="0"/>
                <a:ea typeface="JetBrains Mono" pitchFamily="34" charset="-122"/>
                <a:cs typeface="JetBrains Mono"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THE DEPLOYMENT PIPELINE</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A deployment pipeline ends at a gate, not at a copy</a:t>
            </a:r>
            <a:endParaRPr lang="en-US" sz="3200" dirty="0"/>
          </a:p>
        </p:txBody>
      </p:sp>
      <p:sp>
        <p:nvSpPr>
          <p:cNvPr id="4" name="Shape 2"/>
          <p:cNvSpPr/>
          <p:nvPr/>
        </p:nvSpPr>
        <p:spPr>
          <a:xfrm>
            <a:off x="819150" y="1987451"/>
            <a:ext cx="1235472" cy="1025922"/>
          </a:xfrm>
          <a:prstGeom prst="roundRect">
            <a:avLst>
              <a:gd name="adj" fmla="val 8046"/>
            </a:avLst>
          </a:prstGeom>
          <a:solidFill>
            <a:srgbClr val="FDFCF8"/>
          </a:solidFill>
          <a:ln w="12700">
            <a:solidFill>
              <a:srgbClr val="DCD6C8"/>
            </a:solidFill>
            <a:prstDash val="solid"/>
          </a:ln>
        </p:spPr>
        <p:txBody>
          <a:bodyPr/>
          <a:lstStyle/>
          <a:p>
            <a:endParaRPr lang="en-IN"/>
          </a:p>
        </p:txBody>
      </p:sp>
      <p:sp>
        <p:nvSpPr>
          <p:cNvPr id="5" name="Text 3"/>
          <p:cNvSpPr/>
          <p:nvPr/>
        </p:nvSpPr>
        <p:spPr>
          <a:xfrm>
            <a:off x="876300" y="2146201"/>
            <a:ext cx="1121172"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Resolve</a:t>
            </a:r>
            <a:endParaRPr lang="en-US" sz="1400" dirty="0"/>
          </a:p>
        </p:txBody>
      </p:sp>
      <p:sp>
        <p:nvSpPr>
          <p:cNvPr id="6" name="Text 4"/>
          <p:cNvSpPr/>
          <p:nvPr/>
        </p:nvSpPr>
        <p:spPr>
          <a:xfrm>
            <a:off x="876300" y="2458541"/>
            <a:ext cx="1121172" cy="421481"/>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4E5B63"/>
                </a:solidFill>
                <a:latin typeface="IBM Plex Sans" pitchFamily="34" charset="0"/>
                <a:ea typeface="IBM Plex Sans" pitchFamily="34" charset="-122"/>
                <a:cs typeface="IBM Plex Sans" pitchFamily="34" charset="-120"/>
              </a:rPr>
              <a:t>registry alias → version</a:t>
            </a:r>
            <a:endParaRPr lang="en-US" sz="1200" dirty="0"/>
          </a:p>
        </p:txBody>
      </p:sp>
      <p:pic>
        <p:nvPicPr>
          <p:cNvPr id="7" name="Image 0" descr="arrow-right"/>
          <p:cNvPicPr>
            <a:picLocks noChangeAspect="1"/>
          </p:cNvPicPr>
          <p:nvPr/>
        </p:nvPicPr>
        <p:blipFill>
          <a:blip r:embed="rId3"/>
          <a:srcRect/>
          <a:stretch/>
        </p:blipFill>
        <p:spPr>
          <a:xfrm>
            <a:off x="2124472" y="2436912"/>
            <a:ext cx="177800" cy="127000"/>
          </a:xfrm>
          <a:prstGeom prst="rect">
            <a:avLst/>
          </a:prstGeom>
        </p:spPr>
      </p:pic>
      <p:sp>
        <p:nvSpPr>
          <p:cNvPr id="8" name="Shape 5"/>
          <p:cNvSpPr/>
          <p:nvPr/>
        </p:nvSpPr>
        <p:spPr>
          <a:xfrm>
            <a:off x="2372122" y="1987451"/>
            <a:ext cx="1235571" cy="1025922"/>
          </a:xfrm>
          <a:prstGeom prst="roundRect">
            <a:avLst>
              <a:gd name="adj" fmla="val 8046"/>
            </a:avLst>
          </a:prstGeom>
          <a:solidFill>
            <a:srgbClr val="FDFCF8"/>
          </a:solidFill>
          <a:ln w="12700">
            <a:solidFill>
              <a:srgbClr val="DCD6C8"/>
            </a:solidFill>
            <a:prstDash val="solid"/>
          </a:ln>
        </p:spPr>
        <p:txBody>
          <a:bodyPr/>
          <a:lstStyle/>
          <a:p>
            <a:endParaRPr lang="en-IN"/>
          </a:p>
        </p:txBody>
      </p:sp>
      <p:sp>
        <p:nvSpPr>
          <p:cNvPr id="9" name="Text 6"/>
          <p:cNvSpPr/>
          <p:nvPr/>
        </p:nvSpPr>
        <p:spPr>
          <a:xfrm>
            <a:off x="2429272" y="2146201"/>
            <a:ext cx="1121271"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Configure</a:t>
            </a:r>
            <a:endParaRPr lang="en-US" sz="1400" dirty="0"/>
          </a:p>
        </p:txBody>
      </p:sp>
      <p:sp>
        <p:nvSpPr>
          <p:cNvPr id="10" name="Text 7"/>
          <p:cNvSpPr/>
          <p:nvPr/>
        </p:nvSpPr>
        <p:spPr>
          <a:xfrm>
            <a:off x="2429272" y="2458541"/>
            <a:ext cx="1121271" cy="421481"/>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4E5B63"/>
                </a:solidFill>
                <a:latin typeface="IBM Plex Sans" pitchFamily="34" charset="0"/>
                <a:ea typeface="IBM Plex Sans" pitchFamily="34" charset="-122"/>
                <a:cs typeface="IBM Plex Sans" pitchFamily="34" charset="-120"/>
              </a:rPr>
              <a:t>env vars, not code</a:t>
            </a:r>
            <a:endParaRPr lang="en-US" sz="1200" dirty="0"/>
          </a:p>
        </p:txBody>
      </p:sp>
      <p:pic>
        <p:nvPicPr>
          <p:cNvPr id="11" name="Image 1" descr="arrow-right"/>
          <p:cNvPicPr>
            <a:picLocks noChangeAspect="1"/>
          </p:cNvPicPr>
          <p:nvPr/>
        </p:nvPicPr>
        <p:blipFill>
          <a:blip r:embed="rId3"/>
          <a:srcRect/>
          <a:stretch/>
        </p:blipFill>
        <p:spPr>
          <a:xfrm>
            <a:off x="3677543" y="2436912"/>
            <a:ext cx="177800" cy="127000"/>
          </a:xfrm>
          <a:prstGeom prst="rect">
            <a:avLst/>
          </a:prstGeom>
        </p:spPr>
      </p:pic>
      <p:sp>
        <p:nvSpPr>
          <p:cNvPr id="12" name="Shape 8"/>
          <p:cNvSpPr/>
          <p:nvPr/>
        </p:nvSpPr>
        <p:spPr>
          <a:xfrm>
            <a:off x="3925193" y="1987451"/>
            <a:ext cx="1235472" cy="1025922"/>
          </a:xfrm>
          <a:prstGeom prst="roundRect">
            <a:avLst>
              <a:gd name="adj" fmla="val 8046"/>
            </a:avLst>
          </a:prstGeom>
          <a:solidFill>
            <a:srgbClr val="FDFCF8"/>
          </a:solidFill>
          <a:ln w="12700">
            <a:solidFill>
              <a:srgbClr val="DCD6C8"/>
            </a:solidFill>
            <a:prstDash val="solid"/>
          </a:ln>
        </p:spPr>
        <p:txBody>
          <a:bodyPr/>
          <a:lstStyle/>
          <a:p>
            <a:endParaRPr lang="en-IN"/>
          </a:p>
        </p:txBody>
      </p:sp>
      <p:sp>
        <p:nvSpPr>
          <p:cNvPr id="13" name="Text 9"/>
          <p:cNvSpPr/>
          <p:nvPr/>
        </p:nvSpPr>
        <p:spPr>
          <a:xfrm>
            <a:off x="3982343" y="2146201"/>
            <a:ext cx="1121172"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Package</a:t>
            </a:r>
            <a:endParaRPr lang="en-US" sz="1400" dirty="0"/>
          </a:p>
        </p:txBody>
      </p:sp>
      <p:sp>
        <p:nvSpPr>
          <p:cNvPr id="14" name="Text 10"/>
          <p:cNvSpPr/>
          <p:nvPr/>
        </p:nvSpPr>
        <p:spPr>
          <a:xfrm>
            <a:off x="3982343" y="2458541"/>
            <a:ext cx="1121172" cy="421481"/>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4E5B63"/>
                </a:solidFill>
                <a:latin typeface="IBM Plex Sans" pitchFamily="34" charset="0"/>
                <a:ea typeface="IBM Plex Sans" pitchFamily="34" charset="-122"/>
                <a:cs typeface="IBM Plex Sans" pitchFamily="34" charset="-120"/>
              </a:rPr>
              <a:t>image with pinned deps</a:t>
            </a:r>
            <a:endParaRPr lang="en-US" sz="1200" dirty="0"/>
          </a:p>
        </p:txBody>
      </p:sp>
      <p:pic>
        <p:nvPicPr>
          <p:cNvPr id="15" name="Image 2" descr="arrow-right"/>
          <p:cNvPicPr>
            <a:picLocks noChangeAspect="1"/>
          </p:cNvPicPr>
          <p:nvPr/>
        </p:nvPicPr>
        <p:blipFill>
          <a:blip r:embed="rId3"/>
          <a:srcRect/>
          <a:stretch/>
        </p:blipFill>
        <p:spPr>
          <a:xfrm>
            <a:off x="5230515" y="2436912"/>
            <a:ext cx="177800" cy="127000"/>
          </a:xfrm>
          <a:prstGeom prst="rect">
            <a:avLst/>
          </a:prstGeom>
        </p:spPr>
      </p:pic>
      <p:sp>
        <p:nvSpPr>
          <p:cNvPr id="16" name="Shape 11"/>
          <p:cNvSpPr/>
          <p:nvPr/>
        </p:nvSpPr>
        <p:spPr>
          <a:xfrm>
            <a:off x="5478165" y="1987451"/>
            <a:ext cx="1235571" cy="1025922"/>
          </a:xfrm>
          <a:prstGeom prst="roundRect">
            <a:avLst>
              <a:gd name="adj" fmla="val 8046"/>
            </a:avLst>
          </a:prstGeom>
          <a:solidFill>
            <a:srgbClr val="FDFCF8"/>
          </a:solidFill>
          <a:ln w="12700">
            <a:solidFill>
              <a:srgbClr val="DCD6C8"/>
            </a:solidFill>
            <a:prstDash val="solid"/>
          </a:ln>
        </p:spPr>
        <p:txBody>
          <a:bodyPr/>
          <a:lstStyle/>
          <a:p>
            <a:endParaRPr lang="en-IN"/>
          </a:p>
        </p:txBody>
      </p:sp>
      <p:sp>
        <p:nvSpPr>
          <p:cNvPr id="17" name="Text 12"/>
          <p:cNvSpPr/>
          <p:nvPr/>
        </p:nvSpPr>
        <p:spPr>
          <a:xfrm>
            <a:off x="5535315" y="2146201"/>
            <a:ext cx="1121271"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Start</a:t>
            </a:r>
            <a:endParaRPr lang="en-US" sz="1400" dirty="0"/>
          </a:p>
        </p:txBody>
      </p:sp>
      <p:sp>
        <p:nvSpPr>
          <p:cNvPr id="18" name="Text 13"/>
          <p:cNvSpPr/>
          <p:nvPr/>
        </p:nvSpPr>
        <p:spPr>
          <a:xfrm>
            <a:off x="5535315" y="2458541"/>
            <a:ext cx="1121271" cy="421481"/>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4E5B63"/>
                </a:solidFill>
                <a:latin typeface="IBM Plex Sans" pitchFamily="34" charset="0"/>
                <a:ea typeface="IBM Plex Sans" pitchFamily="34" charset="-122"/>
                <a:cs typeface="IBM Plex Sans" pitchFamily="34" charset="-120"/>
              </a:rPr>
              <a:t>load model + store</a:t>
            </a:r>
            <a:endParaRPr lang="en-US" sz="1200" dirty="0"/>
          </a:p>
        </p:txBody>
      </p:sp>
      <p:pic>
        <p:nvPicPr>
          <p:cNvPr id="19" name="Image 3" descr="arrow-right"/>
          <p:cNvPicPr>
            <a:picLocks noChangeAspect="1"/>
          </p:cNvPicPr>
          <p:nvPr/>
        </p:nvPicPr>
        <p:blipFill>
          <a:blip r:embed="rId3"/>
          <a:srcRect/>
          <a:stretch/>
        </p:blipFill>
        <p:spPr>
          <a:xfrm>
            <a:off x="6783586" y="2436912"/>
            <a:ext cx="177800" cy="127000"/>
          </a:xfrm>
          <a:prstGeom prst="rect">
            <a:avLst/>
          </a:prstGeom>
        </p:spPr>
      </p:pic>
      <p:sp>
        <p:nvSpPr>
          <p:cNvPr id="20" name="Shape 14"/>
          <p:cNvSpPr/>
          <p:nvPr/>
        </p:nvSpPr>
        <p:spPr>
          <a:xfrm>
            <a:off x="7031236" y="1987451"/>
            <a:ext cx="1235472" cy="1025922"/>
          </a:xfrm>
          <a:prstGeom prst="roundRect">
            <a:avLst>
              <a:gd name="adj" fmla="val 8046"/>
            </a:avLst>
          </a:prstGeom>
          <a:solidFill>
            <a:srgbClr val="E2EEEC"/>
          </a:solidFill>
          <a:ln w="12700">
            <a:solidFill>
              <a:srgbClr val="0E6F6D"/>
            </a:solidFill>
            <a:prstDash val="solid"/>
          </a:ln>
        </p:spPr>
        <p:txBody>
          <a:bodyPr/>
          <a:lstStyle/>
          <a:p>
            <a:endParaRPr lang="en-IN"/>
          </a:p>
        </p:txBody>
      </p:sp>
      <p:sp>
        <p:nvSpPr>
          <p:cNvPr id="21" name="Text 15"/>
          <p:cNvSpPr/>
          <p:nvPr/>
        </p:nvSpPr>
        <p:spPr>
          <a:xfrm>
            <a:off x="7088386" y="2146201"/>
            <a:ext cx="1121172"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Gate</a:t>
            </a:r>
            <a:endParaRPr lang="en-US" sz="1400" dirty="0"/>
          </a:p>
        </p:txBody>
      </p:sp>
      <p:sp>
        <p:nvSpPr>
          <p:cNvPr id="22" name="Text 16"/>
          <p:cNvSpPr/>
          <p:nvPr/>
        </p:nvSpPr>
        <p:spPr>
          <a:xfrm>
            <a:off x="7088386" y="2458541"/>
            <a:ext cx="1121172" cy="421481"/>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4E5B63"/>
                </a:solidFill>
                <a:latin typeface="IBM Plex Sans" pitchFamily="34" charset="0"/>
                <a:ea typeface="IBM Plex Sans" pitchFamily="34" charset="-122"/>
                <a:cs typeface="IBM Plex Sans" pitchFamily="34" charset="-120"/>
              </a:rPr>
              <a:t>/ready returns 200</a:t>
            </a:r>
            <a:endParaRPr lang="en-US" sz="1200" dirty="0"/>
          </a:p>
        </p:txBody>
      </p:sp>
      <p:pic>
        <p:nvPicPr>
          <p:cNvPr id="23" name="Image 4" descr="arrow-right"/>
          <p:cNvPicPr>
            <a:picLocks noChangeAspect="1"/>
          </p:cNvPicPr>
          <p:nvPr/>
        </p:nvPicPr>
        <p:blipFill>
          <a:blip r:embed="rId3"/>
          <a:srcRect/>
          <a:stretch/>
        </p:blipFill>
        <p:spPr>
          <a:xfrm>
            <a:off x="8336558" y="2436912"/>
            <a:ext cx="177800" cy="127000"/>
          </a:xfrm>
          <a:prstGeom prst="rect">
            <a:avLst/>
          </a:prstGeom>
        </p:spPr>
      </p:pic>
      <p:sp>
        <p:nvSpPr>
          <p:cNvPr id="24" name="Shape 17"/>
          <p:cNvSpPr/>
          <p:nvPr/>
        </p:nvSpPr>
        <p:spPr>
          <a:xfrm>
            <a:off x="8584208" y="1987451"/>
            <a:ext cx="1235571" cy="1025922"/>
          </a:xfrm>
          <a:prstGeom prst="roundRect">
            <a:avLst>
              <a:gd name="adj" fmla="val 8046"/>
            </a:avLst>
          </a:prstGeom>
          <a:solidFill>
            <a:srgbClr val="FDFCF8"/>
          </a:solidFill>
          <a:ln w="12700">
            <a:solidFill>
              <a:srgbClr val="DCD6C8"/>
            </a:solidFill>
            <a:prstDash val="solid"/>
          </a:ln>
        </p:spPr>
        <p:txBody>
          <a:bodyPr/>
          <a:lstStyle/>
          <a:p>
            <a:endParaRPr lang="en-IN"/>
          </a:p>
        </p:txBody>
      </p:sp>
      <p:sp>
        <p:nvSpPr>
          <p:cNvPr id="25" name="Text 18"/>
          <p:cNvSpPr/>
          <p:nvPr/>
        </p:nvSpPr>
        <p:spPr>
          <a:xfrm>
            <a:off x="8641358" y="2146201"/>
            <a:ext cx="1121271"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Route</a:t>
            </a:r>
            <a:endParaRPr lang="en-US" sz="1400" dirty="0"/>
          </a:p>
        </p:txBody>
      </p:sp>
      <p:sp>
        <p:nvSpPr>
          <p:cNvPr id="26" name="Text 19"/>
          <p:cNvSpPr/>
          <p:nvPr/>
        </p:nvSpPr>
        <p:spPr>
          <a:xfrm>
            <a:off x="8641358" y="2458541"/>
            <a:ext cx="1121271" cy="421481"/>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4E5B63"/>
                </a:solidFill>
                <a:latin typeface="IBM Plex Sans" pitchFamily="34" charset="0"/>
                <a:ea typeface="IBM Plex Sans" pitchFamily="34" charset="-122"/>
                <a:cs typeface="IBM Plex Sans" pitchFamily="34" charset="-120"/>
              </a:rPr>
              <a:t>traffic to ready only</a:t>
            </a:r>
            <a:endParaRPr lang="en-US" sz="1200" dirty="0"/>
          </a:p>
        </p:txBody>
      </p:sp>
      <p:pic>
        <p:nvPicPr>
          <p:cNvPr id="27" name="Image 5" descr="arrow-right"/>
          <p:cNvPicPr>
            <a:picLocks noChangeAspect="1"/>
          </p:cNvPicPr>
          <p:nvPr/>
        </p:nvPicPr>
        <p:blipFill>
          <a:blip r:embed="rId3"/>
          <a:srcRect/>
          <a:stretch/>
        </p:blipFill>
        <p:spPr>
          <a:xfrm>
            <a:off x="9889629" y="2436912"/>
            <a:ext cx="177800" cy="127000"/>
          </a:xfrm>
          <a:prstGeom prst="rect">
            <a:avLst/>
          </a:prstGeom>
        </p:spPr>
      </p:pic>
      <p:sp>
        <p:nvSpPr>
          <p:cNvPr id="28" name="Shape 20"/>
          <p:cNvSpPr/>
          <p:nvPr/>
        </p:nvSpPr>
        <p:spPr>
          <a:xfrm>
            <a:off x="10137279" y="1987451"/>
            <a:ext cx="1235571" cy="1025922"/>
          </a:xfrm>
          <a:prstGeom prst="roundRect">
            <a:avLst>
              <a:gd name="adj" fmla="val 8046"/>
            </a:avLst>
          </a:prstGeom>
          <a:solidFill>
            <a:srgbClr val="FDFCF8"/>
          </a:solidFill>
          <a:ln w="12700">
            <a:solidFill>
              <a:srgbClr val="DCD6C8"/>
            </a:solidFill>
            <a:prstDash val="solid"/>
          </a:ln>
        </p:spPr>
        <p:txBody>
          <a:bodyPr/>
          <a:lstStyle/>
          <a:p>
            <a:endParaRPr lang="en-IN"/>
          </a:p>
        </p:txBody>
      </p:sp>
      <p:sp>
        <p:nvSpPr>
          <p:cNvPr id="29" name="Text 21"/>
          <p:cNvSpPr/>
          <p:nvPr/>
        </p:nvSpPr>
        <p:spPr>
          <a:xfrm>
            <a:off x="10194429" y="2146201"/>
            <a:ext cx="1121271"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Observe</a:t>
            </a:r>
            <a:endParaRPr lang="en-US" sz="1400" dirty="0"/>
          </a:p>
        </p:txBody>
      </p:sp>
      <p:sp>
        <p:nvSpPr>
          <p:cNvPr id="30" name="Text 22"/>
          <p:cNvSpPr/>
          <p:nvPr/>
        </p:nvSpPr>
        <p:spPr>
          <a:xfrm>
            <a:off x="10194429" y="2458541"/>
            <a:ext cx="1121271" cy="421481"/>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4E5B63"/>
                </a:solidFill>
                <a:latin typeface="IBM Plex Sans" pitchFamily="34" charset="0"/>
                <a:ea typeface="IBM Plex Sans" pitchFamily="34" charset="-122"/>
                <a:cs typeface="IBM Plex Sans" pitchFamily="34" charset="-120"/>
              </a:rPr>
              <a:t>latency, version, age</a:t>
            </a:r>
            <a:endParaRPr lang="en-US" sz="1200" dirty="0"/>
          </a:p>
        </p:txBody>
      </p:sp>
      <p:sp>
        <p:nvSpPr>
          <p:cNvPr id="31" name="Text 23"/>
          <p:cNvSpPr/>
          <p:nvPr/>
        </p:nvSpPr>
        <p:spPr>
          <a:xfrm>
            <a:off x="812800" y="3426123"/>
            <a:ext cx="5284724" cy="854075"/>
          </a:xfrm>
          <a:prstGeom prst="rect">
            <a:avLst/>
          </a:prstGeom>
          <a:noFill/>
          <a:ln/>
        </p:spPr>
        <p:txBody>
          <a:bodyPr wrap="square" lIns="0" tIns="0" rIns="0" bIns="0" rtlCol="0" anchor="t">
            <a:normAutofit/>
          </a:bodyPr>
          <a:lstStyle/>
          <a:p>
            <a:pPr marL="0" indent="0" algn="l">
              <a:lnSpc>
                <a:spcPts val="2175"/>
              </a:lnSpc>
              <a:buNone/>
            </a:pPr>
            <a:r>
              <a:rPr lang="en-US" sz="1500" b="1" dirty="0">
                <a:solidFill>
                  <a:srgbClr val="16232E"/>
                </a:solidFill>
                <a:latin typeface="IBM Plex Sans" pitchFamily="34" charset="0"/>
                <a:ea typeface="IBM Plex Sans" pitchFamily="34" charset="-122"/>
                <a:cs typeface="IBM Plex Sans" pitchFamily="34" charset="-120"/>
              </a:rPr>
              <a:t>Configuration is injected.</a:t>
            </a:r>
            <a:r>
              <a:rPr lang="en-US" sz="1500" dirty="0">
                <a:solidFill>
                  <a:srgbClr val="4E5B63"/>
                </a:solidFill>
                <a:latin typeface="IBM Plex Sans" pitchFamily="34" charset="0"/>
                <a:ea typeface="IBM Plex Sans" pitchFamily="34" charset="-122"/>
                <a:cs typeface="IBM Plex Sans" pitchFamily="34" charset="-120"/>
              </a:rPr>
              <a:t> MODEL_ALIAS, MLFLOW_TRACKING_URI and FEAST_REPO arrive as environment variables, so one image serves any alias.</a:t>
            </a:r>
            <a:endParaRPr lang="en-US" sz="1500" dirty="0"/>
          </a:p>
        </p:txBody>
      </p:sp>
      <p:sp>
        <p:nvSpPr>
          <p:cNvPr id="32" name="Text 24"/>
          <p:cNvSpPr/>
          <p:nvPr/>
        </p:nvSpPr>
        <p:spPr>
          <a:xfrm>
            <a:off x="6248400" y="3426123"/>
            <a:ext cx="5284724" cy="854075"/>
          </a:xfrm>
          <a:prstGeom prst="rect">
            <a:avLst/>
          </a:prstGeom>
          <a:noFill/>
          <a:ln/>
        </p:spPr>
        <p:txBody>
          <a:bodyPr wrap="square" lIns="0" tIns="0" rIns="0" bIns="0" rtlCol="0" anchor="t">
            <a:normAutofit/>
          </a:bodyPr>
          <a:lstStyle/>
          <a:p>
            <a:pPr marL="0" indent="0" algn="l">
              <a:lnSpc>
                <a:spcPts val="2175"/>
              </a:lnSpc>
              <a:buNone/>
            </a:pPr>
            <a:r>
              <a:rPr lang="en-US" sz="1500" b="1" dirty="0">
                <a:solidFill>
                  <a:srgbClr val="16232E"/>
                </a:solidFill>
                <a:latin typeface="IBM Plex Sans" pitchFamily="34" charset="0"/>
                <a:ea typeface="IBM Plex Sans" pitchFamily="34" charset="-122"/>
                <a:cs typeface="IBM Plex Sans" pitchFamily="34" charset="-120"/>
              </a:rPr>
              <a:t>Traffic waits for readiness.</a:t>
            </a:r>
            <a:r>
              <a:rPr lang="en-US" sz="1500" dirty="0">
                <a:solidFill>
                  <a:srgbClr val="4E5B63"/>
                </a:solidFill>
                <a:latin typeface="IBM Plex Sans" pitchFamily="34" charset="0"/>
                <a:ea typeface="IBM Plex Sans" pitchFamily="34" charset="-122"/>
                <a:cs typeface="IBM Plex Sans" pitchFamily="34" charset="-120"/>
              </a:rPr>
              <a:t> A process that is up but has not loaded its model gets no requests.</a:t>
            </a:r>
            <a:endParaRPr lang="en-US" sz="1500" dirty="0"/>
          </a:p>
        </p:txBody>
      </p:sp>
      <p:sp>
        <p:nvSpPr>
          <p:cNvPr id="33" name="Text 2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2 · M4 + Lab 3a</a:t>
            </a:r>
            <a:endParaRPr lang="en-US" sz="1200" dirty="0"/>
          </a:p>
        </p:txBody>
      </p:sp>
      <p:sp>
        <p:nvSpPr>
          <p:cNvPr id="34" name="Text 2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SERVING ARCHITECTURE</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The client sends two ids; the service owns every feature</a:t>
            </a:r>
            <a:endParaRPr lang="en-US" sz="3200" dirty="0"/>
          </a:p>
        </p:txBody>
      </p:sp>
      <p:sp>
        <p:nvSpPr>
          <p:cNvPr id="4" name="Shape 2"/>
          <p:cNvSpPr/>
          <p:nvPr/>
        </p:nvSpPr>
        <p:spPr>
          <a:xfrm>
            <a:off x="819150" y="2736850"/>
            <a:ext cx="2400300" cy="1066800"/>
          </a:xfrm>
          <a:prstGeom prst="roundRect">
            <a:avLst>
              <a:gd name="adj" fmla="val 7738"/>
            </a:avLst>
          </a:prstGeom>
          <a:solidFill>
            <a:srgbClr val="FDFCF8"/>
          </a:solidFill>
          <a:ln w="12700">
            <a:solidFill>
              <a:srgbClr val="DCD6C8"/>
            </a:solidFill>
            <a:prstDash val="solid"/>
          </a:ln>
        </p:spPr>
        <p:txBody>
          <a:bodyPr/>
          <a:lstStyle/>
          <a:p>
            <a:endParaRPr lang="en-IN"/>
          </a:p>
        </p:txBody>
      </p:sp>
      <p:sp>
        <p:nvSpPr>
          <p:cNvPr id="5" name="Text 3"/>
          <p:cNvSpPr/>
          <p:nvPr/>
        </p:nvSpPr>
        <p:spPr>
          <a:xfrm>
            <a:off x="977900" y="3020120"/>
            <a:ext cx="214528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Planner app</a:t>
            </a:r>
            <a:endParaRPr lang="en-US" sz="1600" dirty="0"/>
          </a:p>
        </p:txBody>
      </p:sp>
      <p:sp>
        <p:nvSpPr>
          <p:cNvPr id="6" name="Text 4"/>
          <p:cNvSpPr/>
          <p:nvPr/>
        </p:nvSpPr>
        <p:spPr>
          <a:xfrm>
            <a:off x="977900" y="3314700"/>
            <a:ext cx="2145284"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E5B63"/>
                </a:solidFill>
                <a:latin typeface="IBM Plex Sans" pitchFamily="34" charset="0"/>
                <a:ea typeface="IBM Plex Sans" pitchFamily="34" charset="-122"/>
                <a:cs typeface="IBM Plex Sans" pitchFamily="34" charset="-120"/>
              </a:rPr>
              <a:t>Streamlit · :8501</a:t>
            </a:r>
            <a:endParaRPr lang="en-US" sz="1200" dirty="0"/>
          </a:p>
        </p:txBody>
      </p:sp>
      <p:sp>
        <p:nvSpPr>
          <p:cNvPr id="7" name="Shape 5"/>
          <p:cNvSpPr/>
          <p:nvPr/>
        </p:nvSpPr>
        <p:spPr>
          <a:xfrm>
            <a:off x="4832350" y="2609850"/>
            <a:ext cx="2781300" cy="1320800"/>
          </a:xfrm>
          <a:prstGeom prst="roundRect">
            <a:avLst>
              <a:gd name="adj" fmla="val 6250"/>
            </a:avLst>
          </a:prstGeom>
          <a:solidFill>
            <a:srgbClr val="16232E"/>
          </a:solidFill>
          <a:ln w="12700">
            <a:solidFill>
              <a:srgbClr val="16232E"/>
            </a:solidFill>
            <a:prstDash val="solid"/>
          </a:ln>
        </p:spPr>
        <p:txBody>
          <a:bodyPr/>
          <a:lstStyle/>
          <a:p>
            <a:endParaRPr lang="en-IN"/>
          </a:p>
        </p:txBody>
      </p:sp>
      <p:sp>
        <p:nvSpPr>
          <p:cNvPr id="8" name="Text 6"/>
          <p:cNvSpPr/>
          <p:nvPr/>
        </p:nvSpPr>
        <p:spPr>
          <a:xfrm>
            <a:off x="4991100" y="2917230"/>
            <a:ext cx="253771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6F4EE"/>
                </a:solidFill>
                <a:latin typeface="IBM Plex Sans" pitchFamily="34" charset="0"/>
                <a:ea typeface="IBM Plex Sans" pitchFamily="34" charset="-122"/>
                <a:cs typeface="IBM Plex Sans" pitchFamily="34" charset="-120"/>
              </a:rPr>
              <a:t>Reorder API</a:t>
            </a:r>
            <a:endParaRPr lang="en-US" sz="1600" dirty="0"/>
          </a:p>
        </p:txBody>
      </p:sp>
      <p:sp>
        <p:nvSpPr>
          <p:cNvPr id="9" name="Text 7"/>
          <p:cNvSpPr/>
          <p:nvPr/>
        </p:nvSpPr>
        <p:spPr>
          <a:xfrm>
            <a:off x="4991100" y="3211810"/>
            <a:ext cx="2537714"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B8C5CB"/>
                </a:solidFill>
                <a:latin typeface="IBM Plex Sans" pitchFamily="34" charset="0"/>
                <a:ea typeface="IBM Plex Sans" pitchFamily="34" charset="-122"/>
                <a:cs typeface="IBM Plex Sans" pitchFamily="34" charset="-120"/>
              </a:rPr>
              <a:t>FastAPI · :8000</a:t>
            </a:r>
            <a:endParaRPr lang="en-US" sz="1200" dirty="0"/>
          </a:p>
          <a:p>
            <a:pPr marL="0" indent="0" algn="l">
              <a:lnSpc>
                <a:spcPts val="1620"/>
              </a:lnSpc>
              <a:buNone/>
            </a:pPr>
            <a:r>
              <a:rPr lang="en-US" sz="1200" dirty="0">
                <a:solidFill>
                  <a:srgbClr val="B8C5CB"/>
                </a:solidFill>
                <a:latin typeface="IBM Plex Sans" pitchFamily="34" charset="0"/>
                <a:ea typeface="IBM Plex Sans" pitchFamily="34" charset="-122"/>
                <a:cs typeface="IBM Plex Sans" pitchFamily="34" charset="-120"/>
              </a:rPr>
              <a:t>/health · /ready · /predict</a:t>
            </a:r>
            <a:endParaRPr lang="en-US" sz="1200" dirty="0"/>
          </a:p>
        </p:txBody>
      </p:sp>
      <p:sp>
        <p:nvSpPr>
          <p:cNvPr id="10" name="Shape 8"/>
          <p:cNvSpPr/>
          <p:nvPr/>
        </p:nvSpPr>
        <p:spPr>
          <a:xfrm>
            <a:off x="8972550" y="1911350"/>
            <a:ext cx="2400300" cy="939800"/>
          </a:xfrm>
          <a:prstGeom prst="roundRect">
            <a:avLst>
              <a:gd name="adj" fmla="val 8784"/>
            </a:avLst>
          </a:prstGeom>
          <a:solidFill>
            <a:srgbClr val="FDFCF8"/>
          </a:solidFill>
          <a:ln w="12700">
            <a:solidFill>
              <a:srgbClr val="DCD6C8"/>
            </a:solidFill>
            <a:prstDash val="solid"/>
          </a:ln>
        </p:spPr>
        <p:txBody>
          <a:bodyPr/>
          <a:lstStyle/>
          <a:p>
            <a:endParaRPr lang="en-IN"/>
          </a:p>
        </p:txBody>
      </p:sp>
      <p:sp>
        <p:nvSpPr>
          <p:cNvPr id="11" name="Text 9"/>
          <p:cNvSpPr/>
          <p:nvPr/>
        </p:nvSpPr>
        <p:spPr>
          <a:xfrm>
            <a:off x="9131300" y="2131120"/>
            <a:ext cx="214528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Online store</a:t>
            </a:r>
            <a:endParaRPr lang="en-US" sz="1600" dirty="0"/>
          </a:p>
        </p:txBody>
      </p:sp>
      <p:sp>
        <p:nvSpPr>
          <p:cNvPr id="12" name="Text 10"/>
          <p:cNvSpPr/>
          <p:nvPr/>
        </p:nvSpPr>
        <p:spPr>
          <a:xfrm>
            <a:off x="9131300" y="2425700"/>
            <a:ext cx="2145284"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E5B63"/>
                </a:solidFill>
                <a:latin typeface="IBM Plex Sans" pitchFamily="34" charset="0"/>
                <a:ea typeface="IBM Plex Sans" pitchFamily="34" charset="-122"/>
                <a:cs typeface="IBM Plex Sans" pitchFamily="34" charset="-120"/>
              </a:rPr>
              <a:t>Feast · SQLite</a:t>
            </a:r>
            <a:endParaRPr lang="en-US" sz="1200" dirty="0"/>
          </a:p>
        </p:txBody>
      </p:sp>
      <p:sp>
        <p:nvSpPr>
          <p:cNvPr id="13" name="Shape 11"/>
          <p:cNvSpPr/>
          <p:nvPr/>
        </p:nvSpPr>
        <p:spPr>
          <a:xfrm>
            <a:off x="8972550" y="3752850"/>
            <a:ext cx="2400300" cy="939800"/>
          </a:xfrm>
          <a:prstGeom prst="roundRect">
            <a:avLst>
              <a:gd name="adj" fmla="val 8784"/>
            </a:avLst>
          </a:prstGeom>
          <a:solidFill>
            <a:srgbClr val="FDFCF8"/>
          </a:solidFill>
          <a:ln w="12700">
            <a:solidFill>
              <a:srgbClr val="DCD6C8"/>
            </a:solidFill>
            <a:prstDash val="solid"/>
          </a:ln>
        </p:spPr>
        <p:txBody>
          <a:bodyPr/>
          <a:lstStyle/>
          <a:p>
            <a:endParaRPr lang="en-IN"/>
          </a:p>
        </p:txBody>
      </p:sp>
      <p:sp>
        <p:nvSpPr>
          <p:cNvPr id="14" name="Text 12"/>
          <p:cNvSpPr/>
          <p:nvPr/>
        </p:nvSpPr>
        <p:spPr>
          <a:xfrm>
            <a:off x="9131300" y="3972620"/>
            <a:ext cx="214528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Model registry</a:t>
            </a:r>
            <a:endParaRPr lang="en-US" sz="1600" dirty="0"/>
          </a:p>
        </p:txBody>
      </p:sp>
      <p:sp>
        <p:nvSpPr>
          <p:cNvPr id="15" name="Text 13"/>
          <p:cNvSpPr/>
          <p:nvPr/>
        </p:nvSpPr>
        <p:spPr>
          <a:xfrm>
            <a:off x="9131300" y="4267200"/>
            <a:ext cx="2145284"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E5B63"/>
                </a:solidFill>
                <a:latin typeface="IBM Plex Sans" pitchFamily="34" charset="0"/>
                <a:ea typeface="IBM Plex Sans" pitchFamily="34" charset="-122"/>
                <a:cs typeface="IBM Plex Sans" pitchFamily="34" charset="-120"/>
              </a:rPr>
              <a:t>MLflow · @champion</a:t>
            </a:r>
            <a:endParaRPr lang="en-US" sz="1200" dirty="0"/>
          </a:p>
        </p:txBody>
      </p:sp>
      <p:pic>
        <p:nvPicPr>
          <p:cNvPr id="16" name="Image 0" descr="connector"/>
          <p:cNvPicPr>
            <a:picLocks noChangeAspect="1"/>
          </p:cNvPicPr>
          <p:nvPr/>
        </p:nvPicPr>
        <p:blipFill>
          <a:blip r:embed="rId3"/>
          <a:srcRect/>
          <a:stretch/>
        </p:blipFill>
        <p:spPr>
          <a:xfrm>
            <a:off x="3175000" y="3124200"/>
            <a:ext cx="1701800" cy="101600"/>
          </a:xfrm>
          <a:prstGeom prst="rect">
            <a:avLst/>
          </a:prstGeom>
        </p:spPr>
      </p:pic>
      <p:pic>
        <p:nvPicPr>
          <p:cNvPr id="17" name="Image 1" descr="connector"/>
          <p:cNvPicPr>
            <a:picLocks noChangeAspect="1"/>
          </p:cNvPicPr>
          <p:nvPr/>
        </p:nvPicPr>
        <p:blipFill>
          <a:blip r:embed="rId4"/>
          <a:srcRect/>
          <a:stretch/>
        </p:blipFill>
        <p:spPr>
          <a:xfrm>
            <a:off x="3175000" y="3505200"/>
            <a:ext cx="1701800" cy="101600"/>
          </a:xfrm>
          <a:prstGeom prst="rect">
            <a:avLst/>
          </a:prstGeom>
        </p:spPr>
      </p:pic>
      <p:pic>
        <p:nvPicPr>
          <p:cNvPr id="18" name="Image 2" descr="connector"/>
          <p:cNvPicPr>
            <a:picLocks noChangeAspect="1"/>
          </p:cNvPicPr>
          <p:nvPr/>
        </p:nvPicPr>
        <p:blipFill>
          <a:blip r:embed="rId5"/>
          <a:srcRect/>
          <a:stretch/>
        </p:blipFill>
        <p:spPr>
          <a:xfrm>
            <a:off x="7569200" y="2330450"/>
            <a:ext cx="1447800" cy="704850"/>
          </a:xfrm>
          <a:prstGeom prst="rect">
            <a:avLst/>
          </a:prstGeom>
        </p:spPr>
      </p:pic>
      <p:pic>
        <p:nvPicPr>
          <p:cNvPr id="19" name="Image 3" descr="connector"/>
          <p:cNvPicPr>
            <a:picLocks noChangeAspect="1"/>
          </p:cNvPicPr>
          <p:nvPr/>
        </p:nvPicPr>
        <p:blipFill>
          <a:blip r:embed="rId6"/>
          <a:srcRect/>
          <a:stretch/>
        </p:blipFill>
        <p:spPr>
          <a:xfrm>
            <a:off x="7569200" y="3505200"/>
            <a:ext cx="1447800" cy="768350"/>
          </a:xfrm>
          <a:prstGeom prst="rect">
            <a:avLst/>
          </a:prstGeom>
        </p:spPr>
      </p:pic>
      <p:sp>
        <p:nvSpPr>
          <p:cNvPr id="20" name="Text 14"/>
          <p:cNvSpPr/>
          <p:nvPr/>
        </p:nvSpPr>
        <p:spPr>
          <a:xfrm>
            <a:off x="3352800" y="2794000"/>
            <a:ext cx="15113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store_id,</a:t>
            </a:r>
            <a:endParaRPr lang="en-US" sz="1200" dirty="0"/>
          </a:p>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product_id</a:t>
            </a:r>
            <a:endParaRPr lang="en-US" sz="1200" dirty="0"/>
          </a:p>
        </p:txBody>
      </p:sp>
      <p:sp>
        <p:nvSpPr>
          <p:cNvPr id="21" name="Text 15"/>
          <p:cNvSpPr/>
          <p:nvPr/>
        </p:nvSpPr>
        <p:spPr>
          <a:xfrm>
            <a:off x="3352800" y="3632200"/>
            <a:ext cx="15113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probability,</a:t>
            </a:r>
            <a:endParaRPr lang="en-US" sz="1200" dirty="0"/>
          </a:p>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action</a:t>
            </a:r>
            <a:endParaRPr lang="en-US" sz="1200" dirty="0"/>
          </a:p>
        </p:txBody>
      </p:sp>
      <p:sp>
        <p:nvSpPr>
          <p:cNvPr id="22" name="Text 16"/>
          <p:cNvSpPr/>
          <p:nvPr/>
        </p:nvSpPr>
        <p:spPr>
          <a:xfrm>
            <a:off x="7810500" y="2095500"/>
            <a:ext cx="1193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features</a:t>
            </a:r>
            <a:endParaRPr lang="en-US" sz="1200" dirty="0"/>
          </a:p>
        </p:txBody>
      </p:sp>
      <p:sp>
        <p:nvSpPr>
          <p:cNvPr id="23" name="Text 17"/>
          <p:cNvSpPr/>
          <p:nvPr/>
        </p:nvSpPr>
        <p:spPr>
          <a:xfrm>
            <a:off x="7810500" y="4381500"/>
            <a:ext cx="1320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at startup</a:t>
            </a:r>
            <a:endParaRPr lang="en-US" sz="1200" dirty="0"/>
          </a:p>
        </p:txBody>
      </p:sp>
      <p:sp>
        <p:nvSpPr>
          <p:cNvPr id="24" name="Text 18"/>
          <p:cNvSpPr/>
          <p:nvPr/>
        </p:nvSpPr>
        <p:spPr>
          <a:xfrm>
            <a:off x="812800" y="5080000"/>
            <a:ext cx="10883392"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E5B63"/>
                </a:solidFill>
                <a:latin typeface="IBM Plex Sans" pitchFamily="34" charset="0"/>
                <a:ea typeface="IBM Plex Sans" pitchFamily="34" charset="-122"/>
                <a:cs typeface="IBM Plex Sans" pitchFamily="34" charset="-120"/>
              </a:rPr>
              <a:t>The model is loaded once, by alias, at startup. Features are looked up per request by entity key — the online half of M1's one-definition rule.</a:t>
            </a:r>
            <a:endParaRPr lang="en-US" sz="1500" dirty="0"/>
          </a:p>
        </p:txBody>
      </p:sp>
      <p:sp>
        <p:nvSpPr>
          <p:cNvPr id="25" name="Text 1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2 · M4 + Lab 3a</a:t>
            </a:r>
            <a:endParaRPr lang="en-US" sz="1200" dirty="0"/>
          </a:p>
        </p:txBody>
      </p:sp>
      <p:sp>
        <p:nvSpPr>
          <p:cNvPr id="26" name="Text 20"/>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HEALTH-CHECK GATES</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Liveness and readiness answer different questions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879501"/>
          <a:ext cx="10566400" cy="1929805"/>
        </p:xfrm>
        <a:graphic>
          <a:graphicData uri="http://schemas.openxmlformats.org/drawingml/2006/table">
            <a:tbl>
              <a:tblPr/>
              <a:tblGrid>
                <a:gridCol w="2747264">
                  <a:extLst>
                    <a:ext uri="{9D8B030D-6E8A-4147-A177-3AD203B41FA5}">
                      <a16:colId xmlns:a16="http://schemas.microsoft.com/office/drawing/2014/main" val="20000"/>
                    </a:ext>
                  </a:extLst>
                </a:gridCol>
                <a:gridCol w="3909568">
                  <a:extLst>
                    <a:ext uri="{9D8B030D-6E8A-4147-A177-3AD203B41FA5}">
                      <a16:colId xmlns:a16="http://schemas.microsoft.com/office/drawing/2014/main" val="20001"/>
                    </a:ext>
                  </a:extLst>
                </a:gridCol>
                <a:gridCol w="3909568">
                  <a:extLst>
                    <a:ext uri="{9D8B030D-6E8A-4147-A177-3AD203B41FA5}">
                      <a16:colId xmlns:a16="http://schemas.microsoft.com/office/drawing/2014/main" val="20002"/>
                    </a:ext>
                  </a:extLst>
                </a:gridCol>
              </a:tblGrid>
              <a:tr h="385961">
                <a:tc>
                  <a:txBody>
                    <a:bodyPr/>
                    <a:lstStyle/>
                    <a:p>
                      <a:pPr marL="0" indent="0">
                        <a:lnSpc>
                          <a:spcPts val="1960"/>
                        </a:lnSpc>
                        <a:buNone/>
                      </a:pP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tc>
                  <a:txBody>
                    <a:bodyPr/>
                    <a:lstStyle/>
                    <a:p>
                      <a:pPr marL="0" indent="0">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/health · liveness</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tc>
                  <a:txBody>
                    <a:bodyPr/>
                    <a:lstStyle/>
                    <a:p>
                      <a:pPr marL="0" indent="0">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/ready · readiness</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Question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Is the process up?</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Can it serve right now?</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Who asks</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Supervisor: restart if failing</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Load balancer: send or withhold traffic</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During 30 s startup</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200 alive</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503 still loading</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Registry lost an hour later</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200 — restarting would make it worse</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503 until it recovers</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4304605"/>
            <a:ext cx="10883392" cy="30162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16232E"/>
                </a:solidFill>
                <a:latin typeface="IBM Plex Sans" pitchFamily="34" charset="0"/>
                <a:ea typeface="IBM Plex Sans" pitchFamily="34" charset="-122"/>
                <a:cs typeface="IBM Plex Sans" pitchFamily="34" charset="-120"/>
              </a:rPr>
              <a:t>One probe cannot do both: it either drops startup traffic or never restarts a wedged process.</a:t>
            </a:r>
            <a:endParaRPr lang="en-US" sz="1500" dirty="0"/>
          </a:p>
        </p:txBody>
      </p:sp>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2 · M4 + Lab 3a</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09</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STATUS CODES AS A CONTRACT</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Three status codes, three different meanings</a:t>
            </a:r>
            <a:endParaRPr lang="en-US" sz="3200" dirty="0"/>
          </a:p>
        </p:txBody>
      </p:sp>
      <p:sp>
        <p:nvSpPr>
          <p:cNvPr id="4" name="Shape 2"/>
          <p:cNvSpPr/>
          <p:nvPr/>
        </p:nvSpPr>
        <p:spPr>
          <a:xfrm>
            <a:off x="819150" y="1835051"/>
            <a:ext cx="3390900" cy="1922661"/>
          </a:xfrm>
          <a:prstGeom prst="roundRect">
            <a:avLst>
              <a:gd name="adj" fmla="val 4954"/>
            </a:avLst>
          </a:prstGeom>
          <a:solidFill>
            <a:srgbClr val="FDFCF8"/>
          </a:solidFill>
          <a:ln w="12700">
            <a:solidFill>
              <a:srgbClr val="DCD6C8"/>
            </a:solidFill>
            <a:prstDash val="solid"/>
          </a:ln>
        </p:spPr>
        <p:txBody>
          <a:bodyPr/>
          <a:lstStyle/>
          <a:p>
            <a:endParaRPr lang="en-IN"/>
          </a:p>
        </p:txBody>
      </p:sp>
      <p:sp>
        <p:nvSpPr>
          <p:cNvPr id="5" name="Text 3"/>
          <p:cNvSpPr/>
          <p:nvPr/>
        </p:nvSpPr>
        <p:spPr>
          <a:xfrm>
            <a:off x="1028700" y="2044601"/>
            <a:ext cx="3060954" cy="66546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16232E"/>
                </a:solidFill>
                <a:latin typeface="JetBrains Mono" pitchFamily="34" charset="0"/>
                <a:ea typeface="JetBrains Mono" pitchFamily="34" charset="-122"/>
                <a:cs typeface="JetBrains Mono" pitchFamily="34" charset="-120"/>
              </a:rPr>
              <a:t>200</a:t>
            </a:r>
            <a:endParaRPr lang="en-US" sz="3600" dirty="0"/>
          </a:p>
        </p:txBody>
      </p:sp>
      <p:sp>
        <p:nvSpPr>
          <p:cNvPr id="6" name="Text 4"/>
          <p:cNvSpPr/>
          <p:nvPr/>
        </p:nvSpPr>
        <p:spPr>
          <a:xfrm>
            <a:off x="1028700" y="2773561"/>
            <a:ext cx="306095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Scored</a:t>
            </a:r>
            <a:endParaRPr lang="en-US" sz="1600" dirty="0"/>
          </a:p>
        </p:txBody>
      </p:sp>
      <p:sp>
        <p:nvSpPr>
          <p:cNvPr id="7" name="Text 5"/>
          <p:cNvSpPr/>
          <p:nvPr/>
        </p:nvSpPr>
        <p:spPr>
          <a:xfrm>
            <a:off x="1028700" y="3106241"/>
            <a:ext cx="3060954"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E5B63"/>
                </a:solidFill>
                <a:latin typeface="JetBrains Mono" pitchFamily="34" charset="0"/>
                <a:ea typeface="JetBrains Mono" pitchFamily="34" charset="-122"/>
                <a:cs typeface="JetBrains Mono" pitchFamily="34" charset="-120"/>
              </a:rPr>
              <a:t>S001/P0067 → 0.2182</a:t>
            </a:r>
            <a:endParaRPr lang="en-US" sz="1200" dirty="0"/>
          </a:p>
          <a:p>
            <a:pPr marL="0" indent="0" algn="l">
              <a:lnSpc>
                <a:spcPts val="1740"/>
              </a:lnSpc>
              <a:buNone/>
            </a:pPr>
            <a:r>
              <a:rPr lang="en-US" sz="1200" dirty="0">
                <a:solidFill>
                  <a:srgbClr val="4E5B63"/>
                </a:solidFill>
                <a:latin typeface="JetBrains Mono" pitchFamily="34" charset="0"/>
                <a:ea typeface="JetBrains Mono" pitchFamily="34" charset="-122"/>
                <a:cs typeface="JetBrains Mono" pitchFamily="34" charset="-120"/>
              </a:rPr>
              <a:t>add to watch list · v1</a:t>
            </a:r>
            <a:endParaRPr lang="en-US" sz="1200" dirty="0"/>
          </a:p>
        </p:txBody>
      </p:sp>
      <p:sp>
        <p:nvSpPr>
          <p:cNvPr id="8" name="Shape 6"/>
          <p:cNvSpPr/>
          <p:nvPr/>
        </p:nvSpPr>
        <p:spPr>
          <a:xfrm>
            <a:off x="4400550" y="1835051"/>
            <a:ext cx="3390900" cy="1922661"/>
          </a:xfrm>
          <a:prstGeom prst="roundRect">
            <a:avLst>
              <a:gd name="adj" fmla="val 4954"/>
            </a:avLst>
          </a:prstGeom>
          <a:solidFill>
            <a:srgbClr val="FDFCF8"/>
          </a:solidFill>
          <a:ln w="12700">
            <a:solidFill>
              <a:srgbClr val="DCD6C8"/>
            </a:solidFill>
            <a:prstDash val="solid"/>
          </a:ln>
        </p:spPr>
        <p:txBody>
          <a:bodyPr/>
          <a:lstStyle/>
          <a:p>
            <a:endParaRPr lang="en-IN"/>
          </a:p>
        </p:txBody>
      </p:sp>
      <p:sp>
        <p:nvSpPr>
          <p:cNvPr id="9" name="Text 7"/>
          <p:cNvSpPr/>
          <p:nvPr/>
        </p:nvSpPr>
        <p:spPr>
          <a:xfrm>
            <a:off x="4610100" y="2044601"/>
            <a:ext cx="3060954" cy="66546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16232E"/>
                </a:solidFill>
                <a:latin typeface="JetBrains Mono" pitchFamily="34" charset="0"/>
                <a:ea typeface="JetBrains Mono" pitchFamily="34" charset="-122"/>
                <a:cs typeface="JetBrains Mono" pitchFamily="34" charset="-120"/>
              </a:rPr>
              <a:t>404</a:t>
            </a:r>
            <a:endParaRPr lang="en-US" sz="3600" dirty="0"/>
          </a:p>
        </p:txBody>
      </p:sp>
      <p:sp>
        <p:nvSpPr>
          <p:cNvPr id="10" name="Text 8"/>
          <p:cNvSpPr/>
          <p:nvPr/>
        </p:nvSpPr>
        <p:spPr>
          <a:xfrm>
            <a:off x="4610100" y="2773561"/>
            <a:ext cx="306095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Unknown line</a:t>
            </a:r>
            <a:endParaRPr lang="en-US" sz="1600" dirty="0"/>
          </a:p>
        </p:txBody>
      </p:sp>
      <p:sp>
        <p:nvSpPr>
          <p:cNvPr id="11" name="Text 9"/>
          <p:cNvSpPr/>
          <p:nvPr/>
        </p:nvSpPr>
        <p:spPr>
          <a:xfrm>
            <a:off x="4610100" y="3106241"/>
            <a:ext cx="3060954"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E5B63"/>
                </a:solidFill>
                <a:latin typeface="JetBrains Mono" pitchFamily="34" charset="0"/>
                <a:ea typeface="JetBrains Mono" pitchFamily="34" charset="-122"/>
                <a:cs typeface="JetBrains Mono" pitchFamily="34" charset="-120"/>
              </a:rPr>
              <a:t>no features for</a:t>
            </a:r>
            <a:endParaRPr lang="en-US" sz="1200" dirty="0"/>
          </a:p>
          <a:p>
            <a:pPr marL="0" indent="0" algn="l">
              <a:lnSpc>
                <a:spcPts val="1740"/>
              </a:lnSpc>
              <a:buNone/>
            </a:pPr>
            <a:r>
              <a:rPr lang="en-US" sz="1200" dirty="0">
                <a:solidFill>
                  <a:srgbClr val="4E5B63"/>
                </a:solidFill>
                <a:latin typeface="JetBrains Mono" pitchFamily="34" charset="0"/>
                <a:ea typeface="JetBrains Mono" pitchFamily="34" charset="-122"/>
                <a:cs typeface="JetBrains Mono" pitchFamily="34" charset="-120"/>
              </a:rPr>
              <a:t>S099/P9999</a:t>
            </a:r>
            <a:endParaRPr lang="en-US" sz="1200" dirty="0"/>
          </a:p>
        </p:txBody>
      </p:sp>
      <p:sp>
        <p:nvSpPr>
          <p:cNvPr id="12" name="Shape 10"/>
          <p:cNvSpPr/>
          <p:nvPr/>
        </p:nvSpPr>
        <p:spPr>
          <a:xfrm>
            <a:off x="7981950" y="1835051"/>
            <a:ext cx="3390900" cy="1922661"/>
          </a:xfrm>
          <a:prstGeom prst="roundRect">
            <a:avLst>
              <a:gd name="adj" fmla="val 4954"/>
            </a:avLst>
          </a:prstGeom>
          <a:solidFill>
            <a:srgbClr val="FDFCF8"/>
          </a:solidFill>
          <a:ln w="12700">
            <a:solidFill>
              <a:srgbClr val="DCD6C8"/>
            </a:solidFill>
            <a:prstDash val="solid"/>
          </a:ln>
        </p:spPr>
        <p:txBody>
          <a:bodyPr/>
          <a:lstStyle/>
          <a:p>
            <a:endParaRPr lang="en-IN"/>
          </a:p>
        </p:txBody>
      </p:sp>
      <p:sp>
        <p:nvSpPr>
          <p:cNvPr id="13" name="Text 11"/>
          <p:cNvSpPr/>
          <p:nvPr/>
        </p:nvSpPr>
        <p:spPr>
          <a:xfrm>
            <a:off x="8191500" y="2044601"/>
            <a:ext cx="3060954" cy="66546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16232E"/>
                </a:solidFill>
                <a:latin typeface="JetBrains Mono" pitchFamily="34" charset="0"/>
                <a:ea typeface="JetBrains Mono" pitchFamily="34" charset="-122"/>
                <a:cs typeface="JetBrains Mono" pitchFamily="34" charset="-120"/>
              </a:rPr>
              <a:t>503</a:t>
            </a:r>
            <a:endParaRPr lang="en-US" sz="3600" dirty="0"/>
          </a:p>
        </p:txBody>
      </p:sp>
      <p:sp>
        <p:nvSpPr>
          <p:cNvPr id="14" name="Text 12"/>
          <p:cNvSpPr/>
          <p:nvPr/>
        </p:nvSpPr>
        <p:spPr>
          <a:xfrm>
            <a:off x="8191500" y="2773561"/>
            <a:ext cx="306095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Not ready</a:t>
            </a:r>
            <a:endParaRPr lang="en-US" sz="1600" dirty="0"/>
          </a:p>
        </p:txBody>
      </p:sp>
      <p:sp>
        <p:nvSpPr>
          <p:cNvPr id="15" name="Text 13"/>
          <p:cNvSpPr/>
          <p:nvPr/>
        </p:nvSpPr>
        <p:spPr>
          <a:xfrm>
            <a:off x="8191500" y="3106241"/>
            <a:ext cx="3060954"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E5B63"/>
                </a:solidFill>
                <a:latin typeface="JetBrains Mono" pitchFamily="34" charset="0"/>
                <a:ea typeface="JetBrains Mono" pitchFamily="34" charset="-122"/>
                <a:cs typeface="JetBrains Mono" pitchFamily="34" charset="-120"/>
              </a:rPr>
              <a:t>alias production</a:t>
            </a:r>
            <a:endParaRPr lang="en-US" sz="1200" dirty="0"/>
          </a:p>
          <a:p>
            <a:pPr marL="0" indent="0" algn="l">
              <a:lnSpc>
                <a:spcPts val="1740"/>
              </a:lnSpc>
              <a:buNone/>
            </a:pPr>
            <a:r>
              <a:rPr lang="en-US" sz="1200" dirty="0">
                <a:solidFill>
                  <a:srgbClr val="4E5B63"/>
                </a:solidFill>
                <a:latin typeface="JetBrains Mono" pitchFamily="34" charset="0"/>
                <a:ea typeface="JetBrains Mono" pitchFamily="34" charset="-122"/>
                <a:cs typeface="JetBrains Mono" pitchFamily="34" charset="-120"/>
              </a:rPr>
              <a:t>not found — /health still 200</a:t>
            </a:r>
            <a:endParaRPr lang="en-US" sz="12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2 · M4 + Lab 3a</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10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STREAMLIT LAYOUT</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Layout puts the answer where the planner looks first</a:t>
            </a:r>
            <a:endParaRPr lang="en-US" sz="3200" dirty="0"/>
          </a:p>
        </p:txBody>
      </p:sp>
      <p:sp>
        <p:nvSpPr>
          <p:cNvPr id="4" name="Shape 2"/>
          <p:cNvSpPr/>
          <p:nvPr/>
        </p:nvSpPr>
        <p:spPr>
          <a:xfrm>
            <a:off x="819150" y="1835051"/>
            <a:ext cx="6337300" cy="3289300"/>
          </a:xfrm>
          <a:prstGeom prst="roundRect">
            <a:avLst>
              <a:gd name="adj" fmla="val 2896"/>
            </a:avLst>
          </a:prstGeom>
          <a:solidFill>
            <a:srgbClr val="FDFCF8"/>
          </a:solidFill>
          <a:ln w="12700">
            <a:solidFill>
              <a:srgbClr val="DCD6C8"/>
            </a:solidFill>
            <a:prstDash val="solid"/>
          </a:ln>
        </p:spPr>
        <p:txBody>
          <a:bodyPr/>
          <a:lstStyle/>
          <a:p>
            <a:endParaRPr lang="en-IN"/>
          </a:p>
        </p:txBody>
      </p:sp>
      <p:sp>
        <p:nvSpPr>
          <p:cNvPr id="5" name="Shape 3"/>
          <p:cNvSpPr/>
          <p:nvPr/>
        </p:nvSpPr>
        <p:spPr>
          <a:xfrm>
            <a:off x="825500" y="1841401"/>
            <a:ext cx="1778000" cy="3276600"/>
          </a:xfrm>
          <a:prstGeom prst="roundRect">
            <a:avLst>
              <a:gd name="adj" fmla="val 5000"/>
            </a:avLst>
          </a:prstGeom>
          <a:solidFill>
            <a:srgbClr val="ECE8DD"/>
          </a:solidFill>
          <a:ln/>
        </p:spPr>
        <p:txBody>
          <a:bodyPr/>
          <a:lstStyle/>
          <a:p>
            <a:endParaRPr lang="en-IN"/>
          </a:p>
        </p:txBody>
      </p:sp>
      <p:sp>
        <p:nvSpPr>
          <p:cNvPr id="6" name="Text 4"/>
          <p:cNvSpPr/>
          <p:nvPr/>
        </p:nvSpPr>
        <p:spPr>
          <a:xfrm>
            <a:off x="977900" y="1993801"/>
            <a:ext cx="1524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st.sidebar</a:t>
            </a:r>
            <a:endParaRPr lang="en-US" sz="1200" dirty="0"/>
          </a:p>
        </p:txBody>
      </p:sp>
      <p:sp>
        <p:nvSpPr>
          <p:cNvPr id="7" name="Shape 5"/>
          <p:cNvSpPr/>
          <p:nvPr/>
        </p:nvSpPr>
        <p:spPr>
          <a:xfrm>
            <a:off x="977900" y="2308721"/>
            <a:ext cx="1473200" cy="553641"/>
          </a:xfrm>
          <a:prstGeom prst="roundRect">
            <a:avLst>
              <a:gd name="adj" fmla="val 9176"/>
            </a:avLst>
          </a:prstGeom>
          <a:solidFill>
            <a:srgbClr val="E2EEEC"/>
          </a:solidFill>
          <a:ln/>
        </p:spPr>
        <p:txBody>
          <a:bodyPr/>
          <a:lstStyle/>
          <a:p>
            <a:endParaRPr lang="en-IN"/>
          </a:p>
        </p:txBody>
      </p:sp>
      <p:sp>
        <p:nvSpPr>
          <p:cNvPr id="8" name="Text 6"/>
          <p:cNvSpPr/>
          <p:nvPr/>
        </p:nvSpPr>
        <p:spPr>
          <a:xfrm>
            <a:off x="1066800" y="2372221"/>
            <a:ext cx="13462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6232E"/>
                </a:solidFill>
                <a:latin typeface="IBM Plex Sans" pitchFamily="34" charset="0"/>
                <a:ea typeface="IBM Plex Sans" pitchFamily="34" charset="-122"/>
                <a:cs typeface="IBM Plex Sans" pitchFamily="34" charset="-120"/>
              </a:rPr>
              <a:t>model v1 (champion)</a:t>
            </a:r>
            <a:endParaRPr lang="en-US" sz="1200" dirty="0"/>
          </a:p>
        </p:txBody>
      </p:sp>
      <p:sp>
        <p:nvSpPr>
          <p:cNvPr id="9" name="Text 7"/>
          <p:cNvSpPr/>
          <p:nvPr/>
        </p:nvSpPr>
        <p:spPr>
          <a:xfrm>
            <a:off x="977900" y="2963962"/>
            <a:ext cx="152400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IBM Plex Sans" pitchFamily="34" charset="0"/>
                <a:ea typeface="IBM Plex Sans" pitchFamily="34" charset="-122"/>
                <a:cs typeface="IBM Plex Sans" pitchFamily="34" charset="-120"/>
              </a:rPr>
              <a:t>logreg · e0ce921bf845</a:t>
            </a:r>
            <a:endParaRPr lang="en-US" sz="1200" dirty="0"/>
          </a:p>
        </p:txBody>
      </p:sp>
      <p:sp>
        <p:nvSpPr>
          <p:cNvPr id="10" name="Text 8"/>
          <p:cNvSpPr/>
          <p:nvPr/>
        </p:nvSpPr>
        <p:spPr>
          <a:xfrm>
            <a:off x="2781300" y="2019201"/>
            <a:ext cx="431673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6232E"/>
                </a:solidFill>
                <a:latin typeface="IBM Plex Sans" pitchFamily="34" charset="0"/>
                <a:ea typeface="IBM Plex Sans" pitchFamily="34" charset="-122"/>
                <a:cs typeface="IBM Plex Sans" pitchFamily="34" charset="-120"/>
              </a:rPr>
              <a:t>Score one store-product line</a:t>
            </a:r>
            <a:endParaRPr lang="en-US" sz="1500" dirty="0"/>
          </a:p>
        </p:txBody>
      </p:sp>
      <p:sp>
        <p:nvSpPr>
          <p:cNvPr id="11" name="Shape 9"/>
          <p:cNvSpPr/>
          <p:nvPr/>
        </p:nvSpPr>
        <p:spPr>
          <a:xfrm>
            <a:off x="2787650" y="2406551"/>
            <a:ext cx="2032000" cy="353020"/>
          </a:xfrm>
          <a:prstGeom prst="roundRect">
            <a:avLst>
              <a:gd name="adj" fmla="val 12591"/>
            </a:avLst>
          </a:prstGeom>
          <a:noFill/>
          <a:ln w="12700">
            <a:solidFill>
              <a:srgbClr val="DCD6C8"/>
            </a:solidFill>
            <a:prstDash val="solid"/>
          </a:ln>
        </p:spPr>
        <p:txBody>
          <a:bodyPr/>
          <a:lstStyle/>
          <a:p>
            <a:endParaRPr lang="en-IN"/>
          </a:p>
        </p:txBody>
      </p:sp>
      <p:sp>
        <p:nvSpPr>
          <p:cNvPr id="12" name="Text 10"/>
          <p:cNvSpPr/>
          <p:nvPr/>
        </p:nvSpPr>
        <p:spPr>
          <a:xfrm>
            <a:off x="2882900" y="2476401"/>
            <a:ext cx="189674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IBM Plex Sans" pitchFamily="34" charset="0"/>
                <a:ea typeface="IBM Plex Sans" pitchFamily="34" charset="-122"/>
                <a:cs typeface="IBM Plex Sans" pitchFamily="34" charset="-120"/>
              </a:rPr>
              <a:t>store_id · S001</a:t>
            </a:r>
            <a:endParaRPr lang="en-US" sz="1200" dirty="0"/>
          </a:p>
        </p:txBody>
      </p:sp>
      <p:sp>
        <p:nvSpPr>
          <p:cNvPr id="13" name="Shape 11"/>
          <p:cNvSpPr/>
          <p:nvPr/>
        </p:nvSpPr>
        <p:spPr>
          <a:xfrm>
            <a:off x="4933950" y="2406551"/>
            <a:ext cx="2032000" cy="353020"/>
          </a:xfrm>
          <a:prstGeom prst="roundRect">
            <a:avLst>
              <a:gd name="adj" fmla="val 12591"/>
            </a:avLst>
          </a:prstGeom>
          <a:noFill/>
          <a:ln w="12700">
            <a:solidFill>
              <a:srgbClr val="DCD6C8"/>
            </a:solidFill>
            <a:prstDash val="solid"/>
          </a:ln>
        </p:spPr>
        <p:txBody>
          <a:bodyPr/>
          <a:lstStyle/>
          <a:p>
            <a:endParaRPr lang="en-IN"/>
          </a:p>
        </p:txBody>
      </p:sp>
      <p:sp>
        <p:nvSpPr>
          <p:cNvPr id="14" name="Text 12"/>
          <p:cNvSpPr/>
          <p:nvPr/>
        </p:nvSpPr>
        <p:spPr>
          <a:xfrm>
            <a:off x="5029200" y="2476401"/>
            <a:ext cx="189674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IBM Plex Sans" pitchFamily="34" charset="0"/>
                <a:ea typeface="IBM Plex Sans" pitchFamily="34" charset="-122"/>
                <a:cs typeface="IBM Plex Sans" pitchFamily="34" charset="-120"/>
              </a:rPr>
              <a:t>product_id · P0067</a:t>
            </a:r>
            <a:endParaRPr lang="en-US" sz="1200" dirty="0"/>
          </a:p>
        </p:txBody>
      </p:sp>
      <p:sp>
        <p:nvSpPr>
          <p:cNvPr id="15" name="Text 13"/>
          <p:cNvSpPr/>
          <p:nvPr/>
        </p:nvSpPr>
        <p:spPr>
          <a:xfrm>
            <a:off x="2781300" y="2880221"/>
            <a:ext cx="431673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st.columns(2)</a:t>
            </a:r>
            <a:endParaRPr lang="en-US" sz="1200" dirty="0"/>
          </a:p>
        </p:txBody>
      </p:sp>
      <p:sp>
        <p:nvSpPr>
          <p:cNvPr id="16" name="Shape 14"/>
          <p:cNvSpPr/>
          <p:nvPr/>
        </p:nvSpPr>
        <p:spPr>
          <a:xfrm>
            <a:off x="2787650" y="3214191"/>
            <a:ext cx="1316534" cy="708620"/>
          </a:xfrm>
          <a:prstGeom prst="roundRect">
            <a:avLst>
              <a:gd name="adj" fmla="val 8065"/>
            </a:avLst>
          </a:prstGeom>
          <a:noFill/>
          <a:ln w="12700">
            <a:solidFill>
              <a:srgbClr val="DCD6C8"/>
            </a:solidFill>
            <a:prstDash val="solid"/>
          </a:ln>
        </p:spPr>
        <p:txBody>
          <a:bodyPr/>
          <a:lstStyle/>
          <a:p>
            <a:endParaRPr lang="en-IN"/>
          </a:p>
        </p:txBody>
      </p:sp>
      <p:sp>
        <p:nvSpPr>
          <p:cNvPr id="17" name="Text 15"/>
          <p:cNvSpPr/>
          <p:nvPr/>
        </p:nvSpPr>
        <p:spPr>
          <a:xfrm>
            <a:off x="2882900" y="3309441"/>
            <a:ext cx="11768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IBM Plex Sans" pitchFamily="34" charset="0"/>
                <a:ea typeface="IBM Plex Sans" pitchFamily="34" charset="-122"/>
                <a:cs typeface="IBM Plex Sans" pitchFamily="34" charset="-120"/>
              </a:rPr>
              <a:t>Probability</a:t>
            </a:r>
            <a:endParaRPr lang="en-US" sz="1200" dirty="0"/>
          </a:p>
        </p:txBody>
      </p:sp>
      <p:sp>
        <p:nvSpPr>
          <p:cNvPr id="18" name="Text 16"/>
          <p:cNvSpPr/>
          <p:nvPr/>
        </p:nvSpPr>
        <p:spPr>
          <a:xfrm>
            <a:off x="2882900" y="3560862"/>
            <a:ext cx="117683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6232E"/>
                </a:solidFill>
                <a:latin typeface="IBM Plex Sans" pitchFamily="34" charset="0"/>
                <a:ea typeface="IBM Plex Sans" pitchFamily="34" charset="-122"/>
                <a:cs typeface="IBM Plex Sans" pitchFamily="34" charset="-120"/>
              </a:rPr>
              <a:t>21.8%</a:t>
            </a:r>
            <a:endParaRPr lang="en-US" sz="1500" dirty="0"/>
          </a:p>
        </p:txBody>
      </p:sp>
      <p:sp>
        <p:nvSpPr>
          <p:cNvPr id="19" name="Shape 17"/>
          <p:cNvSpPr/>
          <p:nvPr/>
        </p:nvSpPr>
        <p:spPr>
          <a:xfrm>
            <a:off x="4218484" y="3214191"/>
            <a:ext cx="1316633" cy="708620"/>
          </a:xfrm>
          <a:prstGeom prst="roundRect">
            <a:avLst>
              <a:gd name="adj" fmla="val 8065"/>
            </a:avLst>
          </a:prstGeom>
          <a:noFill/>
          <a:ln w="12700">
            <a:solidFill>
              <a:srgbClr val="DCD6C8"/>
            </a:solidFill>
            <a:prstDash val="solid"/>
          </a:ln>
        </p:spPr>
        <p:txBody>
          <a:bodyPr/>
          <a:lstStyle/>
          <a:p>
            <a:endParaRPr lang="en-IN"/>
          </a:p>
        </p:txBody>
      </p:sp>
      <p:sp>
        <p:nvSpPr>
          <p:cNvPr id="20" name="Text 18"/>
          <p:cNvSpPr/>
          <p:nvPr/>
        </p:nvSpPr>
        <p:spPr>
          <a:xfrm>
            <a:off x="4313734" y="3309441"/>
            <a:ext cx="117693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IBM Plex Sans" pitchFamily="34" charset="0"/>
                <a:ea typeface="IBM Plex Sans" pitchFamily="34" charset="-122"/>
                <a:cs typeface="IBM Plex Sans" pitchFamily="34" charset="-120"/>
              </a:rPr>
              <a:t>Action</a:t>
            </a:r>
            <a:endParaRPr lang="en-US" sz="1200" dirty="0"/>
          </a:p>
        </p:txBody>
      </p:sp>
      <p:sp>
        <p:nvSpPr>
          <p:cNvPr id="21" name="Text 19"/>
          <p:cNvSpPr/>
          <p:nvPr/>
        </p:nvSpPr>
        <p:spPr>
          <a:xfrm>
            <a:off x="4313734" y="3560862"/>
            <a:ext cx="1176933"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6232E"/>
                </a:solidFill>
                <a:latin typeface="IBM Plex Sans" pitchFamily="34" charset="0"/>
                <a:ea typeface="IBM Plex Sans" pitchFamily="34" charset="-122"/>
                <a:cs typeface="IBM Plex Sans" pitchFamily="34" charset="-120"/>
              </a:rPr>
              <a:t>Watch</a:t>
            </a:r>
            <a:endParaRPr lang="en-US" sz="1500" dirty="0"/>
          </a:p>
        </p:txBody>
      </p:sp>
      <p:sp>
        <p:nvSpPr>
          <p:cNvPr id="22" name="Shape 20"/>
          <p:cNvSpPr/>
          <p:nvPr/>
        </p:nvSpPr>
        <p:spPr>
          <a:xfrm>
            <a:off x="5649416" y="3214191"/>
            <a:ext cx="1316534" cy="708620"/>
          </a:xfrm>
          <a:prstGeom prst="roundRect">
            <a:avLst>
              <a:gd name="adj" fmla="val 8065"/>
            </a:avLst>
          </a:prstGeom>
          <a:noFill/>
          <a:ln w="12700">
            <a:solidFill>
              <a:srgbClr val="DCD6C8"/>
            </a:solidFill>
            <a:prstDash val="solid"/>
          </a:ln>
        </p:spPr>
        <p:txBody>
          <a:bodyPr/>
          <a:lstStyle/>
          <a:p>
            <a:endParaRPr lang="en-IN"/>
          </a:p>
        </p:txBody>
      </p:sp>
      <p:sp>
        <p:nvSpPr>
          <p:cNvPr id="23" name="Text 21"/>
          <p:cNvSpPr/>
          <p:nvPr/>
        </p:nvSpPr>
        <p:spPr>
          <a:xfrm>
            <a:off x="5744666" y="3309441"/>
            <a:ext cx="11768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IBM Plex Sans" pitchFamily="34" charset="0"/>
                <a:ea typeface="IBM Plex Sans" pitchFamily="34" charset="-122"/>
                <a:cs typeface="IBM Plex Sans" pitchFamily="34" charset="-120"/>
              </a:rPr>
              <a:t>Model</a:t>
            </a:r>
            <a:endParaRPr lang="en-US" sz="1200" dirty="0"/>
          </a:p>
        </p:txBody>
      </p:sp>
      <p:sp>
        <p:nvSpPr>
          <p:cNvPr id="24" name="Text 22"/>
          <p:cNvSpPr/>
          <p:nvPr/>
        </p:nvSpPr>
        <p:spPr>
          <a:xfrm>
            <a:off x="5744666" y="3560862"/>
            <a:ext cx="117683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6232E"/>
                </a:solidFill>
                <a:latin typeface="IBM Plex Sans" pitchFamily="34" charset="0"/>
                <a:ea typeface="IBM Plex Sans" pitchFamily="34" charset="-122"/>
                <a:cs typeface="IBM Plex Sans" pitchFamily="34" charset="-120"/>
              </a:rPr>
              <a:t>1</a:t>
            </a:r>
            <a:endParaRPr lang="en-US" sz="1500" dirty="0"/>
          </a:p>
        </p:txBody>
      </p:sp>
      <p:sp>
        <p:nvSpPr>
          <p:cNvPr id="25" name="Text 23"/>
          <p:cNvSpPr/>
          <p:nvPr/>
        </p:nvSpPr>
        <p:spPr>
          <a:xfrm>
            <a:off x="2781300" y="4043462"/>
            <a:ext cx="431673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st.columns(3) of st.metric</a:t>
            </a:r>
            <a:endParaRPr lang="en-US" sz="1200" dirty="0"/>
          </a:p>
        </p:txBody>
      </p:sp>
      <p:sp>
        <p:nvSpPr>
          <p:cNvPr id="26" name="Shape 24"/>
          <p:cNvSpPr/>
          <p:nvPr/>
        </p:nvSpPr>
        <p:spPr>
          <a:xfrm>
            <a:off x="7518400" y="1835051"/>
            <a:ext cx="3860800" cy="0"/>
          </a:xfrm>
          <a:prstGeom prst="line">
            <a:avLst/>
          </a:prstGeom>
          <a:noFill/>
          <a:ln w="12700">
            <a:solidFill>
              <a:srgbClr val="DCD6C8"/>
            </a:solidFill>
            <a:prstDash val="solid"/>
          </a:ln>
        </p:spPr>
        <p:txBody>
          <a:bodyPr/>
          <a:lstStyle/>
          <a:p>
            <a:endParaRPr lang="en-IN"/>
          </a:p>
        </p:txBody>
      </p:sp>
      <p:sp>
        <p:nvSpPr>
          <p:cNvPr id="27" name="Text 25"/>
          <p:cNvSpPr/>
          <p:nvPr/>
        </p:nvSpPr>
        <p:spPr>
          <a:xfrm>
            <a:off x="7518400" y="1917601"/>
            <a:ext cx="3976624"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6232E"/>
                </a:solidFill>
                <a:latin typeface="JetBrains Mono" pitchFamily="34" charset="0"/>
                <a:ea typeface="JetBrains Mono" pitchFamily="34" charset="-122"/>
                <a:cs typeface="JetBrains Mono" pitchFamily="34" charset="-120"/>
              </a:rPr>
              <a:t>st.set_page_config</a:t>
            </a:r>
            <a:endParaRPr lang="en-US" sz="1300" dirty="0"/>
          </a:p>
        </p:txBody>
      </p:sp>
      <p:sp>
        <p:nvSpPr>
          <p:cNvPr id="28" name="Text 26"/>
          <p:cNvSpPr/>
          <p:nvPr/>
        </p:nvSpPr>
        <p:spPr>
          <a:xfrm>
            <a:off x="7518400" y="2174081"/>
            <a:ext cx="397662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IBM Plex Sans" pitchFamily="34" charset="0"/>
                <a:ea typeface="IBM Plex Sans" pitchFamily="34" charset="-122"/>
                <a:cs typeface="IBM Plex Sans" pitchFamily="34" charset="-120"/>
              </a:rPr>
              <a:t>layout="wide", a page title</a:t>
            </a:r>
            <a:endParaRPr lang="en-US" sz="1200" dirty="0"/>
          </a:p>
        </p:txBody>
      </p:sp>
      <p:sp>
        <p:nvSpPr>
          <p:cNvPr id="29" name="Shape 27"/>
          <p:cNvSpPr/>
          <p:nvPr/>
        </p:nvSpPr>
        <p:spPr>
          <a:xfrm>
            <a:off x="7518400" y="2482652"/>
            <a:ext cx="3860800" cy="0"/>
          </a:xfrm>
          <a:prstGeom prst="line">
            <a:avLst/>
          </a:prstGeom>
          <a:noFill/>
          <a:ln w="12700">
            <a:solidFill>
              <a:srgbClr val="DCD6C8"/>
            </a:solidFill>
            <a:prstDash val="solid"/>
          </a:ln>
        </p:spPr>
        <p:txBody>
          <a:bodyPr/>
          <a:lstStyle/>
          <a:p>
            <a:endParaRPr lang="en-IN"/>
          </a:p>
        </p:txBody>
      </p:sp>
      <p:sp>
        <p:nvSpPr>
          <p:cNvPr id="30" name="Text 28"/>
          <p:cNvSpPr/>
          <p:nvPr/>
        </p:nvSpPr>
        <p:spPr>
          <a:xfrm>
            <a:off x="7518400" y="2565202"/>
            <a:ext cx="3976624"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6232E"/>
                </a:solidFill>
                <a:latin typeface="JetBrains Mono" pitchFamily="34" charset="0"/>
                <a:ea typeface="JetBrains Mono" pitchFamily="34" charset="-122"/>
                <a:cs typeface="JetBrains Mono" pitchFamily="34" charset="-120"/>
              </a:rPr>
              <a:t>st.sidebar</a:t>
            </a:r>
            <a:endParaRPr lang="en-US" sz="1300" dirty="0"/>
          </a:p>
        </p:txBody>
      </p:sp>
      <p:sp>
        <p:nvSpPr>
          <p:cNvPr id="31" name="Text 29"/>
          <p:cNvSpPr/>
          <p:nvPr/>
        </p:nvSpPr>
        <p:spPr>
          <a:xfrm>
            <a:off x="7518400" y="2821682"/>
            <a:ext cx="397662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IBM Plex Sans" pitchFamily="34" charset="0"/>
                <a:ea typeface="IBM Plex Sans" pitchFamily="34" charset="-122"/>
                <a:cs typeface="IBM Plex Sans" pitchFamily="34" charset="-120"/>
              </a:rPr>
              <a:t>status and settings, out of the way</a:t>
            </a:r>
            <a:endParaRPr lang="en-US" sz="1200" dirty="0"/>
          </a:p>
        </p:txBody>
      </p:sp>
      <p:sp>
        <p:nvSpPr>
          <p:cNvPr id="32" name="Shape 30"/>
          <p:cNvSpPr/>
          <p:nvPr/>
        </p:nvSpPr>
        <p:spPr>
          <a:xfrm>
            <a:off x="7518400" y="3130252"/>
            <a:ext cx="3860800" cy="0"/>
          </a:xfrm>
          <a:prstGeom prst="line">
            <a:avLst/>
          </a:prstGeom>
          <a:noFill/>
          <a:ln w="12700">
            <a:solidFill>
              <a:srgbClr val="DCD6C8"/>
            </a:solidFill>
            <a:prstDash val="solid"/>
          </a:ln>
        </p:spPr>
        <p:txBody>
          <a:bodyPr/>
          <a:lstStyle/>
          <a:p>
            <a:endParaRPr lang="en-IN"/>
          </a:p>
        </p:txBody>
      </p:sp>
      <p:sp>
        <p:nvSpPr>
          <p:cNvPr id="33" name="Text 31"/>
          <p:cNvSpPr/>
          <p:nvPr/>
        </p:nvSpPr>
        <p:spPr>
          <a:xfrm>
            <a:off x="7518400" y="3212802"/>
            <a:ext cx="3976624"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6232E"/>
                </a:solidFill>
                <a:latin typeface="JetBrains Mono" pitchFamily="34" charset="0"/>
                <a:ea typeface="JetBrains Mono" pitchFamily="34" charset="-122"/>
                <a:cs typeface="JetBrains Mono" pitchFamily="34" charset="-120"/>
              </a:rPr>
              <a:t>st.columns</a:t>
            </a:r>
            <a:endParaRPr lang="en-US" sz="1300" dirty="0"/>
          </a:p>
        </p:txBody>
      </p:sp>
      <p:sp>
        <p:nvSpPr>
          <p:cNvPr id="34" name="Text 32"/>
          <p:cNvSpPr/>
          <p:nvPr/>
        </p:nvSpPr>
        <p:spPr>
          <a:xfrm>
            <a:off x="7518400" y="3469283"/>
            <a:ext cx="397662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IBM Plex Sans" pitchFamily="34" charset="0"/>
                <a:ea typeface="IBM Plex Sans" pitchFamily="34" charset="-122"/>
                <a:cs typeface="IBM Plex Sans" pitchFamily="34" charset="-120"/>
              </a:rPr>
              <a:t>side-by-side inputs and KPIs</a:t>
            </a:r>
            <a:endParaRPr lang="en-US" sz="1200" dirty="0"/>
          </a:p>
        </p:txBody>
      </p:sp>
      <p:sp>
        <p:nvSpPr>
          <p:cNvPr id="35" name="Shape 33"/>
          <p:cNvSpPr/>
          <p:nvPr/>
        </p:nvSpPr>
        <p:spPr>
          <a:xfrm>
            <a:off x="7518400" y="3777853"/>
            <a:ext cx="3860800" cy="0"/>
          </a:xfrm>
          <a:prstGeom prst="line">
            <a:avLst/>
          </a:prstGeom>
          <a:noFill/>
          <a:ln w="12700">
            <a:solidFill>
              <a:srgbClr val="DCD6C8"/>
            </a:solidFill>
            <a:prstDash val="solid"/>
          </a:ln>
        </p:spPr>
        <p:txBody>
          <a:bodyPr/>
          <a:lstStyle/>
          <a:p>
            <a:endParaRPr lang="en-IN"/>
          </a:p>
        </p:txBody>
      </p:sp>
      <p:sp>
        <p:nvSpPr>
          <p:cNvPr id="36" name="Text 34"/>
          <p:cNvSpPr/>
          <p:nvPr/>
        </p:nvSpPr>
        <p:spPr>
          <a:xfrm>
            <a:off x="7518400" y="3860403"/>
            <a:ext cx="3976624"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6232E"/>
                </a:solidFill>
                <a:latin typeface="JetBrains Mono" pitchFamily="34" charset="0"/>
                <a:ea typeface="JetBrains Mono" pitchFamily="34" charset="-122"/>
                <a:cs typeface="JetBrains Mono" pitchFamily="34" charset="-120"/>
              </a:rPr>
              <a:t>st.metric</a:t>
            </a:r>
            <a:endParaRPr lang="en-US" sz="1300" dirty="0"/>
          </a:p>
        </p:txBody>
      </p:sp>
      <p:sp>
        <p:nvSpPr>
          <p:cNvPr id="37" name="Text 35"/>
          <p:cNvSpPr/>
          <p:nvPr/>
        </p:nvSpPr>
        <p:spPr>
          <a:xfrm>
            <a:off x="7518400" y="4116884"/>
            <a:ext cx="397662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IBM Plex Sans" pitchFamily="34" charset="0"/>
                <a:ea typeface="IBM Plex Sans" pitchFamily="34" charset="-122"/>
                <a:cs typeface="IBM Plex Sans" pitchFamily="34" charset="-120"/>
              </a:rPr>
              <a:t>one number with a label</a:t>
            </a:r>
            <a:endParaRPr lang="en-US" sz="1200" dirty="0"/>
          </a:p>
        </p:txBody>
      </p:sp>
      <p:sp>
        <p:nvSpPr>
          <p:cNvPr id="38" name="Shape 36"/>
          <p:cNvSpPr/>
          <p:nvPr/>
        </p:nvSpPr>
        <p:spPr>
          <a:xfrm>
            <a:off x="7518400" y="4425454"/>
            <a:ext cx="3860800" cy="0"/>
          </a:xfrm>
          <a:prstGeom prst="line">
            <a:avLst/>
          </a:prstGeom>
          <a:noFill/>
          <a:ln w="12700">
            <a:solidFill>
              <a:srgbClr val="DCD6C8"/>
            </a:solidFill>
            <a:prstDash val="solid"/>
          </a:ln>
        </p:spPr>
        <p:txBody>
          <a:bodyPr/>
          <a:lstStyle/>
          <a:p>
            <a:endParaRPr lang="en-IN"/>
          </a:p>
        </p:txBody>
      </p:sp>
      <p:sp>
        <p:nvSpPr>
          <p:cNvPr id="39" name="Text 37"/>
          <p:cNvSpPr/>
          <p:nvPr/>
        </p:nvSpPr>
        <p:spPr>
          <a:xfrm>
            <a:off x="7518400" y="4508004"/>
            <a:ext cx="3976624"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6232E"/>
                </a:solidFill>
                <a:latin typeface="JetBrains Mono" pitchFamily="34" charset="0"/>
                <a:ea typeface="JetBrains Mono" pitchFamily="34" charset="-122"/>
                <a:cs typeface="JetBrains Mono" pitchFamily="34" charset="-120"/>
              </a:rPr>
              <a:t>st.tabs · st.expander</a:t>
            </a:r>
            <a:endParaRPr lang="en-US" sz="1300" dirty="0"/>
          </a:p>
        </p:txBody>
      </p:sp>
      <p:sp>
        <p:nvSpPr>
          <p:cNvPr id="40" name="Text 38"/>
          <p:cNvSpPr/>
          <p:nvPr/>
        </p:nvSpPr>
        <p:spPr>
          <a:xfrm>
            <a:off x="7518400" y="4764484"/>
            <a:ext cx="397662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IBM Plex Sans" pitchFamily="34" charset="0"/>
                <a:ea typeface="IBM Plex Sans" pitchFamily="34" charset="-122"/>
                <a:cs typeface="IBM Plex Sans" pitchFamily="34" charset="-120"/>
              </a:rPr>
              <a:t>depth without scrolling</a:t>
            </a:r>
            <a:endParaRPr lang="en-US" sz="1200" dirty="0"/>
          </a:p>
        </p:txBody>
      </p:sp>
      <p:sp>
        <p:nvSpPr>
          <p:cNvPr id="41" name="Text 3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2 · M4 + Lab 3a</a:t>
            </a:r>
            <a:endParaRPr lang="en-US" sz="1200" dirty="0"/>
          </a:p>
        </p:txBody>
      </p:sp>
      <p:sp>
        <p:nvSpPr>
          <p:cNvPr id="42" name="Text 40"/>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12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6">
    <p:bg>
      <p:bgPr>
        <a:solidFill>
          <a:srgbClr val="16232E"/>
        </a:solidFill>
        <a:effectLst/>
      </p:bgPr>
    </p:bg>
    <p:spTree>
      <p:nvGrpSpPr>
        <p:cNvPr id="1" name=""/>
        <p:cNvGrpSpPr/>
        <p:nvPr/>
      </p:nvGrpSpPr>
      <p:grpSpPr>
        <a:xfrm>
          <a:off x="0" y="0"/>
          <a:ext cx="0" cy="0"/>
          <a:chOff x="0" y="0"/>
          <a:chExt cx="0" cy="0"/>
        </a:xfrm>
      </p:grpSpPr>
      <p:sp>
        <p:nvSpPr>
          <p:cNvPr id="2" name="Text 0"/>
          <p:cNvSpPr/>
          <p:nvPr/>
        </p:nvSpPr>
        <p:spPr>
          <a:xfrm>
            <a:off x="812800" y="2018705"/>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E3A63B"/>
                </a:solidFill>
                <a:latin typeface="JetBrains Mono" pitchFamily="34" charset="0"/>
                <a:ea typeface="JetBrains Mono" pitchFamily="34" charset="-122"/>
                <a:cs typeface="JetBrains Mono" pitchFamily="34" charset="-120"/>
              </a:rPr>
              <a:t>DESIGN RULE</a:t>
            </a:r>
            <a:endParaRPr lang="en-US" sz="1200" dirty="0"/>
          </a:p>
        </p:txBody>
      </p:sp>
      <p:sp>
        <p:nvSpPr>
          <p:cNvPr id="3" name="Text 1"/>
          <p:cNvSpPr/>
          <p:nvPr/>
        </p:nvSpPr>
        <p:spPr>
          <a:xfrm>
            <a:off x="812800" y="2536825"/>
            <a:ext cx="10883392" cy="1193800"/>
          </a:xfrm>
          <a:prstGeom prst="rect">
            <a:avLst/>
          </a:prstGeom>
          <a:noFill/>
          <a:ln/>
        </p:spPr>
        <p:txBody>
          <a:bodyPr wrap="square" lIns="0" tIns="0" rIns="0" bIns="0" rtlCol="0" anchor="t">
            <a:normAutofit/>
          </a:bodyPr>
          <a:lstStyle/>
          <a:p>
            <a:pPr marL="0" indent="0" algn="l">
              <a:lnSpc>
                <a:spcPts val="4600"/>
              </a:lnSpc>
              <a:buNone/>
            </a:pPr>
            <a:r>
              <a:rPr lang="en-US" sz="4000" b="1" dirty="0">
                <a:solidFill>
                  <a:srgbClr val="F6F4EE"/>
                </a:solidFill>
                <a:latin typeface="IBM Plex Sans" pitchFamily="34" charset="0"/>
                <a:ea typeface="IBM Plex Sans" pitchFamily="34" charset="-122"/>
                <a:cs typeface="IBM Plex Sans" pitchFamily="34" charset="-120"/>
              </a:rPr>
              <a:t>The app calls the API. It never loads its own copy of the model.</a:t>
            </a:r>
            <a:endParaRPr lang="en-US" sz="4000" dirty="0"/>
          </a:p>
        </p:txBody>
      </p:sp>
      <p:sp>
        <p:nvSpPr>
          <p:cNvPr id="4" name="Text 2"/>
          <p:cNvSpPr/>
          <p:nvPr/>
        </p:nvSpPr>
        <p:spPr>
          <a:xfrm>
            <a:off x="812800" y="4010025"/>
            <a:ext cx="9156700" cy="651470"/>
          </a:xfrm>
          <a:prstGeom prst="rect">
            <a:avLst/>
          </a:prstGeom>
          <a:noFill/>
          <a:ln/>
        </p:spPr>
        <p:txBody>
          <a:bodyPr wrap="square" lIns="0" tIns="0" rIns="0" bIns="0" rtlCol="0" anchor="t">
            <a:normAutofit/>
          </a:bodyPr>
          <a:lstStyle/>
          <a:p>
            <a:pPr marL="0" indent="0" algn="l">
              <a:lnSpc>
                <a:spcPts val="2465"/>
              </a:lnSpc>
              <a:buNone/>
            </a:pPr>
            <a:r>
              <a:rPr lang="en-US" sz="1700" dirty="0">
                <a:solidFill>
                  <a:srgbClr val="B8C5CB"/>
                </a:solidFill>
                <a:latin typeface="IBM Plex Sans" pitchFamily="34" charset="0"/>
                <a:ea typeface="IBM Plex Sans" pitchFamily="34" charset="-122"/>
                <a:cs typeface="IBM Plex Sans" pitchFamily="34" charset="-120"/>
              </a:rPr>
              <a:t>One serving path, one place to roll back, one answer to the same question. On the morning Lab 5 moves the alias, nothing but the API needs to restart.</a:t>
            </a:r>
            <a:endParaRPr lang="en-US" sz="1700" dirty="0"/>
          </a:p>
        </p:txBody>
      </p:sp>
      <p:sp>
        <p:nvSpPr>
          <p:cNvPr id="5" name="Text 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5CB"/>
                </a:solidFill>
                <a:latin typeface="JetBrains Mono" pitchFamily="34" charset="0"/>
                <a:ea typeface="JetBrains Mono" pitchFamily="34" charset="-122"/>
                <a:cs typeface="JetBrains Mono" pitchFamily="34" charset="-120"/>
              </a:rPr>
              <a:t>From Pipelines to Production · Day 2 · M4 + Lab 3a</a:t>
            </a:r>
            <a:endParaRPr lang="en-US" sz="1200" dirty="0"/>
          </a:p>
        </p:txBody>
      </p:sp>
      <p:sp>
        <p:nvSpPr>
          <p:cNvPr id="6" name="Text 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8C5CB"/>
                </a:solidFill>
                <a:latin typeface="JetBrains Mono" pitchFamily="34" charset="0"/>
                <a:ea typeface="JetBrains Mono" pitchFamily="34" charset="-122"/>
                <a:cs typeface="JetBrains Mono" pitchFamily="34" charset="-120"/>
              </a:rPr>
              <a:t>16</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8">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DEPLOYING A DATA APP</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Four ways to deploy, one image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879501"/>
          <a:ext cx="10566400" cy="1929805"/>
        </p:xfrm>
        <a:graphic>
          <a:graphicData uri="http://schemas.openxmlformats.org/drawingml/2006/table">
            <a:tbl>
              <a:tblPr/>
              <a:tblGrid>
                <a:gridCol w="2958592">
                  <a:extLst>
                    <a:ext uri="{9D8B030D-6E8A-4147-A177-3AD203B41FA5}">
                      <a16:colId xmlns:a16="http://schemas.microsoft.com/office/drawing/2014/main" val="20000"/>
                    </a:ext>
                  </a:extLst>
                </a:gridCol>
                <a:gridCol w="4226560">
                  <a:extLst>
                    <a:ext uri="{9D8B030D-6E8A-4147-A177-3AD203B41FA5}">
                      <a16:colId xmlns:a16="http://schemas.microsoft.com/office/drawing/2014/main" val="20001"/>
                    </a:ext>
                  </a:extLst>
                </a:gridCol>
                <a:gridCol w="3381248">
                  <a:extLst>
                    <a:ext uri="{9D8B030D-6E8A-4147-A177-3AD203B41FA5}">
                      <a16:colId xmlns:a16="http://schemas.microsoft.com/office/drawing/2014/main" val="20002"/>
                    </a:ext>
                  </a:extLst>
                </a:gridCol>
              </a:tblGrid>
              <a:tr h="385961">
                <a:tc>
                  <a:txBody>
                    <a:bodyPr/>
                    <a:lstStyle/>
                    <a:p>
                      <a:pPr marL="0" indent="0">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Target</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tc>
                  <a:txBody>
                    <a:bodyPr/>
                    <a:lstStyle/>
                    <a:p>
                      <a:pPr marL="0" indent="0">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How</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tc>
                  <a:txBody>
                    <a:bodyPr/>
                    <a:lstStyle/>
                    <a:p>
                      <a:pPr marL="0" indent="0">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When</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Local</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uvicorn + streamlit run</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Development and this lab</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Docker Compose</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API + app, gated on /ready</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A reproducible stack on one machine</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Streamlit Community Cloud</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From a Git repository</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Sharing a data app publicly</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Cloud containers</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ECS or Cloud Run, image from a registry</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6232E"/>
                          </a:solidFill>
                          <a:latin typeface="IBM Plex Sans" pitchFamily="34" charset="0"/>
                          <a:ea typeface="IBM Plex Sans" pitchFamily="34" charset="-122"/>
                          <a:cs typeface="IBM Plex Sans" pitchFamily="34" charset="-120"/>
                        </a:rPr>
                        <a:t>Lab 5's guided walkthrough</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4304605"/>
            <a:ext cx="10883392" cy="30162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16232E"/>
                </a:solidFill>
                <a:latin typeface="IBM Plex Sans" pitchFamily="34" charset="0"/>
                <a:ea typeface="IBM Plex Sans" pitchFamily="34" charset="-122"/>
                <a:cs typeface="IBM Plex Sans" pitchFamily="34" charset="-120"/>
              </a:rPr>
              <a:t>Whatever the target, the same rules travel: config by environment, readiness before traffic, the model by alias.</a:t>
            </a:r>
            <a:endParaRPr lang="en-US" sz="1500" dirty="0"/>
          </a:p>
        </p:txBody>
      </p:sp>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2 · M4 + Lab 3a</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18</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9">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RELEASE STRATEGIES · PREVIEW</a:t>
            </a:r>
            <a:endParaRPr lang="en-US" sz="1200" dirty="0"/>
          </a:p>
        </p:txBody>
      </p:sp>
      <p:sp>
        <p:nvSpPr>
          <p:cNvPr id="3" name="Text 1"/>
          <p:cNvSpPr/>
          <p:nvPr/>
        </p:nvSpPr>
        <p:spPr>
          <a:xfrm>
            <a:off x="812800" y="1127720"/>
            <a:ext cx="10883392" cy="919361"/>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Four release strategies, introduced here and deepened in Lab 5</a:t>
            </a:r>
            <a:endParaRPr lang="en-US" sz="3200" dirty="0"/>
          </a:p>
        </p:txBody>
      </p:sp>
      <p:sp>
        <p:nvSpPr>
          <p:cNvPr id="4" name="Shape 2"/>
          <p:cNvSpPr/>
          <p:nvPr/>
        </p:nvSpPr>
        <p:spPr>
          <a:xfrm>
            <a:off x="819150" y="2332831"/>
            <a:ext cx="2514600" cy="1455241"/>
          </a:xfrm>
          <a:prstGeom prst="roundRect">
            <a:avLst>
              <a:gd name="adj" fmla="val 6545"/>
            </a:avLst>
          </a:prstGeom>
          <a:solidFill>
            <a:srgbClr val="FDFCF8"/>
          </a:solidFill>
          <a:ln w="12700">
            <a:solidFill>
              <a:srgbClr val="DCD6C8"/>
            </a:solidFill>
            <a:prstDash val="solid"/>
          </a:ln>
        </p:spPr>
        <p:txBody>
          <a:bodyPr/>
          <a:lstStyle/>
          <a:p>
            <a:endParaRPr lang="en-IN"/>
          </a:p>
        </p:txBody>
      </p:sp>
      <p:sp>
        <p:nvSpPr>
          <p:cNvPr id="5" name="Text 3"/>
          <p:cNvSpPr/>
          <p:nvPr/>
        </p:nvSpPr>
        <p:spPr>
          <a:xfrm>
            <a:off x="1003300" y="2516981"/>
            <a:ext cx="2210689"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32E"/>
                </a:solidFill>
                <a:latin typeface="IBM Plex Sans" pitchFamily="34" charset="0"/>
                <a:ea typeface="IBM Plex Sans" pitchFamily="34" charset="-122"/>
                <a:cs typeface="IBM Plex Sans" pitchFamily="34" charset="-120"/>
              </a:rPr>
              <a:t>Shadow</a:t>
            </a:r>
            <a:endParaRPr lang="en-US" sz="1700" dirty="0"/>
          </a:p>
        </p:txBody>
      </p:sp>
      <p:sp>
        <p:nvSpPr>
          <p:cNvPr id="6" name="Text 4"/>
          <p:cNvSpPr/>
          <p:nvPr/>
        </p:nvSpPr>
        <p:spPr>
          <a:xfrm>
            <a:off x="1003300" y="2852241"/>
            <a:ext cx="2210689"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New model scores real traffic; answers discarded</a:t>
            </a:r>
            <a:endParaRPr lang="en-US" sz="1300" dirty="0"/>
          </a:p>
        </p:txBody>
      </p:sp>
      <p:sp>
        <p:nvSpPr>
          <p:cNvPr id="7" name="Text 5"/>
          <p:cNvSpPr/>
          <p:nvPr/>
        </p:nvSpPr>
        <p:spPr>
          <a:xfrm>
            <a:off x="1003300" y="3390602"/>
            <a:ext cx="22106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Zero user risk</a:t>
            </a:r>
            <a:endParaRPr lang="en-US" sz="1200" dirty="0"/>
          </a:p>
        </p:txBody>
      </p:sp>
      <p:sp>
        <p:nvSpPr>
          <p:cNvPr id="8" name="Shape 6"/>
          <p:cNvSpPr/>
          <p:nvPr/>
        </p:nvSpPr>
        <p:spPr>
          <a:xfrm>
            <a:off x="3498850" y="2332831"/>
            <a:ext cx="2514600" cy="1455241"/>
          </a:xfrm>
          <a:prstGeom prst="roundRect">
            <a:avLst>
              <a:gd name="adj" fmla="val 6545"/>
            </a:avLst>
          </a:prstGeom>
          <a:solidFill>
            <a:srgbClr val="FDFCF8"/>
          </a:solidFill>
          <a:ln w="12700">
            <a:solidFill>
              <a:srgbClr val="DCD6C8"/>
            </a:solidFill>
            <a:prstDash val="solid"/>
          </a:ln>
        </p:spPr>
        <p:txBody>
          <a:bodyPr/>
          <a:lstStyle/>
          <a:p>
            <a:endParaRPr lang="en-IN"/>
          </a:p>
        </p:txBody>
      </p:sp>
      <p:sp>
        <p:nvSpPr>
          <p:cNvPr id="9" name="Text 7"/>
          <p:cNvSpPr/>
          <p:nvPr/>
        </p:nvSpPr>
        <p:spPr>
          <a:xfrm>
            <a:off x="3683000" y="2516981"/>
            <a:ext cx="2210689"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32E"/>
                </a:solidFill>
                <a:latin typeface="IBM Plex Sans" pitchFamily="34" charset="0"/>
                <a:ea typeface="IBM Plex Sans" pitchFamily="34" charset="-122"/>
                <a:cs typeface="IBM Plex Sans" pitchFamily="34" charset="-120"/>
              </a:rPr>
              <a:t>Canary</a:t>
            </a:r>
            <a:endParaRPr lang="en-US" sz="1700" dirty="0"/>
          </a:p>
        </p:txBody>
      </p:sp>
      <p:sp>
        <p:nvSpPr>
          <p:cNvPr id="10" name="Text 8"/>
          <p:cNvSpPr/>
          <p:nvPr/>
        </p:nvSpPr>
        <p:spPr>
          <a:xfrm>
            <a:off x="3683000" y="2852241"/>
            <a:ext cx="2210689"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A small slice goes to the new model</a:t>
            </a:r>
            <a:endParaRPr lang="en-US" sz="1300" dirty="0"/>
          </a:p>
        </p:txBody>
      </p:sp>
      <p:sp>
        <p:nvSpPr>
          <p:cNvPr id="11" name="Text 9"/>
          <p:cNvSpPr/>
          <p:nvPr/>
        </p:nvSpPr>
        <p:spPr>
          <a:xfrm>
            <a:off x="3683000" y="3390602"/>
            <a:ext cx="22106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Limits blast radius</a:t>
            </a:r>
            <a:endParaRPr lang="en-US" sz="1200" dirty="0"/>
          </a:p>
        </p:txBody>
      </p:sp>
      <p:sp>
        <p:nvSpPr>
          <p:cNvPr id="12" name="Shape 10"/>
          <p:cNvSpPr/>
          <p:nvPr/>
        </p:nvSpPr>
        <p:spPr>
          <a:xfrm>
            <a:off x="6178550" y="2332831"/>
            <a:ext cx="2514600" cy="1455241"/>
          </a:xfrm>
          <a:prstGeom prst="roundRect">
            <a:avLst>
              <a:gd name="adj" fmla="val 6545"/>
            </a:avLst>
          </a:prstGeom>
          <a:solidFill>
            <a:srgbClr val="FDFCF8"/>
          </a:solidFill>
          <a:ln w="12700">
            <a:solidFill>
              <a:srgbClr val="DCD6C8"/>
            </a:solidFill>
            <a:prstDash val="solid"/>
          </a:ln>
        </p:spPr>
        <p:txBody>
          <a:bodyPr/>
          <a:lstStyle/>
          <a:p>
            <a:endParaRPr lang="en-IN"/>
          </a:p>
        </p:txBody>
      </p:sp>
      <p:sp>
        <p:nvSpPr>
          <p:cNvPr id="13" name="Text 11"/>
          <p:cNvSpPr/>
          <p:nvPr/>
        </p:nvSpPr>
        <p:spPr>
          <a:xfrm>
            <a:off x="6362700" y="2516981"/>
            <a:ext cx="2210689"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32E"/>
                </a:solidFill>
                <a:latin typeface="IBM Plex Sans" pitchFamily="34" charset="0"/>
                <a:ea typeface="IBM Plex Sans" pitchFamily="34" charset="-122"/>
                <a:cs typeface="IBM Plex Sans" pitchFamily="34" charset="-120"/>
              </a:rPr>
              <a:t>Blue/green</a:t>
            </a:r>
            <a:endParaRPr lang="en-US" sz="1700" dirty="0"/>
          </a:p>
        </p:txBody>
      </p:sp>
      <p:sp>
        <p:nvSpPr>
          <p:cNvPr id="14" name="Text 12"/>
          <p:cNvSpPr/>
          <p:nvPr/>
        </p:nvSpPr>
        <p:spPr>
          <a:xfrm>
            <a:off x="6362700" y="2852241"/>
            <a:ext cx="2210689"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Switch all traffic when green is verified</a:t>
            </a:r>
            <a:endParaRPr lang="en-US" sz="1300" dirty="0"/>
          </a:p>
        </p:txBody>
      </p:sp>
      <p:sp>
        <p:nvSpPr>
          <p:cNvPr id="15" name="Text 13"/>
          <p:cNvSpPr/>
          <p:nvPr/>
        </p:nvSpPr>
        <p:spPr>
          <a:xfrm>
            <a:off x="6362700" y="3390602"/>
            <a:ext cx="22106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Instant rollback</a:t>
            </a:r>
            <a:endParaRPr lang="en-US" sz="1200" dirty="0"/>
          </a:p>
        </p:txBody>
      </p:sp>
      <p:sp>
        <p:nvSpPr>
          <p:cNvPr id="16" name="Shape 14"/>
          <p:cNvSpPr/>
          <p:nvPr/>
        </p:nvSpPr>
        <p:spPr>
          <a:xfrm>
            <a:off x="8858250" y="2332831"/>
            <a:ext cx="2514600" cy="1455241"/>
          </a:xfrm>
          <a:prstGeom prst="roundRect">
            <a:avLst>
              <a:gd name="adj" fmla="val 6545"/>
            </a:avLst>
          </a:prstGeom>
          <a:solidFill>
            <a:srgbClr val="FDFCF8"/>
          </a:solidFill>
          <a:ln w="12700">
            <a:solidFill>
              <a:srgbClr val="DCD6C8"/>
            </a:solidFill>
            <a:prstDash val="solid"/>
          </a:ln>
        </p:spPr>
        <p:txBody>
          <a:bodyPr/>
          <a:lstStyle/>
          <a:p>
            <a:endParaRPr lang="en-IN"/>
          </a:p>
        </p:txBody>
      </p:sp>
      <p:sp>
        <p:nvSpPr>
          <p:cNvPr id="17" name="Text 15"/>
          <p:cNvSpPr/>
          <p:nvPr/>
        </p:nvSpPr>
        <p:spPr>
          <a:xfrm>
            <a:off x="9042400" y="2516981"/>
            <a:ext cx="2210689"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32E"/>
                </a:solidFill>
                <a:latin typeface="IBM Plex Sans" pitchFamily="34" charset="0"/>
                <a:ea typeface="IBM Plex Sans" pitchFamily="34" charset="-122"/>
                <a:cs typeface="IBM Plex Sans" pitchFamily="34" charset="-120"/>
              </a:rPr>
              <a:t>Rolling</a:t>
            </a:r>
            <a:endParaRPr lang="en-US" sz="1700" dirty="0"/>
          </a:p>
        </p:txBody>
      </p:sp>
      <p:sp>
        <p:nvSpPr>
          <p:cNvPr id="18" name="Text 16"/>
          <p:cNvSpPr/>
          <p:nvPr/>
        </p:nvSpPr>
        <p:spPr>
          <a:xfrm>
            <a:off x="9042400" y="2852241"/>
            <a:ext cx="2210689"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Replace instances a few at a time</a:t>
            </a:r>
            <a:endParaRPr lang="en-US" sz="1300" dirty="0"/>
          </a:p>
        </p:txBody>
      </p:sp>
      <p:sp>
        <p:nvSpPr>
          <p:cNvPr id="19" name="Text 17"/>
          <p:cNvSpPr/>
          <p:nvPr/>
        </p:nvSpPr>
        <p:spPr>
          <a:xfrm>
            <a:off x="9042400" y="3390602"/>
            <a:ext cx="22106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6F6D"/>
                </a:solidFill>
                <a:latin typeface="JetBrains Mono" pitchFamily="34" charset="0"/>
                <a:ea typeface="JetBrains Mono" pitchFamily="34" charset="-122"/>
                <a:cs typeface="JetBrains Mono" pitchFamily="34" charset="-120"/>
              </a:rPr>
              <a:t>No extra capacity</a:t>
            </a:r>
            <a:endParaRPr lang="en-US" sz="1200" dirty="0"/>
          </a:p>
        </p:txBody>
      </p:sp>
      <p:sp>
        <p:nvSpPr>
          <p:cNvPr id="20" name="Text 18"/>
          <p:cNvSpPr/>
          <p:nvPr/>
        </p:nvSpPr>
        <p:spPr>
          <a:xfrm>
            <a:off x="812800" y="4099223"/>
            <a:ext cx="10883392" cy="30162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16232E"/>
                </a:solidFill>
                <a:latin typeface="IBM Plex Sans" pitchFamily="34" charset="0"/>
                <a:ea typeface="IBM Plex Sans" pitchFamily="34" charset="-122"/>
                <a:cs typeface="IBM Plex Sans" pitchFamily="34" charset="-120"/>
              </a:rPr>
              <a:t>With aliases, rollback is moving </a:t>
            </a:r>
            <a:r>
              <a:rPr lang="en-US" sz="1500" dirty="0">
                <a:solidFill>
                  <a:srgbClr val="0E6F6D"/>
                </a:solidFill>
                <a:latin typeface="IBM Plex Sans" pitchFamily="34" charset="0"/>
                <a:ea typeface="IBM Plex Sans" pitchFamily="34" charset="-122"/>
                <a:cs typeface="IBM Plex Sans" pitchFamily="34" charset="-120"/>
              </a:rPr>
              <a:t>@production</a:t>
            </a:r>
            <a:r>
              <a:rPr lang="en-US" sz="1500" dirty="0">
                <a:solidFill>
                  <a:srgbClr val="16232E"/>
                </a:solidFill>
                <a:latin typeface="IBM Plex Sans" pitchFamily="34" charset="0"/>
                <a:ea typeface="IBM Plex Sans" pitchFamily="34" charset="-122"/>
                <a:cs typeface="IBM Plex Sans" pitchFamily="34" charset="-120"/>
              </a:rPr>
              <a:t> back — a pointer move, not a rebuild.</a:t>
            </a:r>
            <a:endParaRPr lang="en-US" sz="1500" dirty="0"/>
          </a:p>
        </p:txBody>
      </p:sp>
      <p:sp>
        <p:nvSpPr>
          <p:cNvPr id="21" name="Text 1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2 · M4 + Lab 3a</a:t>
            </a:r>
            <a:endParaRPr lang="en-US" sz="1200" dirty="0"/>
          </a:p>
        </p:txBody>
      </p:sp>
      <p:sp>
        <p:nvSpPr>
          <p:cNvPr id="22" name="Text 20"/>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19</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0">
    <p:bg>
      <p:bgPr>
        <a:solidFill>
          <a:srgbClr val="16232E"/>
        </a:solidFill>
        <a:effectLst/>
      </p:bgPr>
    </p:bg>
    <p:spTree>
      <p:nvGrpSpPr>
        <p:cNvPr id="1" name=""/>
        <p:cNvGrpSpPr/>
        <p:nvPr/>
      </p:nvGrpSpPr>
      <p:grpSpPr>
        <a:xfrm>
          <a:off x="0" y="0"/>
          <a:ext cx="0" cy="0"/>
          <a:chOff x="0" y="0"/>
          <a:chExt cx="0" cy="0"/>
        </a:xfrm>
      </p:grpSpPr>
      <p:sp>
        <p:nvSpPr>
          <p:cNvPr id="2" name="Text 0"/>
          <p:cNvSpPr/>
          <p:nvPr/>
        </p:nvSpPr>
        <p:spPr>
          <a:xfrm>
            <a:off x="812800" y="1934270"/>
            <a:ext cx="4709160"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E3A63B"/>
                </a:solidFill>
                <a:latin typeface="JetBrains Mono" pitchFamily="34" charset="0"/>
                <a:ea typeface="JetBrains Mono" pitchFamily="34" charset="-122"/>
                <a:cs typeface="JetBrains Mono" pitchFamily="34" charset="-120"/>
              </a:rPr>
              <a:t>Lab 3a</a:t>
            </a:r>
            <a:endParaRPr lang="en-US" sz="6000" dirty="0"/>
          </a:p>
        </p:txBody>
      </p:sp>
      <p:sp>
        <p:nvSpPr>
          <p:cNvPr id="3" name="Text 1"/>
          <p:cNvSpPr/>
          <p:nvPr/>
        </p:nvSpPr>
        <p:spPr>
          <a:xfrm>
            <a:off x="812800" y="2874070"/>
            <a:ext cx="4709160" cy="901700"/>
          </a:xfrm>
          <a:prstGeom prst="rect">
            <a:avLst/>
          </a:prstGeom>
          <a:noFill/>
          <a:ln/>
        </p:spPr>
        <p:txBody>
          <a:bodyPr wrap="square" lIns="0" tIns="0" rIns="0" bIns="0" rtlCol="0" anchor="t">
            <a:normAutofit/>
          </a:bodyPr>
          <a:lstStyle/>
          <a:p>
            <a:pPr marL="0" indent="0" algn="l">
              <a:lnSpc>
                <a:spcPts val="3450"/>
              </a:lnSpc>
              <a:buNone/>
            </a:pPr>
            <a:r>
              <a:rPr lang="en-US" sz="3000" b="1" dirty="0">
                <a:solidFill>
                  <a:srgbClr val="F6F4EE"/>
                </a:solidFill>
                <a:latin typeface="IBM Plex Sans" pitchFamily="34" charset="0"/>
                <a:ea typeface="IBM Plex Sans" pitchFamily="34" charset="-122"/>
                <a:cs typeface="IBM Plex Sans" pitchFamily="34" charset="-120"/>
              </a:rPr>
              <a:t>The serving UI &amp; fundamentals</a:t>
            </a:r>
            <a:endParaRPr lang="en-US" sz="3000" dirty="0"/>
          </a:p>
        </p:txBody>
      </p:sp>
      <p:sp>
        <p:nvSpPr>
          <p:cNvPr id="4" name="Text 2"/>
          <p:cNvSpPr/>
          <p:nvPr/>
        </p:nvSpPr>
        <p:spPr>
          <a:xfrm>
            <a:off x="812800" y="3928170"/>
            <a:ext cx="4709160" cy="81776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B8C5CB"/>
                </a:solidFill>
                <a:latin typeface="JetBrains Mono" pitchFamily="34" charset="0"/>
                <a:ea typeface="JetBrains Mono" pitchFamily="34" charset="-122"/>
                <a:cs typeface="JetBrains Mono" pitchFamily="34" charset="-120"/>
              </a:rPr>
              <a:t>pip install fastapi uvicorn requests streamlit</a:t>
            </a:r>
            <a:endParaRPr lang="en-US" sz="1300" dirty="0"/>
          </a:p>
          <a:p>
            <a:pPr marL="0" indent="0" algn="l">
              <a:lnSpc>
                <a:spcPts val="2080"/>
              </a:lnSpc>
              <a:buNone/>
            </a:pPr>
            <a:r>
              <a:rPr lang="en-US" sz="1300" dirty="0">
                <a:solidFill>
                  <a:srgbClr val="B8C5CB"/>
                </a:solidFill>
                <a:latin typeface="JetBrains Mono" pitchFamily="34" charset="0"/>
                <a:ea typeface="JetBrains Mono" pitchFamily="34" charset="-122"/>
                <a:cs typeface="JetBrains Mono" pitchFamily="34" charset="-120"/>
              </a:rPr>
              <a:t>uvicorn serving.api:app --port 8000</a:t>
            </a:r>
            <a:endParaRPr lang="en-US" sz="1300" dirty="0"/>
          </a:p>
          <a:p>
            <a:pPr marL="0" indent="0" algn="l">
              <a:lnSpc>
                <a:spcPts val="2080"/>
              </a:lnSpc>
              <a:buNone/>
            </a:pPr>
            <a:r>
              <a:rPr lang="en-US" sz="1300" dirty="0">
                <a:solidFill>
                  <a:srgbClr val="B8C5CB"/>
                </a:solidFill>
                <a:latin typeface="JetBrains Mono" pitchFamily="34" charset="0"/>
                <a:ea typeface="JetBrains Mono" pitchFamily="34" charset="-122"/>
                <a:cs typeface="JetBrains Mono" pitchFamily="34" charset="-120"/>
              </a:rPr>
              <a:t>streamlit run serving/planner_app.py</a:t>
            </a:r>
            <a:endParaRPr lang="en-US" sz="1300" dirty="0"/>
          </a:p>
        </p:txBody>
      </p:sp>
      <p:sp>
        <p:nvSpPr>
          <p:cNvPr id="5" name="Shape 3"/>
          <p:cNvSpPr/>
          <p:nvPr/>
        </p:nvSpPr>
        <p:spPr>
          <a:xfrm>
            <a:off x="5994400" y="2268339"/>
            <a:ext cx="5384800" cy="0"/>
          </a:xfrm>
          <a:prstGeom prst="line">
            <a:avLst/>
          </a:prstGeom>
          <a:noFill/>
          <a:ln w="12700">
            <a:solidFill>
              <a:srgbClr val="3A4B57"/>
            </a:solidFill>
            <a:prstDash val="solid"/>
          </a:ln>
        </p:spPr>
        <p:txBody>
          <a:bodyPr/>
          <a:lstStyle/>
          <a:p>
            <a:endParaRPr lang="en-IN"/>
          </a:p>
        </p:txBody>
      </p:sp>
      <p:sp>
        <p:nvSpPr>
          <p:cNvPr id="6" name="Text 4"/>
          <p:cNvSpPr/>
          <p:nvPr/>
        </p:nvSpPr>
        <p:spPr>
          <a:xfrm>
            <a:off x="5994400" y="2388989"/>
            <a:ext cx="188020"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E3A63B"/>
                </a:solidFill>
                <a:latin typeface="JetBrains Mono" pitchFamily="34" charset="0"/>
                <a:ea typeface="JetBrains Mono" pitchFamily="34" charset="-122"/>
                <a:cs typeface="JetBrains Mono" pitchFamily="34" charset="-120"/>
              </a:rPr>
              <a:t>1</a:t>
            </a:r>
            <a:endParaRPr lang="en-US" sz="1800" dirty="0"/>
          </a:p>
        </p:txBody>
      </p:sp>
      <p:sp>
        <p:nvSpPr>
          <p:cNvPr id="7" name="Text 5"/>
          <p:cNvSpPr/>
          <p:nvPr/>
        </p:nvSpPr>
        <p:spPr>
          <a:xfrm>
            <a:off x="6258620" y="2406749"/>
            <a:ext cx="2612725"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6F4EE"/>
                </a:solidFill>
                <a:latin typeface="IBM Plex Sans" pitchFamily="34" charset="0"/>
                <a:ea typeface="IBM Plex Sans" pitchFamily="34" charset="-122"/>
                <a:cs typeface="IBM Plex Sans" pitchFamily="34" charset="-120"/>
              </a:rPr>
              <a:t>The first production request</a:t>
            </a:r>
            <a:endParaRPr lang="en-US" sz="1600" dirty="0"/>
          </a:p>
        </p:txBody>
      </p:sp>
      <p:sp>
        <p:nvSpPr>
          <p:cNvPr id="8" name="Shape 6"/>
          <p:cNvSpPr/>
          <p:nvPr/>
        </p:nvSpPr>
        <p:spPr>
          <a:xfrm>
            <a:off x="5994400" y="2829620"/>
            <a:ext cx="5384800" cy="0"/>
          </a:xfrm>
          <a:prstGeom prst="line">
            <a:avLst/>
          </a:prstGeom>
          <a:noFill/>
          <a:ln w="12700">
            <a:solidFill>
              <a:srgbClr val="3A4B57"/>
            </a:solidFill>
            <a:prstDash val="solid"/>
          </a:ln>
        </p:spPr>
        <p:txBody>
          <a:bodyPr/>
          <a:lstStyle/>
          <a:p>
            <a:endParaRPr lang="en-IN"/>
          </a:p>
        </p:txBody>
      </p:sp>
      <p:sp>
        <p:nvSpPr>
          <p:cNvPr id="9" name="Text 7"/>
          <p:cNvSpPr/>
          <p:nvPr/>
        </p:nvSpPr>
        <p:spPr>
          <a:xfrm>
            <a:off x="5994400" y="2950270"/>
            <a:ext cx="188020"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E3A63B"/>
                </a:solidFill>
                <a:latin typeface="JetBrains Mono" pitchFamily="34" charset="0"/>
                <a:ea typeface="JetBrains Mono" pitchFamily="34" charset="-122"/>
                <a:cs typeface="JetBrains Mono" pitchFamily="34" charset="-120"/>
              </a:rPr>
              <a:t>2</a:t>
            </a:r>
            <a:endParaRPr lang="en-US" sz="1800" dirty="0"/>
          </a:p>
        </p:txBody>
      </p:sp>
      <p:sp>
        <p:nvSpPr>
          <p:cNvPr id="10" name="Text 8"/>
          <p:cNvSpPr/>
          <p:nvPr/>
        </p:nvSpPr>
        <p:spPr>
          <a:xfrm>
            <a:off x="6258620" y="2968030"/>
            <a:ext cx="160407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6F4EE"/>
                </a:solidFill>
                <a:latin typeface="IBM Plex Sans" pitchFamily="34" charset="0"/>
                <a:ea typeface="IBM Plex Sans" pitchFamily="34" charset="-122"/>
                <a:cs typeface="IBM Plex Sans" pitchFamily="34" charset="-120"/>
              </a:rPr>
              <a:t>Alive is not ready</a:t>
            </a:r>
            <a:endParaRPr lang="en-US" sz="1600" dirty="0"/>
          </a:p>
        </p:txBody>
      </p:sp>
      <p:sp>
        <p:nvSpPr>
          <p:cNvPr id="11" name="Shape 9"/>
          <p:cNvSpPr/>
          <p:nvPr/>
        </p:nvSpPr>
        <p:spPr>
          <a:xfrm>
            <a:off x="5994400" y="3390900"/>
            <a:ext cx="5384800" cy="0"/>
          </a:xfrm>
          <a:prstGeom prst="line">
            <a:avLst/>
          </a:prstGeom>
          <a:noFill/>
          <a:ln w="12700">
            <a:solidFill>
              <a:srgbClr val="3A4B57"/>
            </a:solidFill>
            <a:prstDash val="solid"/>
          </a:ln>
        </p:spPr>
        <p:txBody>
          <a:bodyPr/>
          <a:lstStyle/>
          <a:p>
            <a:endParaRPr lang="en-IN"/>
          </a:p>
        </p:txBody>
      </p:sp>
      <p:sp>
        <p:nvSpPr>
          <p:cNvPr id="12" name="Text 10"/>
          <p:cNvSpPr/>
          <p:nvPr/>
        </p:nvSpPr>
        <p:spPr>
          <a:xfrm>
            <a:off x="5994400" y="3511550"/>
            <a:ext cx="188020"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E3A63B"/>
                </a:solidFill>
                <a:latin typeface="JetBrains Mono" pitchFamily="34" charset="0"/>
                <a:ea typeface="JetBrains Mono" pitchFamily="34" charset="-122"/>
                <a:cs typeface="JetBrains Mono" pitchFamily="34" charset="-120"/>
              </a:rPr>
              <a:t>3</a:t>
            </a:r>
            <a:endParaRPr lang="en-US" sz="1800" dirty="0"/>
          </a:p>
        </p:txBody>
      </p:sp>
      <p:sp>
        <p:nvSpPr>
          <p:cNvPr id="13" name="Text 11"/>
          <p:cNvSpPr/>
          <p:nvPr/>
        </p:nvSpPr>
        <p:spPr>
          <a:xfrm>
            <a:off x="6258620" y="3529310"/>
            <a:ext cx="2886711"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6F4EE"/>
                </a:solidFill>
                <a:latin typeface="IBM Plex Sans" pitchFamily="34" charset="0"/>
                <a:ea typeface="IBM Plex Sans" pitchFamily="34" charset="-122"/>
                <a:cs typeface="IBM Plex Sans" pitchFamily="34" charset="-120"/>
              </a:rPr>
              <a:t>Consume the registered model</a:t>
            </a:r>
            <a:endParaRPr lang="en-US" sz="1600" dirty="0"/>
          </a:p>
        </p:txBody>
      </p:sp>
      <p:sp>
        <p:nvSpPr>
          <p:cNvPr id="14" name="Shape 12"/>
          <p:cNvSpPr/>
          <p:nvPr/>
        </p:nvSpPr>
        <p:spPr>
          <a:xfrm>
            <a:off x="5994400" y="3952180"/>
            <a:ext cx="5384800" cy="0"/>
          </a:xfrm>
          <a:prstGeom prst="line">
            <a:avLst/>
          </a:prstGeom>
          <a:noFill/>
          <a:ln w="12700">
            <a:solidFill>
              <a:srgbClr val="3A4B57"/>
            </a:solidFill>
            <a:prstDash val="solid"/>
          </a:ln>
        </p:spPr>
        <p:txBody>
          <a:bodyPr/>
          <a:lstStyle/>
          <a:p>
            <a:endParaRPr lang="en-IN"/>
          </a:p>
        </p:txBody>
      </p:sp>
      <p:sp>
        <p:nvSpPr>
          <p:cNvPr id="15" name="Text 13"/>
          <p:cNvSpPr/>
          <p:nvPr/>
        </p:nvSpPr>
        <p:spPr>
          <a:xfrm>
            <a:off x="5994400" y="4072830"/>
            <a:ext cx="188020"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E3A63B"/>
                </a:solidFill>
                <a:latin typeface="JetBrains Mono" pitchFamily="34" charset="0"/>
                <a:ea typeface="JetBrains Mono" pitchFamily="34" charset="-122"/>
                <a:cs typeface="JetBrains Mono" pitchFamily="34" charset="-120"/>
              </a:rPr>
              <a:t>4</a:t>
            </a:r>
            <a:endParaRPr lang="en-US" sz="1800" dirty="0"/>
          </a:p>
        </p:txBody>
      </p:sp>
      <p:sp>
        <p:nvSpPr>
          <p:cNvPr id="16" name="Text 14"/>
          <p:cNvSpPr/>
          <p:nvPr/>
        </p:nvSpPr>
        <p:spPr>
          <a:xfrm>
            <a:off x="6258620" y="4090591"/>
            <a:ext cx="252524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6F4EE"/>
                </a:solidFill>
                <a:latin typeface="IBM Plex Sans" pitchFamily="34" charset="0"/>
                <a:ea typeface="IBM Plex Sans" pitchFamily="34" charset="-122"/>
                <a:cs typeface="IBM Plex Sans" pitchFamily="34" charset="-120"/>
              </a:rPr>
              <a:t>Give planners a usable app</a:t>
            </a:r>
            <a:endParaRPr lang="en-US" sz="16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C5CB"/>
                </a:solidFill>
                <a:latin typeface="JetBrains Mono" pitchFamily="34" charset="0"/>
                <a:ea typeface="JetBrains Mono" pitchFamily="34" charset="-122"/>
                <a:cs typeface="JetBrains Mono" pitchFamily="34" charset="-120"/>
              </a:rPr>
              <a:t>From Pipelines to Production · Day 2 · M4 + Lab 3a</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8C5CB"/>
                </a:solidFill>
                <a:latin typeface="JetBrains Mono" pitchFamily="34" charset="0"/>
                <a:ea typeface="JetBrains Mono" pitchFamily="34" charset="-122"/>
                <a:cs typeface="JetBrains Mono" pitchFamily="34" charset="-120"/>
              </a:rPr>
              <a:t>20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1">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MISSION 1 · THE FIRST PRODUCTION REQUEST</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Two ids in, a scored action out — and zero skew</a:t>
            </a:r>
            <a:endParaRPr lang="en-US" sz="3200" dirty="0"/>
          </a:p>
        </p:txBody>
      </p:sp>
      <p:sp>
        <p:nvSpPr>
          <p:cNvPr id="4" name="Shape 2"/>
          <p:cNvSpPr/>
          <p:nvPr/>
        </p:nvSpPr>
        <p:spPr>
          <a:xfrm>
            <a:off x="812800" y="1828701"/>
            <a:ext cx="4826000" cy="2229247"/>
          </a:xfrm>
          <a:prstGeom prst="roundRect">
            <a:avLst>
              <a:gd name="adj" fmla="val 4558"/>
            </a:avLst>
          </a:prstGeom>
          <a:solidFill>
            <a:srgbClr val="16232E"/>
          </a:solidFill>
          <a:ln/>
        </p:spPr>
        <p:txBody>
          <a:bodyPr/>
          <a:lstStyle/>
          <a:p>
            <a:endParaRPr lang="en-IN"/>
          </a:p>
        </p:txBody>
      </p:sp>
      <p:sp>
        <p:nvSpPr>
          <p:cNvPr id="5" name="Text 3"/>
          <p:cNvSpPr/>
          <p:nvPr/>
        </p:nvSpPr>
        <p:spPr>
          <a:xfrm>
            <a:off x="1041400" y="2057301"/>
            <a:ext cx="4499864" cy="1442244"/>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E7EEF0"/>
                </a:solidFill>
                <a:latin typeface="JetBrains Mono" pitchFamily="34" charset="0"/>
                <a:ea typeface="JetBrains Mono" pitchFamily="34" charset="-122"/>
                <a:cs typeface="JetBrains Mono" pitchFamily="34" charset="-120"/>
              </a:rPr>
              <a:t>$ curl -s -X POST localhost:8000/predict \</a:t>
            </a:r>
            <a:endParaRPr lang="en-US" sz="1200" dirty="0"/>
          </a:p>
          <a:p>
            <a:pPr marL="0" indent="0" algn="l">
              <a:lnSpc>
                <a:spcPts val="1860"/>
              </a:lnSpc>
              <a:buNone/>
            </a:pPr>
            <a:r>
              <a:rPr lang="en-US" sz="1200" dirty="0">
                <a:solidFill>
                  <a:srgbClr val="E7EEF0"/>
                </a:solidFill>
                <a:latin typeface="JetBrains Mono" pitchFamily="34" charset="0"/>
                <a:ea typeface="JetBrains Mono" pitchFamily="34" charset="-122"/>
                <a:cs typeface="JetBrains Mono" pitchFamily="34" charset="-120"/>
              </a:rPr>
              <a:t>-d {"store_id":"S001","product_id":"P0067"}</a:t>
            </a:r>
            <a:endParaRPr lang="en-US" sz="1200" dirty="0"/>
          </a:p>
          <a:p>
            <a:pPr marL="0" indent="0" algn="l">
              <a:lnSpc>
                <a:spcPts val="1860"/>
              </a:lnSpc>
              <a:buNone/>
            </a:pPr>
            <a:endParaRPr lang="en-US" sz="1200" dirty="0"/>
          </a:p>
          <a:p>
            <a:pPr marL="0" indent="0" algn="l">
              <a:lnSpc>
                <a:spcPts val="1860"/>
              </a:lnSpc>
              <a:buNone/>
            </a:pPr>
            <a:r>
              <a:rPr lang="en-US" sz="1200" dirty="0">
                <a:solidFill>
                  <a:srgbClr val="E7EEF0"/>
                </a:solidFill>
                <a:latin typeface="JetBrains Mono" pitchFamily="34" charset="0"/>
                <a:ea typeface="JetBrains Mono" pitchFamily="34" charset="-122"/>
                <a:cs typeface="JetBrains Mono" pitchFamily="34" charset="-120"/>
              </a:rPr>
              <a:t>reorder_probability: 0.2182</a:t>
            </a:r>
            <a:endParaRPr lang="en-US" sz="1200" dirty="0"/>
          </a:p>
          <a:p>
            <a:pPr marL="0" indent="0" algn="l">
              <a:lnSpc>
                <a:spcPts val="1860"/>
              </a:lnSpc>
              <a:buNone/>
            </a:pPr>
            <a:r>
              <a:rPr lang="en-US" sz="1200" dirty="0">
                <a:solidFill>
                  <a:srgbClr val="E7EEF0"/>
                </a:solidFill>
                <a:latin typeface="JetBrains Mono" pitchFamily="34" charset="0"/>
                <a:ea typeface="JetBrains Mono" pitchFamily="34" charset="-122"/>
                <a:cs typeface="JetBrains Mono" pitchFamily="34" charset="-120"/>
              </a:rPr>
              <a:t>action: add to watch list</a:t>
            </a:r>
            <a:endParaRPr lang="en-US" sz="1200" dirty="0"/>
          </a:p>
          <a:p>
            <a:pPr marL="0" indent="0" algn="l">
              <a:lnSpc>
                <a:spcPts val="1860"/>
              </a:lnSpc>
              <a:buNone/>
            </a:pPr>
            <a:r>
              <a:rPr lang="en-US" sz="1200" dirty="0">
                <a:solidFill>
                  <a:srgbClr val="E7EEF0"/>
                </a:solidFill>
                <a:latin typeface="JetBrains Mono" pitchFamily="34" charset="0"/>
                <a:ea typeface="JetBrains Mono" pitchFamily="34" charset="-122"/>
                <a:cs typeface="JetBrains Mono" pitchFamily="34" charset="-120"/>
              </a:rPr>
              <a:t>model_version: 1</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94400" y="1828701"/>
          <a:ext cx="5384800" cy="1662905"/>
        </p:xfrm>
        <a:graphic>
          <a:graphicData uri="http://schemas.openxmlformats.org/drawingml/2006/table">
            <a:tbl>
              <a:tblPr/>
              <a:tblGrid>
                <a:gridCol w="2369312">
                  <a:extLst>
                    <a:ext uri="{9D8B030D-6E8A-4147-A177-3AD203B41FA5}">
                      <a16:colId xmlns:a16="http://schemas.microsoft.com/office/drawing/2014/main" val="20000"/>
                    </a:ext>
                  </a:extLst>
                </a:gridCol>
                <a:gridCol w="1400048">
                  <a:extLst>
                    <a:ext uri="{9D8B030D-6E8A-4147-A177-3AD203B41FA5}">
                      <a16:colId xmlns:a16="http://schemas.microsoft.com/office/drawing/2014/main" val="20001"/>
                    </a:ext>
                  </a:extLst>
                </a:gridCol>
                <a:gridCol w="1615440">
                  <a:extLst>
                    <a:ext uri="{9D8B030D-6E8A-4147-A177-3AD203B41FA5}">
                      <a16:colId xmlns:a16="http://schemas.microsoft.com/office/drawing/2014/main" val="20002"/>
                    </a:ext>
                  </a:extLst>
                </a:gridCol>
              </a:tblGrid>
              <a:tr h="332581">
                <a:tc>
                  <a:txBody>
                    <a:bodyPr/>
                    <a:lstStyle/>
                    <a:p>
                      <a:pPr marL="0" indent="0">
                        <a:lnSpc>
                          <a:spcPts val="1680"/>
                        </a:lnSpc>
                        <a:buNone/>
                      </a:pPr>
                      <a:r>
                        <a:rPr lang="en-US" sz="1200" b="1" dirty="0">
                          <a:solidFill>
                            <a:srgbClr val="16232E"/>
                          </a:solidFill>
                          <a:latin typeface="IBM Plex Sans" pitchFamily="34" charset="0"/>
                          <a:ea typeface="IBM Plex Sans" pitchFamily="34" charset="-122"/>
                          <a:cs typeface="IBM Plex Sans" pitchFamily="34" charset="-120"/>
                        </a:rPr>
                        <a:t>Feature (S018/P0001)</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tc>
                  <a:txBody>
                    <a:bodyPr/>
                    <a:lstStyle/>
                    <a:p>
                      <a:pPr marL="0" indent="0">
                        <a:lnSpc>
                          <a:spcPts val="1680"/>
                        </a:lnSpc>
                        <a:buNone/>
                      </a:pPr>
                      <a:r>
                        <a:rPr lang="en-US" sz="1200" b="1" dirty="0">
                          <a:solidFill>
                            <a:srgbClr val="16232E"/>
                          </a:solidFill>
                          <a:latin typeface="IBM Plex Sans" pitchFamily="34" charset="0"/>
                          <a:ea typeface="IBM Plex Sans" pitchFamily="34" charset="-122"/>
                          <a:cs typeface="IBM Plex Sans" pitchFamily="34" charset="-120"/>
                        </a:rPr>
                        <a:t>Training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tc>
                  <a:txBody>
                    <a:bodyPr/>
                    <a:lstStyle/>
                    <a:p>
                      <a:pPr marL="0" indent="0">
                        <a:lnSpc>
                          <a:spcPts val="1680"/>
                        </a:lnSpc>
                        <a:buNone/>
                      </a:pPr>
                      <a:r>
                        <a:rPr lang="en-US" sz="1200" b="1" dirty="0">
                          <a:solidFill>
                            <a:srgbClr val="16232E"/>
                          </a:solidFill>
                          <a:latin typeface="IBM Plex Sans" pitchFamily="34" charset="0"/>
                          <a:ea typeface="IBM Plex Sans" pitchFamily="34" charset="-122"/>
                          <a:cs typeface="IBM Plex Sans" pitchFamily="34" charset="-120"/>
                        </a:rPr>
                        <a:t>Serving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16232E"/>
                          </a:solidFill>
                          <a:latin typeface="IBM Plex Sans" pitchFamily="34" charset="0"/>
                          <a:ea typeface="IBM Plex Sans" pitchFamily="34" charset="-122"/>
                          <a:cs typeface="IBM Plex Sans" pitchFamily="34" charset="-120"/>
                        </a:rPr>
                        <a:t>units_7d</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680"/>
                        </a:lnSpc>
                        <a:buNone/>
                      </a:pPr>
                      <a:r>
                        <a:rPr lang="en-US" sz="1200" dirty="0">
                          <a:solidFill>
                            <a:srgbClr val="16232E"/>
                          </a:solidFill>
                          <a:latin typeface="IBM Plex Sans" pitchFamily="34" charset="0"/>
                          <a:ea typeface="IBM Plex Sans" pitchFamily="34" charset="-122"/>
                          <a:cs typeface="IBM Plex Sans" pitchFamily="34" charset="-120"/>
                        </a:rPr>
                        <a:t>5.000</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680"/>
                        </a:lnSpc>
                        <a:buNone/>
                      </a:pPr>
                      <a:r>
                        <a:rPr lang="en-US" sz="1200" dirty="0">
                          <a:solidFill>
                            <a:srgbClr val="16232E"/>
                          </a:solidFill>
                          <a:latin typeface="IBM Plex Sans" pitchFamily="34" charset="0"/>
                          <a:ea typeface="IBM Plex Sans" pitchFamily="34" charset="-122"/>
                          <a:cs typeface="IBM Plex Sans" pitchFamily="34" charset="-120"/>
                        </a:rPr>
                        <a:t>5.000000</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16232E"/>
                          </a:solidFill>
                          <a:latin typeface="IBM Plex Sans" pitchFamily="34" charset="0"/>
                          <a:ea typeface="IBM Plex Sans" pitchFamily="34" charset="-122"/>
                          <a:cs typeface="IBM Plex Sans" pitchFamily="34" charset="-120"/>
                        </a:rPr>
                        <a:t>trend_ratio</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680"/>
                        </a:lnSpc>
                        <a:buNone/>
                      </a:pPr>
                      <a:r>
                        <a:rPr lang="en-US" sz="1200" dirty="0">
                          <a:solidFill>
                            <a:srgbClr val="16232E"/>
                          </a:solidFill>
                          <a:latin typeface="IBM Plex Sans" pitchFamily="34" charset="0"/>
                          <a:ea typeface="IBM Plex Sans" pitchFamily="34" charset="-122"/>
                          <a:cs typeface="IBM Plex Sans" pitchFamily="34" charset="-120"/>
                        </a:rPr>
                        <a:t>4.000</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680"/>
                        </a:lnSpc>
                        <a:buNone/>
                      </a:pPr>
                      <a:r>
                        <a:rPr lang="en-US" sz="1200" dirty="0">
                          <a:solidFill>
                            <a:srgbClr val="16232E"/>
                          </a:solidFill>
                          <a:latin typeface="IBM Plex Sans" pitchFamily="34" charset="0"/>
                          <a:ea typeface="IBM Plex Sans" pitchFamily="34" charset="-122"/>
                          <a:cs typeface="IBM Plex Sans" pitchFamily="34" charset="-120"/>
                        </a:rPr>
                        <a:t>4.000000</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16232E"/>
                          </a:solidFill>
                          <a:latin typeface="IBM Plex Sans" pitchFamily="34" charset="0"/>
                          <a:ea typeface="IBM Plex Sans" pitchFamily="34" charset="-122"/>
                          <a:cs typeface="IBM Plex Sans" pitchFamily="34" charset="-120"/>
                        </a:rPr>
                        <a:t>avg_unit_price_7d</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680"/>
                        </a:lnSpc>
                        <a:buNone/>
                      </a:pPr>
                      <a:r>
                        <a:rPr lang="en-US" sz="1200" dirty="0">
                          <a:solidFill>
                            <a:srgbClr val="16232E"/>
                          </a:solidFill>
                          <a:latin typeface="IBM Plex Sans" pitchFamily="34" charset="0"/>
                          <a:ea typeface="IBM Plex Sans" pitchFamily="34" charset="-122"/>
                          <a:cs typeface="IBM Plex Sans" pitchFamily="34" charset="-120"/>
                        </a:rPr>
                        <a:t>399.410</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1680"/>
                        </a:lnSpc>
                        <a:buNone/>
                      </a:pPr>
                      <a:r>
                        <a:rPr lang="en-US" sz="1200" dirty="0">
                          <a:solidFill>
                            <a:srgbClr val="16232E"/>
                          </a:solidFill>
                          <a:latin typeface="IBM Plex Sans" pitchFamily="34" charset="0"/>
                          <a:ea typeface="IBM Plex Sans" pitchFamily="34" charset="-122"/>
                          <a:cs typeface="IBM Plex Sans" pitchFamily="34" charset="-120"/>
                        </a:rPr>
                        <a:t>399.410004</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16232E"/>
                          </a:solidFill>
                          <a:latin typeface="IBM Plex Sans" pitchFamily="34" charset="0"/>
                          <a:ea typeface="IBM Plex Sans" pitchFamily="34" charset="-122"/>
                          <a:cs typeface="IBM Plex Sans" pitchFamily="34" charset="-120"/>
                        </a:rPr>
                        <a:t>lead_time_days</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680"/>
                        </a:lnSpc>
                        <a:buNone/>
                      </a:pPr>
                      <a:r>
                        <a:rPr lang="en-US" sz="1200" dirty="0">
                          <a:solidFill>
                            <a:srgbClr val="16232E"/>
                          </a:solidFill>
                          <a:latin typeface="IBM Plex Sans" pitchFamily="34" charset="0"/>
                          <a:ea typeface="IBM Plex Sans" pitchFamily="34" charset="-122"/>
                          <a:cs typeface="IBM Plex Sans" pitchFamily="34" charset="-120"/>
                        </a:rPr>
                        <a:t>2.000</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680"/>
                        </a:lnSpc>
                        <a:buNone/>
                      </a:pPr>
                      <a:r>
                        <a:rPr lang="en-US" sz="1200" dirty="0">
                          <a:solidFill>
                            <a:srgbClr val="16232E"/>
                          </a:solidFill>
                          <a:latin typeface="IBM Plex Sans" pitchFamily="34" charset="0"/>
                          <a:ea typeface="IBM Plex Sans" pitchFamily="34" charset="-122"/>
                          <a:cs typeface="IBM Plex Sans" pitchFamily="34" charset="-120"/>
                        </a:rPr>
                        <a:t>2.000000</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4"/>
          <p:cNvSpPr/>
          <p:nvPr/>
        </p:nvSpPr>
        <p:spPr>
          <a:xfrm>
            <a:off x="5994400" y="3809107"/>
            <a:ext cx="5546344"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6232E"/>
                </a:solidFill>
                <a:latin typeface="IBM Plex Sans" pitchFamily="34" charset="0"/>
                <a:ea typeface="IBM Plex Sans" pitchFamily="34" charset="-122"/>
                <a:cs typeface="IBM Plex Sans" pitchFamily="34" charset="-120"/>
              </a:rPr>
              <a:t>0 mismatches</a:t>
            </a:r>
            <a:r>
              <a:rPr lang="en-US" sz="1400" dirty="0">
                <a:solidFill>
                  <a:srgbClr val="16232E"/>
                </a:solidFill>
                <a:latin typeface="IBM Plex Sans" pitchFamily="34" charset="0"/>
                <a:ea typeface="IBM Plex Sans" pitchFamily="34" charset="-122"/>
                <a:cs typeface="IBM Plex Sans" pitchFamily="34" charset="-120"/>
              </a:rPr>
              <a:t> beyond 0.01 across all eight features.</a:t>
            </a:r>
            <a:endParaRPr lang="en-US" sz="1400" dirty="0"/>
          </a:p>
        </p:txBody>
      </p:sp>
      <p:sp>
        <p:nvSpPr>
          <p:cNvPr id="8" name="Text 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2 · M4 + Lab 3a</a:t>
            </a:r>
            <a:endParaRPr lang="en-US" sz="1200" dirty="0"/>
          </a:p>
        </p:txBody>
      </p:sp>
      <p:sp>
        <p:nvSpPr>
          <p:cNvPr id="9" name="Text 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21</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MISSION 2 · ALIVE IS NOT READY</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Measure where the time goes before optimising</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828701"/>
          <a:ext cx="6273800" cy="1651000"/>
        </p:xfrm>
        <a:graphic>
          <a:graphicData uri="http://schemas.openxmlformats.org/drawingml/2006/table">
            <a:tbl>
              <a:tblPr/>
              <a:tblGrid>
                <a:gridCol w="3136900">
                  <a:extLst>
                    <a:ext uri="{9D8B030D-6E8A-4147-A177-3AD203B41FA5}">
                      <a16:colId xmlns:a16="http://schemas.microsoft.com/office/drawing/2014/main" val="20000"/>
                    </a:ext>
                  </a:extLst>
                </a:gridCol>
                <a:gridCol w="1568450">
                  <a:extLst>
                    <a:ext uri="{9D8B030D-6E8A-4147-A177-3AD203B41FA5}">
                      <a16:colId xmlns:a16="http://schemas.microsoft.com/office/drawing/2014/main" val="20001"/>
                    </a:ext>
                  </a:extLst>
                </a:gridCol>
                <a:gridCol w="1568450">
                  <a:extLst>
                    <a:ext uri="{9D8B030D-6E8A-4147-A177-3AD203B41FA5}">
                      <a16:colId xmlns:a16="http://schemas.microsoft.com/office/drawing/2014/main" val="20002"/>
                    </a:ext>
                  </a:extLst>
                </a:gridCol>
              </a:tblGrid>
              <a:tr h="412750">
                <a:tc>
                  <a:txBody>
                    <a:bodyPr/>
                    <a:lstStyle/>
                    <a:p>
                      <a:pPr marL="0" indent="0">
                        <a:lnSpc>
                          <a:spcPts val="2100"/>
                        </a:lnSpc>
                        <a:buNone/>
                      </a:pPr>
                      <a:r>
                        <a:rPr lang="en-US" sz="1500" b="1" dirty="0">
                          <a:solidFill>
                            <a:srgbClr val="16232E"/>
                          </a:solidFill>
                          <a:latin typeface="IBM Plex Sans" pitchFamily="34" charset="0"/>
                          <a:ea typeface="IBM Plex Sans" pitchFamily="34" charset="-122"/>
                          <a:cs typeface="IBM Plex Sans" pitchFamily="34" charset="-120"/>
                        </a:rPr>
                        <a:t>Leg (n = 50)</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tc>
                  <a:txBody>
                    <a:bodyPr/>
                    <a:lstStyle/>
                    <a:p>
                      <a:pPr marL="0" indent="0">
                        <a:lnSpc>
                          <a:spcPts val="2100"/>
                        </a:lnSpc>
                        <a:buNone/>
                      </a:pPr>
                      <a:r>
                        <a:rPr lang="en-US" sz="1500" b="1" dirty="0">
                          <a:solidFill>
                            <a:srgbClr val="16232E"/>
                          </a:solidFill>
                          <a:latin typeface="IBM Plex Sans" pitchFamily="34" charset="0"/>
                          <a:ea typeface="IBM Plex Sans" pitchFamily="34" charset="-122"/>
                          <a:cs typeface="IBM Plex Sans" pitchFamily="34" charset="-120"/>
                        </a:rPr>
                        <a:t>p50</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tc>
                  <a:txBody>
                    <a:bodyPr/>
                    <a:lstStyle/>
                    <a:p>
                      <a:pPr marL="0" indent="0">
                        <a:lnSpc>
                          <a:spcPts val="2100"/>
                        </a:lnSpc>
                        <a:buNone/>
                      </a:pPr>
                      <a:r>
                        <a:rPr lang="en-US" sz="1500" b="1" dirty="0">
                          <a:solidFill>
                            <a:srgbClr val="16232E"/>
                          </a:solidFill>
                          <a:latin typeface="IBM Plex Sans" pitchFamily="34" charset="0"/>
                          <a:ea typeface="IBM Plex Sans" pitchFamily="34" charset="-122"/>
                          <a:cs typeface="IBM Plex Sans" pitchFamily="34" charset="-120"/>
                        </a:rPr>
                        <a:t>p95</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E4E3DF"/>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16232E"/>
                          </a:solidFill>
                          <a:latin typeface="IBM Plex Sans" pitchFamily="34" charset="0"/>
                          <a:ea typeface="IBM Plex Sans" pitchFamily="34" charset="-122"/>
                          <a:cs typeface="IBM Plex Sans" pitchFamily="34" charset="-120"/>
                        </a:rPr>
                        <a:t>Feature lookup</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2100"/>
                        </a:lnSpc>
                        <a:buNone/>
                      </a:pPr>
                      <a:r>
                        <a:rPr lang="en-US" sz="1500" dirty="0">
                          <a:solidFill>
                            <a:srgbClr val="16232E"/>
                          </a:solidFill>
                          <a:latin typeface="IBM Plex Sans" pitchFamily="34" charset="0"/>
                          <a:ea typeface="IBM Plex Sans" pitchFamily="34" charset="-122"/>
                          <a:cs typeface="IBM Plex Sans" pitchFamily="34" charset="-120"/>
                        </a:rPr>
                        <a:t>0.37 ms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2100"/>
                        </a:lnSpc>
                        <a:buNone/>
                      </a:pPr>
                      <a:r>
                        <a:rPr lang="en-US" sz="1500" dirty="0">
                          <a:solidFill>
                            <a:srgbClr val="16232E"/>
                          </a:solidFill>
                          <a:latin typeface="IBM Plex Sans" pitchFamily="34" charset="0"/>
                          <a:ea typeface="IBM Plex Sans" pitchFamily="34" charset="-122"/>
                          <a:cs typeface="IBM Plex Sans" pitchFamily="34" charset="-120"/>
                        </a:rPr>
                        <a:t>0.43 ms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16232E"/>
                          </a:solidFill>
                          <a:latin typeface="IBM Plex Sans" pitchFamily="34" charset="0"/>
                          <a:ea typeface="IBM Plex Sans" pitchFamily="34" charset="-122"/>
                          <a:cs typeface="IBM Plex Sans" pitchFamily="34" charset="-120"/>
                        </a:rPr>
                        <a:t>Model predict</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2100"/>
                        </a:lnSpc>
                        <a:buNone/>
                      </a:pPr>
                      <a:r>
                        <a:rPr lang="en-US" sz="1500" dirty="0">
                          <a:solidFill>
                            <a:srgbClr val="16232E"/>
                          </a:solidFill>
                          <a:latin typeface="IBM Plex Sans" pitchFamily="34" charset="0"/>
                          <a:ea typeface="IBM Plex Sans" pitchFamily="34" charset="-122"/>
                          <a:cs typeface="IBM Plex Sans" pitchFamily="34" charset="-120"/>
                        </a:rPr>
                        <a:t>1.35 ms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2100"/>
                        </a:lnSpc>
                        <a:buNone/>
                      </a:pPr>
                      <a:r>
                        <a:rPr lang="en-US" sz="1500" dirty="0">
                          <a:solidFill>
                            <a:srgbClr val="16232E"/>
                          </a:solidFill>
                          <a:latin typeface="IBM Plex Sans" pitchFamily="34" charset="0"/>
                          <a:ea typeface="IBM Plex Sans" pitchFamily="34" charset="-122"/>
                          <a:cs typeface="IBM Plex Sans" pitchFamily="34" charset="-120"/>
                        </a:rPr>
                        <a:t>1.73 ms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16232E"/>
                          </a:solidFill>
                          <a:latin typeface="IBM Plex Sans" pitchFamily="34" charset="0"/>
                          <a:ea typeface="IBM Plex Sans" pitchFamily="34" charset="-122"/>
                          <a:cs typeface="IBM Plex Sans" pitchFamily="34" charset="-120"/>
                        </a:rPr>
                        <a:t>End to end</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2100"/>
                        </a:lnSpc>
                        <a:buNone/>
                      </a:pPr>
                      <a:r>
                        <a:rPr lang="en-US" sz="1500" dirty="0">
                          <a:solidFill>
                            <a:srgbClr val="16232E"/>
                          </a:solidFill>
                          <a:latin typeface="IBM Plex Sans" pitchFamily="34" charset="0"/>
                          <a:ea typeface="IBM Plex Sans" pitchFamily="34" charset="-122"/>
                          <a:cs typeface="IBM Plex Sans" pitchFamily="34" charset="-120"/>
                        </a:rPr>
                        <a:t>1.72 ms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tc>
                  <a:txBody>
                    <a:bodyPr/>
                    <a:lstStyle/>
                    <a:p>
                      <a:pPr marL="0" indent="0">
                        <a:lnSpc>
                          <a:spcPts val="2100"/>
                        </a:lnSpc>
                        <a:buNone/>
                      </a:pPr>
                      <a:r>
                        <a:rPr lang="en-US" sz="1500" dirty="0">
                          <a:solidFill>
                            <a:srgbClr val="16232E"/>
                          </a:solidFill>
                          <a:latin typeface="IBM Plex Sans" pitchFamily="34" charset="0"/>
                          <a:ea typeface="IBM Plex Sans" pitchFamily="34" charset="-122"/>
                          <a:cs typeface="IBM Plex Sans" pitchFamily="34" charset="-120"/>
                        </a:rPr>
                        <a:t>2.13 ms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DFCF8"/>
                    </a:solidFill>
                  </a:tcPr>
                </a:tc>
                <a:extLst>
                  <a:ext uri="{0D108BD9-81ED-4DB2-BD59-A6C34878D82A}">
                    <a16:rowId xmlns:a16="http://schemas.microsoft.com/office/drawing/2014/main" val="10003"/>
                  </a:ext>
                </a:extLst>
              </a:tr>
            </a:tbl>
          </a:graphicData>
        </a:graphic>
      </p:graphicFrame>
      <p:sp>
        <p:nvSpPr>
          <p:cNvPr id="5" name="Shape 2"/>
          <p:cNvSpPr/>
          <p:nvPr/>
        </p:nvSpPr>
        <p:spPr>
          <a:xfrm>
            <a:off x="7442200" y="1838226"/>
            <a:ext cx="1854200" cy="0"/>
          </a:xfrm>
          <a:prstGeom prst="line">
            <a:avLst/>
          </a:prstGeom>
          <a:noFill/>
          <a:ln w="19050">
            <a:solidFill>
              <a:srgbClr val="0E6F6D"/>
            </a:solidFill>
            <a:prstDash val="solid"/>
          </a:ln>
        </p:spPr>
        <p:txBody>
          <a:bodyPr/>
          <a:lstStyle/>
          <a:p>
            <a:endParaRPr lang="en-IN"/>
          </a:p>
        </p:txBody>
      </p:sp>
      <p:sp>
        <p:nvSpPr>
          <p:cNvPr id="6" name="Text 3"/>
          <p:cNvSpPr/>
          <p:nvPr/>
        </p:nvSpPr>
        <p:spPr>
          <a:xfrm>
            <a:off x="7442200" y="1974751"/>
            <a:ext cx="1909826"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16232E"/>
                </a:solidFill>
                <a:latin typeface="JetBrains Mono" pitchFamily="34" charset="0"/>
                <a:ea typeface="JetBrains Mono" pitchFamily="34" charset="-122"/>
                <a:cs typeface="JetBrains Mono" pitchFamily="34" charset="-120"/>
              </a:rPr>
              <a:t>3.7×</a:t>
            </a:r>
            <a:endParaRPr lang="en-US" sz="3200" dirty="0"/>
          </a:p>
        </p:txBody>
      </p:sp>
      <p:sp>
        <p:nvSpPr>
          <p:cNvPr id="7" name="Text 4"/>
          <p:cNvSpPr/>
          <p:nvPr/>
        </p:nvSpPr>
        <p:spPr>
          <a:xfrm>
            <a:off x="7442200" y="2594471"/>
            <a:ext cx="1909826"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E5B63"/>
                </a:solidFill>
                <a:latin typeface="IBM Plex Sans" pitchFamily="34" charset="0"/>
                <a:ea typeface="IBM Plex Sans" pitchFamily="34" charset="-122"/>
                <a:cs typeface="IBM Plex Sans" pitchFamily="34" charset="-120"/>
              </a:rPr>
              <a:t>the model costs more than the lookup</a:t>
            </a:r>
            <a:endParaRPr lang="en-US" sz="1300" dirty="0"/>
          </a:p>
        </p:txBody>
      </p:sp>
      <p:sp>
        <p:nvSpPr>
          <p:cNvPr id="8" name="Shape 5"/>
          <p:cNvSpPr/>
          <p:nvPr/>
        </p:nvSpPr>
        <p:spPr>
          <a:xfrm>
            <a:off x="9525000" y="1838226"/>
            <a:ext cx="1854200" cy="0"/>
          </a:xfrm>
          <a:prstGeom prst="line">
            <a:avLst/>
          </a:prstGeom>
          <a:noFill/>
          <a:ln w="19050">
            <a:solidFill>
              <a:srgbClr val="0E6F6D"/>
            </a:solidFill>
            <a:prstDash val="solid"/>
          </a:ln>
        </p:spPr>
        <p:txBody>
          <a:bodyPr/>
          <a:lstStyle/>
          <a:p>
            <a:endParaRPr lang="en-IN"/>
          </a:p>
        </p:txBody>
      </p:sp>
      <p:sp>
        <p:nvSpPr>
          <p:cNvPr id="9" name="Text 6"/>
          <p:cNvSpPr/>
          <p:nvPr/>
        </p:nvSpPr>
        <p:spPr>
          <a:xfrm>
            <a:off x="9525000" y="1974751"/>
            <a:ext cx="1909826" cy="1163241"/>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16232E"/>
                </a:solidFill>
                <a:latin typeface="JetBrains Mono" pitchFamily="34" charset="0"/>
                <a:ea typeface="JetBrains Mono" pitchFamily="34" charset="-122"/>
                <a:cs typeface="JetBrains Mono" pitchFamily="34" charset="-120"/>
              </a:rPr>
              <a:t>&lt; 2.2 ms</a:t>
            </a:r>
            <a:endParaRPr lang="en-US" sz="3200" dirty="0"/>
          </a:p>
        </p:txBody>
      </p:sp>
      <p:sp>
        <p:nvSpPr>
          <p:cNvPr id="10" name="Text 7"/>
          <p:cNvSpPr/>
          <p:nvPr/>
        </p:nvSpPr>
        <p:spPr>
          <a:xfrm>
            <a:off x="9525000" y="3163391"/>
            <a:ext cx="1909826"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E5B63"/>
                </a:solidFill>
                <a:latin typeface="IBM Plex Sans" pitchFamily="34" charset="0"/>
                <a:ea typeface="IBM Plex Sans" pitchFamily="34" charset="-122"/>
                <a:cs typeface="IBM Plex Sans" pitchFamily="34" charset="-120"/>
              </a:rPr>
              <a:t>p95 end to end</a:t>
            </a:r>
            <a:endParaRPr lang="en-US" sz="1300" dirty="0"/>
          </a:p>
        </p:txBody>
      </p:sp>
      <p:sp>
        <p:nvSpPr>
          <p:cNvPr id="11" name="Shape 8"/>
          <p:cNvSpPr/>
          <p:nvPr/>
        </p:nvSpPr>
        <p:spPr>
          <a:xfrm>
            <a:off x="7442200" y="3624362"/>
            <a:ext cx="1854200" cy="0"/>
          </a:xfrm>
          <a:prstGeom prst="line">
            <a:avLst/>
          </a:prstGeom>
          <a:noFill/>
          <a:ln w="19050">
            <a:solidFill>
              <a:srgbClr val="0E6F6D"/>
            </a:solidFill>
            <a:prstDash val="solid"/>
          </a:ln>
        </p:spPr>
        <p:txBody>
          <a:bodyPr/>
          <a:lstStyle/>
          <a:p>
            <a:endParaRPr lang="en-IN"/>
          </a:p>
        </p:txBody>
      </p:sp>
      <p:sp>
        <p:nvSpPr>
          <p:cNvPr id="12" name="Text 9"/>
          <p:cNvSpPr/>
          <p:nvPr/>
        </p:nvSpPr>
        <p:spPr>
          <a:xfrm>
            <a:off x="7442200" y="3760887"/>
            <a:ext cx="1909826"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16232E"/>
                </a:solidFill>
                <a:latin typeface="JetBrains Mono" pitchFamily="34" charset="0"/>
                <a:ea typeface="JetBrains Mono" pitchFamily="34" charset="-122"/>
                <a:cs typeface="JetBrains Mono" pitchFamily="34" charset="-120"/>
              </a:rPr>
              <a:t>1 day</a:t>
            </a:r>
            <a:endParaRPr lang="en-US" sz="3200" dirty="0"/>
          </a:p>
        </p:txBody>
      </p:sp>
      <p:sp>
        <p:nvSpPr>
          <p:cNvPr id="13" name="Text 10"/>
          <p:cNvSpPr/>
          <p:nvPr/>
        </p:nvSpPr>
        <p:spPr>
          <a:xfrm>
            <a:off x="7442200" y="4380607"/>
            <a:ext cx="1909826"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E5B63"/>
                </a:solidFill>
                <a:latin typeface="IBM Plex Sans" pitchFamily="34" charset="0"/>
                <a:ea typeface="IBM Plex Sans" pitchFamily="34" charset="-122"/>
                <a:cs typeface="IBM Plex Sans" pitchFamily="34" charset="-120"/>
              </a:rPr>
              <a:t>median feature age</a:t>
            </a:r>
            <a:endParaRPr lang="en-US" sz="1300" dirty="0"/>
          </a:p>
        </p:txBody>
      </p:sp>
      <p:sp>
        <p:nvSpPr>
          <p:cNvPr id="14" name="Shape 11"/>
          <p:cNvSpPr/>
          <p:nvPr/>
        </p:nvSpPr>
        <p:spPr>
          <a:xfrm>
            <a:off x="9525000" y="3624362"/>
            <a:ext cx="1854200" cy="0"/>
          </a:xfrm>
          <a:prstGeom prst="line">
            <a:avLst/>
          </a:prstGeom>
          <a:noFill/>
          <a:ln w="19050">
            <a:solidFill>
              <a:srgbClr val="0E6F6D"/>
            </a:solidFill>
            <a:prstDash val="solid"/>
          </a:ln>
        </p:spPr>
        <p:txBody>
          <a:bodyPr/>
          <a:lstStyle/>
          <a:p>
            <a:endParaRPr lang="en-IN"/>
          </a:p>
        </p:txBody>
      </p:sp>
      <p:sp>
        <p:nvSpPr>
          <p:cNvPr id="15" name="Text 12"/>
          <p:cNvSpPr/>
          <p:nvPr/>
        </p:nvSpPr>
        <p:spPr>
          <a:xfrm>
            <a:off x="9525000" y="3760887"/>
            <a:ext cx="1909826"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0E6F6D"/>
                </a:solidFill>
                <a:latin typeface="JetBrains Mono" pitchFamily="34" charset="0"/>
                <a:ea typeface="JetBrains Mono" pitchFamily="34" charset="-122"/>
                <a:cs typeface="JetBrains Mono" pitchFamily="34" charset="-120"/>
              </a:rPr>
              <a:t>14 days</a:t>
            </a:r>
            <a:endParaRPr lang="en-US" sz="3200" dirty="0"/>
          </a:p>
        </p:txBody>
      </p:sp>
      <p:sp>
        <p:nvSpPr>
          <p:cNvPr id="16" name="Text 13"/>
          <p:cNvSpPr/>
          <p:nvPr/>
        </p:nvSpPr>
        <p:spPr>
          <a:xfrm>
            <a:off x="9525000" y="4380607"/>
            <a:ext cx="1909826"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E5B63"/>
                </a:solidFill>
                <a:latin typeface="IBM Plex Sans" pitchFamily="34" charset="0"/>
                <a:ea typeface="IBM Plex Sans" pitchFamily="34" charset="-122"/>
                <a:cs typeface="IBM Plex Sans" pitchFamily="34" charset="-120"/>
              </a:rPr>
              <a:t>oldest feature served</a:t>
            </a:r>
            <a:endParaRPr lang="en-US" sz="1300" dirty="0"/>
          </a:p>
        </p:txBody>
      </p:sp>
      <p:sp>
        <p:nvSpPr>
          <p:cNvPr id="17" name="Text 1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2 · M4 + Lab 3a</a:t>
            </a:r>
            <a:endParaRPr lang="en-US" sz="1200" dirty="0"/>
          </a:p>
        </p:txBody>
      </p:sp>
      <p:sp>
        <p:nvSpPr>
          <p:cNvPr id="18" name="Text 1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22</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MISSION 3 · CONSUME THE REGISTERED MODEL</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Load by alias — then ask who answers when it moves</a:t>
            </a:r>
            <a:endParaRPr lang="en-US" sz="3200" dirty="0"/>
          </a:p>
        </p:txBody>
      </p:sp>
      <p:sp>
        <p:nvSpPr>
          <p:cNvPr id="4" name="Shape 2"/>
          <p:cNvSpPr/>
          <p:nvPr/>
        </p:nvSpPr>
        <p:spPr>
          <a:xfrm>
            <a:off x="819150" y="1885851"/>
            <a:ext cx="5168900" cy="1485602"/>
          </a:xfrm>
          <a:prstGeom prst="roundRect">
            <a:avLst>
              <a:gd name="adj" fmla="val 6412"/>
            </a:avLst>
          </a:prstGeom>
          <a:solidFill>
            <a:srgbClr val="FDFCF8"/>
          </a:solidFill>
          <a:ln w="12700">
            <a:solidFill>
              <a:srgbClr val="DCD6C8"/>
            </a:solidFill>
            <a:prstDash val="solid"/>
          </a:ln>
        </p:spPr>
        <p:txBody>
          <a:bodyPr/>
          <a:lstStyle/>
          <a:p>
            <a:endParaRPr lang="en-IN"/>
          </a:p>
        </p:txBody>
      </p:sp>
      <p:sp>
        <p:nvSpPr>
          <p:cNvPr id="5" name="Text 3"/>
          <p:cNvSpPr/>
          <p:nvPr/>
        </p:nvSpPr>
        <p:spPr>
          <a:xfrm>
            <a:off x="1028700" y="2095401"/>
            <a:ext cx="489229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Why models:/…@champion?</a:t>
            </a:r>
            <a:endParaRPr lang="en-US" sz="1600" dirty="0"/>
          </a:p>
        </p:txBody>
      </p:sp>
      <p:sp>
        <p:nvSpPr>
          <p:cNvPr id="6" name="Text 4"/>
          <p:cNvSpPr/>
          <p:nvPr/>
        </p:nvSpPr>
        <p:spPr>
          <a:xfrm>
            <a:off x="1028700" y="2415381"/>
            <a:ext cx="4892294"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E5B63"/>
                </a:solidFill>
                <a:latin typeface="IBM Plex Sans" pitchFamily="34" charset="0"/>
                <a:ea typeface="IBM Plex Sans" pitchFamily="34" charset="-122"/>
                <a:cs typeface="IBM Plex Sans" pitchFamily="34" charset="-120"/>
              </a:rPr>
              <a:t>Not a run's artifact path. The registry decides which version; the service asks by name and reports the version it got.</a:t>
            </a:r>
            <a:endParaRPr lang="en-US" sz="1400" dirty="0"/>
          </a:p>
        </p:txBody>
      </p:sp>
      <p:sp>
        <p:nvSpPr>
          <p:cNvPr id="7" name="Shape 5"/>
          <p:cNvSpPr/>
          <p:nvPr/>
        </p:nvSpPr>
        <p:spPr>
          <a:xfrm>
            <a:off x="6203950" y="1885851"/>
            <a:ext cx="5168900" cy="1485602"/>
          </a:xfrm>
          <a:prstGeom prst="roundRect">
            <a:avLst>
              <a:gd name="adj" fmla="val 6412"/>
            </a:avLst>
          </a:prstGeom>
          <a:solidFill>
            <a:srgbClr val="E2EEEC"/>
          </a:solidFill>
          <a:ln w="12700">
            <a:solidFill>
              <a:srgbClr val="0E6F6D"/>
            </a:solidFill>
            <a:prstDash val="solid"/>
          </a:ln>
        </p:spPr>
        <p:txBody>
          <a:bodyPr/>
          <a:lstStyle/>
          <a:p>
            <a:endParaRPr lang="en-IN"/>
          </a:p>
        </p:txBody>
      </p:sp>
      <p:sp>
        <p:nvSpPr>
          <p:cNvPr id="8" name="Text 6"/>
          <p:cNvSpPr/>
          <p:nvPr/>
        </p:nvSpPr>
        <p:spPr>
          <a:xfrm>
            <a:off x="6413500" y="2095401"/>
            <a:ext cx="489229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The 02:00 question</a:t>
            </a:r>
            <a:endParaRPr lang="en-US" sz="1600" dirty="0"/>
          </a:p>
        </p:txBody>
      </p:sp>
      <p:sp>
        <p:nvSpPr>
          <p:cNvPr id="9" name="Text 7"/>
          <p:cNvSpPr/>
          <p:nvPr/>
        </p:nvSpPr>
        <p:spPr>
          <a:xfrm>
            <a:off x="6413500" y="2415381"/>
            <a:ext cx="4892294"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E5B63"/>
                </a:solidFill>
                <a:latin typeface="IBM Plex Sans" pitchFamily="34" charset="0"/>
                <a:ea typeface="IBM Plex Sans" pitchFamily="34" charset="-122"/>
                <a:cs typeface="IBM Plex Sans" pitchFamily="34" charset="-120"/>
              </a:rPr>
              <a:t>The alias moves but this service has not restarted. Which model is answering — and how would you know? Every response carries model_version.</a:t>
            </a:r>
            <a:endParaRPr lang="en-US" sz="1400" dirty="0"/>
          </a:p>
        </p:txBody>
      </p:sp>
      <p:sp>
        <p:nvSpPr>
          <p:cNvPr id="10" name="Text 8"/>
          <p:cNvSpPr/>
          <p:nvPr/>
        </p:nvSpPr>
        <p:spPr>
          <a:xfrm>
            <a:off x="812800" y="3682603"/>
            <a:ext cx="10883392"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4E5B63"/>
                </a:solidFill>
                <a:latin typeface="JetBrains Mono" pitchFamily="34" charset="0"/>
                <a:ea typeface="JetBrains Mono" pitchFamily="34" charset="-122"/>
                <a:cs typeface="JetBrains Mono" pitchFamily="34" charset="-120"/>
              </a:rPr>
              <a:t>POST S099 / P9999 → 404 no features for S099/P9999</a:t>
            </a:r>
            <a:endParaRPr lang="en-US" sz="1300" dirty="0"/>
          </a:p>
        </p:txBody>
      </p:sp>
      <p:sp>
        <p:nvSpPr>
          <p:cNvPr id="11" name="Text 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2 · M4 + Lab 3a</a:t>
            </a:r>
            <a:endParaRPr lang="en-US" sz="1200" dirty="0"/>
          </a:p>
        </p:txBody>
      </p:sp>
      <p:sp>
        <p:nvSpPr>
          <p:cNvPr id="12" name="Text 10"/>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23</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MISSION 4 · GIVE PLANNERS A USABLE APP</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The serving idiom answers one question fast</a:t>
            </a:r>
            <a:endParaRPr lang="en-US" sz="3200" dirty="0"/>
          </a:p>
        </p:txBody>
      </p:sp>
      <p:sp>
        <p:nvSpPr>
          <p:cNvPr id="4" name="Shape 2"/>
          <p:cNvSpPr/>
          <p:nvPr/>
        </p:nvSpPr>
        <p:spPr>
          <a:xfrm>
            <a:off x="819150" y="1885851"/>
            <a:ext cx="5168900" cy="1252041"/>
          </a:xfrm>
          <a:prstGeom prst="roundRect">
            <a:avLst>
              <a:gd name="adj" fmla="val 7608"/>
            </a:avLst>
          </a:prstGeom>
          <a:solidFill>
            <a:srgbClr val="E2EEEC"/>
          </a:solidFill>
          <a:ln w="12700">
            <a:solidFill>
              <a:srgbClr val="0E6F6D"/>
            </a:solidFill>
            <a:prstDash val="solid"/>
          </a:ln>
        </p:spPr>
        <p:txBody>
          <a:bodyPr/>
          <a:lstStyle/>
          <a:p>
            <a:endParaRPr lang="en-IN"/>
          </a:p>
        </p:txBody>
      </p:sp>
      <p:sp>
        <p:nvSpPr>
          <p:cNvPr id="5" name="Text 3"/>
          <p:cNvSpPr/>
          <p:nvPr/>
        </p:nvSpPr>
        <p:spPr>
          <a:xfrm>
            <a:off x="1028700" y="2095401"/>
            <a:ext cx="489229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32E"/>
                </a:solidFill>
                <a:latin typeface="IBM Plex Sans" pitchFamily="34" charset="0"/>
                <a:ea typeface="IBM Plex Sans" pitchFamily="34" charset="-122"/>
                <a:cs typeface="IBM Plex Sans" pitchFamily="34" charset="-120"/>
              </a:rPr>
              <a:t>Serving idiom · Lab 3a</a:t>
            </a:r>
            <a:endParaRPr lang="en-US" sz="1700" dirty="0"/>
          </a:p>
        </p:txBody>
      </p:sp>
      <p:sp>
        <p:nvSpPr>
          <p:cNvPr id="6" name="Text 4"/>
          <p:cNvSpPr/>
          <p:nvPr/>
        </p:nvSpPr>
        <p:spPr>
          <a:xfrm>
            <a:off x="1028700" y="2430661"/>
            <a:ext cx="4892294"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E5B63"/>
                </a:solidFill>
                <a:latin typeface="IBM Plex Sans" pitchFamily="34" charset="0"/>
                <a:ea typeface="IBM Plex Sans" pitchFamily="34" charset="-122"/>
                <a:cs typeface="IBM Plex Sans" pitchFamily="34" charset="-120"/>
              </a:rPr>
              <a:t>“What should I do about this line?” One input, one answer, the model version beside it.</a:t>
            </a:r>
            <a:endParaRPr lang="en-US" sz="1400" dirty="0"/>
          </a:p>
        </p:txBody>
      </p:sp>
      <p:sp>
        <p:nvSpPr>
          <p:cNvPr id="7" name="Shape 5"/>
          <p:cNvSpPr/>
          <p:nvPr/>
        </p:nvSpPr>
        <p:spPr>
          <a:xfrm>
            <a:off x="6203950" y="1885851"/>
            <a:ext cx="5168900" cy="1252041"/>
          </a:xfrm>
          <a:prstGeom prst="roundRect">
            <a:avLst>
              <a:gd name="adj" fmla="val 7608"/>
            </a:avLst>
          </a:prstGeom>
          <a:solidFill>
            <a:srgbClr val="FDFCF8"/>
          </a:solidFill>
          <a:ln w="12700">
            <a:solidFill>
              <a:srgbClr val="DCD6C8"/>
            </a:solidFill>
            <a:prstDash val="solid"/>
          </a:ln>
        </p:spPr>
        <p:txBody>
          <a:bodyPr/>
          <a:lstStyle/>
          <a:p>
            <a:endParaRPr lang="en-IN"/>
          </a:p>
        </p:txBody>
      </p:sp>
      <p:sp>
        <p:nvSpPr>
          <p:cNvPr id="8" name="Text 6"/>
          <p:cNvSpPr/>
          <p:nvPr/>
        </p:nvSpPr>
        <p:spPr>
          <a:xfrm>
            <a:off x="6413500" y="2095401"/>
            <a:ext cx="489229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6232E"/>
                </a:solidFill>
                <a:latin typeface="IBM Plex Sans" pitchFamily="34" charset="0"/>
                <a:ea typeface="IBM Plex Sans" pitchFamily="34" charset="-122"/>
                <a:cs typeface="IBM Plex Sans" pitchFamily="34" charset="-120"/>
              </a:rPr>
              <a:t>Analytics idiom · Lab 3b</a:t>
            </a:r>
            <a:endParaRPr lang="en-US" sz="1700" dirty="0"/>
          </a:p>
        </p:txBody>
      </p:sp>
      <p:sp>
        <p:nvSpPr>
          <p:cNvPr id="9" name="Text 7"/>
          <p:cNvSpPr/>
          <p:nvPr/>
        </p:nvSpPr>
        <p:spPr>
          <a:xfrm>
            <a:off x="6413500" y="2430661"/>
            <a:ext cx="4892294"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E5B63"/>
                </a:solidFill>
                <a:latin typeface="IBM Plex Sans" pitchFamily="34" charset="0"/>
                <a:ea typeface="IBM Plex Sans" pitchFamily="34" charset="-122"/>
                <a:cs typeface="IBM Plex Sans" pitchFamily="34" charset="-120"/>
              </a:rPr>
              <a:t>“What is happening across my stores?” KPI cards, cohort filters, multipage — next session.</a:t>
            </a:r>
            <a:endParaRPr lang="en-US" sz="1400" dirty="0"/>
          </a:p>
        </p:txBody>
      </p:sp>
      <p:sp>
        <p:nvSpPr>
          <p:cNvPr id="10" name="Text 8"/>
          <p:cNvSpPr/>
          <p:nvPr/>
        </p:nvSpPr>
        <p:spPr>
          <a:xfrm>
            <a:off x="812800" y="3449042"/>
            <a:ext cx="10883392" cy="30162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16232E"/>
                </a:solidFill>
                <a:latin typeface="IBM Plex Sans" pitchFamily="34" charset="0"/>
                <a:ea typeface="IBM Plex Sans" pitchFamily="34" charset="-122"/>
                <a:cs typeface="IBM Plex Sans" pitchFamily="34" charset="-120"/>
              </a:rPr>
              <a:t>In-room extension: add st.cache_data to the batch section and a session-state history of scored lines.</a:t>
            </a:r>
            <a:endParaRPr lang="en-US" sz="1500" dirty="0"/>
          </a:p>
        </p:txBody>
      </p:sp>
      <p:sp>
        <p:nvSpPr>
          <p:cNvPr id="11" name="Text 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2 · M4 + Lab 3a</a:t>
            </a:r>
            <a:endParaRPr lang="en-US" sz="1200" dirty="0"/>
          </a:p>
        </p:txBody>
      </p:sp>
      <p:sp>
        <p:nvSpPr>
          <p:cNvPr id="12" name="Text 10"/>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24</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5">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0E6F6D"/>
                </a:solidFill>
                <a:latin typeface="JetBrains Mono" pitchFamily="34" charset="0"/>
                <a:ea typeface="JetBrains Mono" pitchFamily="34" charset="-122"/>
                <a:cs typeface="JetBrains Mono" pitchFamily="34" charset="-120"/>
              </a:rPr>
              <a:t>DEBRIEF · QUESTIONS STUDENTS WILL ASK</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6232E"/>
                </a:solidFill>
                <a:latin typeface="IBM Plex Sans" pitchFamily="34" charset="0"/>
                <a:ea typeface="IBM Plex Sans" pitchFamily="34" charset="-122"/>
                <a:cs typeface="IBM Plex Sans" pitchFamily="34" charset="-120"/>
              </a:rPr>
              <a:t>Four questions to close Lab 3a</a:t>
            </a:r>
            <a:endParaRPr lang="en-US" sz="3200" dirty="0"/>
          </a:p>
        </p:txBody>
      </p:sp>
      <p:sp>
        <p:nvSpPr>
          <p:cNvPr id="4" name="Shape 2"/>
          <p:cNvSpPr/>
          <p:nvPr/>
        </p:nvSpPr>
        <p:spPr>
          <a:xfrm>
            <a:off x="819150" y="1835051"/>
            <a:ext cx="5181600" cy="1201241"/>
          </a:xfrm>
          <a:prstGeom prst="roundRect">
            <a:avLst>
              <a:gd name="adj" fmla="val 7929"/>
            </a:avLst>
          </a:prstGeom>
          <a:solidFill>
            <a:srgbClr val="FDFCF8"/>
          </a:solidFill>
          <a:ln w="12700">
            <a:solidFill>
              <a:srgbClr val="DCD6C8"/>
            </a:solidFill>
            <a:prstDash val="solid"/>
          </a:ln>
        </p:spPr>
        <p:txBody>
          <a:bodyPr/>
          <a:lstStyle/>
          <a:p>
            <a:endParaRPr lang="en-IN"/>
          </a:p>
        </p:txBody>
      </p:sp>
      <p:sp>
        <p:nvSpPr>
          <p:cNvPr id="5" name="Text 3"/>
          <p:cNvSpPr/>
          <p:nvPr/>
        </p:nvSpPr>
        <p:spPr>
          <a:xfrm>
            <a:off x="1028700" y="2044601"/>
            <a:ext cx="490537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Some requests 404. Bug?</a:t>
            </a:r>
            <a:endParaRPr lang="en-US" sz="1600" dirty="0"/>
          </a:p>
        </p:txBody>
      </p:sp>
      <p:sp>
        <p:nvSpPr>
          <p:cNvPr id="6" name="Text 4"/>
          <p:cNvSpPr/>
          <p:nvPr/>
        </p:nvSpPr>
        <p:spPr>
          <a:xfrm>
            <a:off x="1028700" y="2364581"/>
            <a:ext cx="4905375"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Probably not: those keys are not in the online store. A new product 404s until it sells — cold start, not a serving bug.</a:t>
            </a:r>
            <a:endParaRPr lang="en-US" sz="1300" dirty="0"/>
          </a:p>
        </p:txBody>
      </p:sp>
      <p:sp>
        <p:nvSpPr>
          <p:cNvPr id="7" name="Shape 5"/>
          <p:cNvSpPr/>
          <p:nvPr/>
        </p:nvSpPr>
        <p:spPr>
          <a:xfrm>
            <a:off x="6191250" y="1835051"/>
            <a:ext cx="5181600" cy="1201241"/>
          </a:xfrm>
          <a:prstGeom prst="roundRect">
            <a:avLst>
              <a:gd name="adj" fmla="val 7929"/>
            </a:avLst>
          </a:prstGeom>
          <a:solidFill>
            <a:srgbClr val="FDFCF8"/>
          </a:solidFill>
          <a:ln w="12700">
            <a:solidFill>
              <a:srgbClr val="DCD6C8"/>
            </a:solidFill>
            <a:prstDash val="solid"/>
          </a:ln>
        </p:spPr>
        <p:txBody>
          <a:bodyPr/>
          <a:lstStyle/>
          <a:p>
            <a:endParaRPr lang="en-IN"/>
          </a:p>
        </p:txBody>
      </p:sp>
      <p:sp>
        <p:nvSpPr>
          <p:cNvPr id="8" name="Text 6"/>
          <p:cNvSpPr/>
          <p:nvPr/>
        </p:nvSpPr>
        <p:spPr>
          <a:xfrm>
            <a:off x="6400800" y="2044601"/>
            <a:ext cx="490537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Serving is slow. Ship a smaller model?</a:t>
            </a:r>
            <a:endParaRPr lang="en-US" sz="1600" dirty="0"/>
          </a:p>
        </p:txBody>
      </p:sp>
      <p:sp>
        <p:nvSpPr>
          <p:cNvPr id="9" name="Text 7"/>
          <p:cNvSpPr/>
          <p:nvPr/>
        </p:nvSpPr>
        <p:spPr>
          <a:xfrm>
            <a:off x="6400800" y="2364581"/>
            <a:ext cx="4905375"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Measure first. Under 2 ms end to end, and the per-request DataFrame costs more than the maths.</a:t>
            </a:r>
            <a:endParaRPr lang="en-US" sz="1300" dirty="0"/>
          </a:p>
        </p:txBody>
      </p:sp>
      <p:sp>
        <p:nvSpPr>
          <p:cNvPr id="10" name="Shape 8"/>
          <p:cNvSpPr/>
          <p:nvPr/>
        </p:nvSpPr>
        <p:spPr>
          <a:xfrm>
            <a:off x="819150" y="3226792"/>
            <a:ext cx="5181600" cy="1201241"/>
          </a:xfrm>
          <a:prstGeom prst="roundRect">
            <a:avLst>
              <a:gd name="adj" fmla="val 7929"/>
            </a:avLst>
          </a:prstGeom>
          <a:solidFill>
            <a:srgbClr val="FDFCF8"/>
          </a:solidFill>
          <a:ln w="12700">
            <a:solidFill>
              <a:srgbClr val="DCD6C8"/>
            </a:solidFill>
            <a:prstDash val="solid"/>
          </a:ln>
        </p:spPr>
        <p:txBody>
          <a:bodyPr/>
          <a:lstStyle/>
          <a:p>
            <a:endParaRPr lang="en-IN"/>
          </a:p>
        </p:txBody>
      </p:sp>
      <p:sp>
        <p:nvSpPr>
          <p:cNvPr id="11" name="Text 9"/>
          <p:cNvSpPr/>
          <p:nvPr/>
        </p:nvSpPr>
        <p:spPr>
          <a:xfrm>
            <a:off x="1028700" y="3436342"/>
            <a:ext cx="490537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Why two probes, not one?</a:t>
            </a:r>
            <a:endParaRPr lang="en-US" sz="1600" dirty="0"/>
          </a:p>
        </p:txBody>
      </p:sp>
      <p:sp>
        <p:nvSpPr>
          <p:cNvPr id="12" name="Text 10"/>
          <p:cNvSpPr/>
          <p:nvPr/>
        </p:nvSpPr>
        <p:spPr>
          <a:xfrm>
            <a:off x="1028700" y="3756323"/>
            <a:ext cx="4905375"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Liveness drives restarts; readiness drives traffic. They diverge at startup and on dependency loss.</a:t>
            </a:r>
            <a:endParaRPr lang="en-US" sz="1300" dirty="0"/>
          </a:p>
        </p:txBody>
      </p:sp>
      <p:sp>
        <p:nvSpPr>
          <p:cNvPr id="13" name="Shape 11"/>
          <p:cNvSpPr/>
          <p:nvPr/>
        </p:nvSpPr>
        <p:spPr>
          <a:xfrm>
            <a:off x="6191250" y="3226792"/>
            <a:ext cx="5181600" cy="1201241"/>
          </a:xfrm>
          <a:prstGeom prst="roundRect">
            <a:avLst>
              <a:gd name="adj" fmla="val 7929"/>
            </a:avLst>
          </a:prstGeom>
          <a:solidFill>
            <a:srgbClr val="FDFCF8"/>
          </a:solidFill>
          <a:ln w="12700">
            <a:solidFill>
              <a:srgbClr val="DCD6C8"/>
            </a:solidFill>
            <a:prstDash val="solid"/>
          </a:ln>
        </p:spPr>
        <p:txBody>
          <a:bodyPr/>
          <a:lstStyle/>
          <a:p>
            <a:endParaRPr lang="en-IN"/>
          </a:p>
        </p:txBody>
      </p:sp>
      <p:sp>
        <p:nvSpPr>
          <p:cNvPr id="14" name="Text 12"/>
          <p:cNvSpPr/>
          <p:nvPr/>
        </p:nvSpPr>
        <p:spPr>
          <a:xfrm>
            <a:off x="6400800" y="3436342"/>
            <a:ext cx="490537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32E"/>
                </a:solidFill>
                <a:latin typeface="IBM Plex Sans" pitchFamily="34" charset="0"/>
                <a:ea typeface="IBM Plex Sans" pitchFamily="34" charset="-122"/>
                <a:cs typeface="IBM Plex Sans" pitchFamily="34" charset="-120"/>
              </a:rPr>
              <a:t>Why doesn't the app load the model?</a:t>
            </a:r>
            <a:endParaRPr lang="en-US" sz="1600" dirty="0"/>
          </a:p>
        </p:txBody>
      </p:sp>
      <p:sp>
        <p:nvSpPr>
          <p:cNvPr id="15" name="Text 13"/>
          <p:cNvSpPr/>
          <p:nvPr/>
        </p:nvSpPr>
        <p:spPr>
          <a:xfrm>
            <a:off x="6400800" y="3756323"/>
            <a:ext cx="4905375"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E5B63"/>
                </a:solidFill>
                <a:latin typeface="IBM Plex Sans" pitchFamily="34" charset="0"/>
                <a:ea typeface="IBM Plex Sans" pitchFamily="34" charset="-122"/>
                <a:cs typeface="IBM Plex Sans" pitchFamily="34" charset="-120"/>
              </a:rPr>
              <a:t>One serving path: a moved alias changes one service, not two.</a:t>
            </a:r>
            <a:endParaRPr lang="en-US" sz="13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From Pipelines to Production · Day 2 · M4 + Lab 3a</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E5B63"/>
                </a:solidFill>
                <a:latin typeface="JetBrains Mono" pitchFamily="34" charset="0"/>
                <a:ea typeface="JetBrains Mono" pitchFamily="34" charset="-122"/>
                <a:cs typeface="JetBrains Mono" pitchFamily="34" charset="-120"/>
              </a:rPr>
              <a:t>25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2800</Words>
  <Application>Microsoft Office PowerPoint</Application>
  <PresentationFormat>Widescreen</PresentationFormat>
  <Paragraphs>318</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IBM Plex Sans</vt:lpstr>
      <vt:lpstr>JetBrains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FDP Day 2 · 09:30 — M4 + Lab 3a: Deployment, Serving &amp; Data Apps</dc:title>
  <dc:subject>PptxGenJS Presentation</dc:subject>
  <dc:creator>PptxGenJS</dc:creator>
  <cp:lastModifiedBy>Pravin Yashwant Pawar .</cp:lastModifiedBy>
  <cp:revision>3</cp:revision>
  <dcterms:created xsi:type="dcterms:W3CDTF">2026-09-23T06:38:04Z</dcterms:created>
  <dcterms:modified xsi:type="dcterms:W3CDTF">2026-09-28T13:08:13Z</dcterms:modified>
</cp:coreProperties>
</file>