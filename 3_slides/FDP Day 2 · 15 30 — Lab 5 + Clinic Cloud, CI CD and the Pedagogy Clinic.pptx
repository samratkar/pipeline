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8736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session of Day 2, and it has two halves. Suggested split: Lab 5 guided walkthrough about 55 minutes (slides 2–16), then the pedagogy clinic about 30 minutes (17–22), 5 minutes to close. The lab runs in Lab 1's repository with .venv active and needs Labs 1–4 to have been run: registry populated, feature store materialised, data/current_batch.parquet produced by Lab 4's drift scenario. pip install requests scipy. Mission 8's container and cloud commands were not executed on the authoring machine — they are shown as expected output; every other capture is real.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role here is MLOps / Release Engineer. Lab 4 handed you a decision and an image — not a trusted model. Everything in this lab acts on the registry, the API and the image the earlier labs built; nothing new is generated and nothing is rebuilt to promote.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learning objectives: run a gated CI/CD pipeline (test, build, promote, deploy, smoke); explain continuous training as event-driven rather than scheduled; promote and roll back by alias move on the Lab 4 image; apply canary and blue/green with a business-signal decision; and map the local simulation onto a real cloud deployment.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decide before any code: deploy the retrain because it is newer? The room will usually say no, but for the wrong reason ("we should test it first"). Push for the specific answer: comparison needs a common yardstick, and the only fair one is a recent labelled batch both models are scored on — which is exactly what Mission 7 builds.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short missions on one slide. The hand-off is the entire idea: Lab 4's monitor writes a machine-readable decision, and the pipeline acts on it. Nothing about that is scheduled. The immutability point sets up everything that follows — if promotion required a rebuild, canary, blue/green and rollback would all be slow and risky instead of pointer moves.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capture. Walk the jobs in order and point out that the first job is Lab 1's contract — the release pipeline starts by checking the data, not the model. Two things to read twice are on the next slide: what the promote job records, and what the smoke test actually asks.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points are small in the code and large in practice. The model_version in the /ready response — built in Lab 3 for a different reason — is what makes the second one possible, so this is a good moment to note how often an observability decision pays off two labs later. The 02:00 question from Lab 3 is the same idea from the other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pillar that goes deepest in the programme, and three of the four rows have a coded challenge behind them. Rolling has none here because it needs a fleet; name it so participants can place it, and note that its trade-off — no spare capacity, but two versions live at once — is the reason it suits stateless services better than models.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answers to the second question before showing the next slide. Most rooms say something between "a few hundred" and "I don't know" — and the honest answer is that it depends on the effect size you care about, which is why the challenge builds a significance test rather than a fixed number. The next slide is the capture that settles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two captures that start arguments. Round 1 looks catastrophic — down 8.6 points — and round 2 is nearly level. A team that acts on round 1 rolls back a good model half the time and congratulates itself either way. The challenge asks for a minimum exposure count AND a significance test before the canary is allowed an opinion.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moves real aliases on the real MLflow registry and asks the running service which version it is serving, before and after — so "rollback is a pointer move" is demonstrated rather than asserted. Insist on the honest caveat in the write-up: participants who say "rollback takes 13 milliseconds" without the restart clause have learned the slogan, not the mechanism.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what happened to both AUCs when re-scored on the drifted batch: production fell from 0.697 to 0.654 and the candidate from 0.674 to 0.647. Training-time numbers were measured on different worlds and are not comparable — which is the whole reason for the common batch. The gate is a conjunction, so the accuracy FAIL decides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capture that starts arguments. Someone will object that a gate refusing a 90%-agreement model is too strict, and that is the discussion to have: agreement thresholds are a policy set with the business, like Lab 2's cost ratio and Lab 4's PSI band. The general lesson is that accuracy and behaviour are different questions, and a release gate that asks only the first one will eventually ship a model that is right on average and disruptive in practice.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Flagged in the handout as expected output rather than a capture: no Docker daemon was available on the authoring machine. Run it live if Docker is working in the room, and if it is not, say plainly that this block is the one unverified output in the lab. The 62-second health wait is the model and feature-store load from Lab 3's start_period.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 this is the slide participants photograph. One row has no laptop equivalent and is worth naming out loud: event-driven re-execution rather than cron, which is Lab 4's trigger. For a course, this table is also the answer to "do my students need cloud accounts?": no, not to learn the concepts; the take-home is where the cloud account earns its place.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brochure lists the Lab 5 AWS take-home as a programme deliverable. The three steps and the deliverable here follow the cloud mapping on the previous slide; confirm the submission route and deadline with participants, and adjust if your take-home handout specifies different artefacts. The cost warning is worth saying out loud — a Fargate service left running over a weekend is the most common complaint after this kind of lab.</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the room's mode here: they have been participants for two days, and for the next half hour they are faculty again. Run it as a discussion with the slides as prompts rather than as a lecture. If the group is large, split into three by course — ZG529, ZC412, ZG523 — and let each table work the alignment slide for their own course before reporting back.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failure is the one most worth arguing about, because it costs contact time and feels risky with a nervous cohort. The counter-argument: a student who has only seen passing runs cannot debug, and the labs are designed so the failure is scripted and recoverable. Ask the room which principle they would drop first under time pressure, and what they would lose.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Drawn from the delivery notes in the Faculty Editions and from what went wrong in this room over two days. Invite additions: the participants have just been the students, and the stumbles they hit this afternoon are the most accurate data in the slot. Capture them on a whiteboard — they are the first draft of your own teaching notes.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programme ships rubric templates for classical and generative laboratories plus a CO/LO mapping worksheet — point to those as the starting artefacts. A practical warning for your own courses: the Faculty Editions contain the solutions, so students get an edition with the challenges and the captures but not the solutions.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brochure's alignment table, with the Day 3 rows collapsed into one. Make the five minutes real — a participant who leaves with three rows circled has a plan; one who leaves with a full set of manuals and no mapping usually does not. Anchor faculty in the room can say which modules are already in their handbooks and which would need a CO/LO amendment.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both days: a gated CI/CD pipeline, a canary that waits for evidence, a rollback proven against the live service, and a promotion gate that weighs behaviour as well as accuracy — all acting on one immutable image. Remind them the take-home is issued and to set a budget alert before they start it. The model pre-pull matters: venue wifi on Day 3 morning is the single biggest schedule risk.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FROM PIPELINES TO PRODUCTION · DAY 2 · 15:30–17:00</a:t>
            </a:r>
            <a:endParaRPr lang="en-US" sz="1200" dirty="0"/>
          </a:p>
        </p:txBody>
      </p:sp>
      <p:sp>
        <p:nvSpPr>
          <p:cNvPr id="3" name="Text 1"/>
          <p:cNvSpPr/>
          <p:nvPr/>
        </p:nvSpPr>
        <p:spPr>
          <a:xfrm>
            <a:off x="812800" y="1153120"/>
            <a:ext cx="10883392" cy="718741"/>
          </a:xfrm>
          <a:prstGeom prst="rect">
            <a:avLst/>
          </a:prstGeom>
          <a:noFill/>
          <a:ln/>
        </p:spPr>
        <p:txBody>
          <a:bodyPr wrap="square" lIns="0" tIns="0" rIns="0" bIns="0" rtlCol="0" anchor="t">
            <a:normAutofit/>
          </a:bodyPr>
          <a:lstStyle/>
          <a:p>
            <a:pPr marL="0" indent="0" algn="l">
              <a:lnSpc>
                <a:spcPts val="5460"/>
              </a:lnSpc>
              <a:buNone/>
            </a:pPr>
            <a:r>
              <a:rPr lang="en-US" sz="5200" b="1" dirty="0">
                <a:solidFill>
                  <a:srgbClr val="F6F4EE"/>
                </a:solidFill>
                <a:latin typeface="IBM Plex Sans" pitchFamily="34" charset="0"/>
                <a:ea typeface="IBM Plex Sans" pitchFamily="34" charset="-122"/>
                <a:cs typeface="IBM Plex Sans" pitchFamily="34" charset="-120"/>
              </a:rPr>
              <a:t>Lab 5 + Clinic</a:t>
            </a:r>
            <a:endParaRPr lang="en-US" sz="5200" dirty="0"/>
          </a:p>
        </p:txBody>
      </p:sp>
      <p:sp>
        <p:nvSpPr>
          <p:cNvPr id="4" name="Text 2"/>
          <p:cNvSpPr/>
          <p:nvPr/>
        </p:nvSpPr>
        <p:spPr>
          <a:xfrm>
            <a:off x="812800" y="1973461"/>
            <a:ext cx="9810750" cy="817761"/>
          </a:xfrm>
          <a:prstGeom prst="rect">
            <a:avLst/>
          </a:prstGeom>
          <a:noFill/>
          <a:ln/>
        </p:spPr>
        <p:txBody>
          <a:bodyPr wrap="square" lIns="0" tIns="0" rIns="0" bIns="0" rtlCol="0" anchor="t">
            <a:normAutofit/>
          </a:bodyPr>
          <a:lstStyle/>
          <a:p>
            <a:pPr marL="0" indent="0" algn="l">
              <a:lnSpc>
                <a:spcPts val="3120"/>
              </a:lnSpc>
              <a:buNone/>
            </a:pPr>
            <a:r>
              <a:rPr lang="en-US" sz="2400" dirty="0">
                <a:solidFill>
                  <a:srgbClr val="F6F4EE"/>
                </a:solidFill>
                <a:latin typeface="IBM Plex Sans" pitchFamily="34" charset="0"/>
                <a:ea typeface="IBM Plex Sans" pitchFamily="34" charset="-122"/>
                <a:cs typeface="IBM Plex Sans" pitchFamily="34" charset="-120"/>
              </a:rPr>
              <a:t>Deploy, promote and roll back — safely. Then: how we would teach all of this.</a:t>
            </a:r>
            <a:endParaRPr lang="en-US" sz="2400" dirty="0"/>
          </a:p>
        </p:txBody>
      </p:sp>
      <p:sp>
        <p:nvSpPr>
          <p:cNvPr id="5" name="Shape 3"/>
          <p:cNvSpPr/>
          <p:nvPr/>
        </p:nvSpPr>
        <p:spPr>
          <a:xfrm>
            <a:off x="812800" y="5200749"/>
            <a:ext cx="10566400" cy="0"/>
          </a:xfrm>
          <a:prstGeom prst="line">
            <a:avLst/>
          </a:prstGeom>
          <a:noFill/>
          <a:ln w="12700">
            <a:solidFill>
              <a:srgbClr val="3A4B57"/>
            </a:solidFill>
            <a:prstDash val="solid"/>
          </a:ln>
        </p:spPr>
        <p:txBody>
          <a:bodyPr/>
          <a:lstStyle/>
          <a:p>
            <a:endParaRPr lang="en-IN"/>
          </a:p>
        </p:txBody>
      </p:sp>
      <p:sp>
        <p:nvSpPr>
          <p:cNvPr id="6" name="Text 4"/>
          <p:cNvSpPr/>
          <p:nvPr/>
        </p:nvSpPr>
        <p:spPr>
          <a:xfrm>
            <a:off x="812800" y="5410299"/>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5CB"/>
                </a:solidFill>
                <a:latin typeface="IBM Plex Sans" pitchFamily="34" charset="0"/>
                <a:ea typeface="IBM Plex Sans" pitchFamily="34" charset="-122"/>
                <a:cs typeface="IBM Plex Sans" pitchFamily="34" charset="-120"/>
              </a:rPr>
              <a:t>CI/CD backbone · canary and blue/green · promotion gates · the cloud mapping and take-home lab · pedagogy clinic</a:t>
            </a:r>
            <a:endParaRPr lang="en-US" sz="1600" dirty="0"/>
          </a:p>
        </p:txBody>
      </p:sp>
      <p:sp>
        <p:nvSpPr>
          <p:cNvPr id="7" name="Text 5"/>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JetBrains Mono" pitchFamily="34" charset="0"/>
                <a:ea typeface="JetBrains Mono" pitchFamily="34" charset="-122"/>
                <a:cs typeface="JetBrains Mono" pitchFamily="34" charset="-120"/>
              </a:rPr>
              <a:t>BITS Pilani WILP · CSIS </a:t>
            </a:r>
            <a:r>
              <a:rPr lang="en-US" sz="1400">
                <a:solidFill>
                  <a:srgbClr val="B8C5CB"/>
                </a:solidFill>
                <a:latin typeface="JetBrains Mono" pitchFamily="34" charset="0"/>
                <a:ea typeface="JetBrains Mono" pitchFamily="34" charset="-122"/>
                <a:cs typeface="JetBrains Mono" pitchFamily="34" charset="-120"/>
              </a:rPr>
              <a:t>· Pravin Y Pawar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WHERE WE ARE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Re-execute → Release: the last beat</a:t>
            </a:r>
            <a:endParaRPr lang="en-US" sz="3200" dirty="0"/>
          </a:p>
        </p:txBody>
      </p:sp>
      <p:sp>
        <p:nvSpPr>
          <p:cNvPr id="4" name="Shape 2"/>
          <p:cNvSpPr/>
          <p:nvPr/>
        </p:nvSpPr>
        <p:spPr>
          <a:xfrm>
            <a:off x="819150" y="1936651"/>
            <a:ext cx="1409700" cy="924520"/>
          </a:xfrm>
          <a:prstGeom prst="roundRect">
            <a:avLst>
              <a:gd name="adj" fmla="val 8929"/>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901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Discover</a:t>
            </a:r>
            <a:endParaRPr lang="en-US" sz="1500" dirty="0"/>
          </a:p>
        </p:txBody>
      </p:sp>
      <p:sp>
        <p:nvSpPr>
          <p:cNvPr id="6" name="Text 4"/>
          <p:cNvSpPr/>
          <p:nvPr/>
        </p:nvSpPr>
        <p:spPr>
          <a:xfrm>
            <a:off x="901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M2</a:t>
            </a:r>
            <a:endParaRPr lang="en-US" sz="1200" dirty="0"/>
          </a:p>
        </p:txBody>
      </p:sp>
      <p:sp>
        <p:nvSpPr>
          <p:cNvPr id="7" name="Shape 5"/>
          <p:cNvSpPr/>
          <p:nvPr/>
        </p:nvSpPr>
        <p:spPr>
          <a:xfrm>
            <a:off x="2343150" y="1936651"/>
            <a:ext cx="1409700" cy="924520"/>
          </a:xfrm>
          <a:prstGeom prst="roundRect">
            <a:avLst>
              <a:gd name="adj" fmla="val 8929"/>
            </a:avLst>
          </a:prstGeom>
          <a:solidFill>
            <a:srgbClr val="FDFCF8"/>
          </a:solidFill>
          <a:ln w="12700">
            <a:solidFill>
              <a:srgbClr val="DCD6C8"/>
            </a:solidFill>
            <a:prstDash val="solid"/>
          </a:ln>
        </p:spPr>
        <p:txBody>
          <a:bodyPr/>
          <a:lstStyle/>
          <a:p>
            <a:endParaRPr lang="en-IN"/>
          </a:p>
        </p:txBody>
      </p:sp>
      <p:sp>
        <p:nvSpPr>
          <p:cNvPr id="8" name="Text 6"/>
          <p:cNvSpPr/>
          <p:nvPr/>
        </p:nvSpPr>
        <p:spPr>
          <a:xfrm>
            <a:off x="2425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Prepare</a:t>
            </a:r>
            <a:endParaRPr lang="en-US" sz="1500" dirty="0"/>
          </a:p>
        </p:txBody>
      </p:sp>
      <p:sp>
        <p:nvSpPr>
          <p:cNvPr id="9" name="Text 7"/>
          <p:cNvSpPr/>
          <p:nvPr/>
        </p:nvSpPr>
        <p:spPr>
          <a:xfrm>
            <a:off x="2425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1</a:t>
            </a:r>
            <a:endParaRPr lang="en-US" sz="1200" dirty="0"/>
          </a:p>
        </p:txBody>
      </p:sp>
      <p:sp>
        <p:nvSpPr>
          <p:cNvPr id="10" name="Shape 8"/>
          <p:cNvSpPr/>
          <p:nvPr/>
        </p:nvSpPr>
        <p:spPr>
          <a:xfrm>
            <a:off x="3867150" y="1936651"/>
            <a:ext cx="1409700" cy="924520"/>
          </a:xfrm>
          <a:prstGeom prst="roundRect">
            <a:avLst>
              <a:gd name="adj" fmla="val 8929"/>
            </a:avLst>
          </a:prstGeom>
          <a:solidFill>
            <a:srgbClr val="FDFCF8"/>
          </a:solidFill>
          <a:ln w="12700">
            <a:solidFill>
              <a:srgbClr val="DCD6C8"/>
            </a:solidFill>
            <a:prstDash val="solid"/>
          </a:ln>
        </p:spPr>
        <p:txBody>
          <a:bodyPr/>
          <a:lstStyle/>
          <a:p>
            <a:endParaRPr lang="en-IN"/>
          </a:p>
        </p:txBody>
      </p:sp>
      <p:sp>
        <p:nvSpPr>
          <p:cNvPr id="11" name="Text 9"/>
          <p:cNvSpPr/>
          <p:nvPr/>
        </p:nvSpPr>
        <p:spPr>
          <a:xfrm>
            <a:off x="3949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Build</a:t>
            </a:r>
            <a:endParaRPr lang="en-US" sz="1500" dirty="0"/>
          </a:p>
        </p:txBody>
      </p:sp>
      <p:sp>
        <p:nvSpPr>
          <p:cNvPr id="12" name="Text 10"/>
          <p:cNvSpPr/>
          <p:nvPr/>
        </p:nvSpPr>
        <p:spPr>
          <a:xfrm>
            <a:off x="3949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2</a:t>
            </a:r>
            <a:endParaRPr lang="en-US" sz="1200" dirty="0"/>
          </a:p>
        </p:txBody>
      </p:sp>
      <p:sp>
        <p:nvSpPr>
          <p:cNvPr id="13" name="Shape 11"/>
          <p:cNvSpPr/>
          <p:nvPr/>
        </p:nvSpPr>
        <p:spPr>
          <a:xfrm>
            <a:off x="5391150" y="1936651"/>
            <a:ext cx="1409700" cy="924520"/>
          </a:xfrm>
          <a:prstGeom prst="roundRect">
            <a:avLst>
              <a:gd name="adj" fmla="val 8929"/>
            </a:avLst>
          </a:prstGeom>
          <a:solidFill>
            <a:srgbClr val="FDFCF8"/>
          </a:solidFill>
          <a:ln w="12700">
            <a:solidFill>
              <a:srgbClr val="DCD6C8"/>
            </a:solidFill>
            <a:prstDash val="solid"/>
          </a:ln>
        </p:spPr>
        <p:txBody>
          <a:bodyPr/>
          <a:lstStyle/>
          <a:p>
            <a:endParaRPr lang="en-IN"/>
          </a:p>
        </p:txBody>
      </p:sp>
      <p:sp>
        <p:nvSpPr>
          <p:cNvPr id="14" name="Text 12"/>
          <p:cNvSpPr/>
          <p:nvPr/>
        </p:nvSpPr>
        <p:spPr>
          <a:xfrm>
            <a:off x="5473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Serve</a:t>
            </a:r>
            <a:endParaRPr lang="en-US" sz="1500" dirty="0"/>
          </a:p>
        </p:txBody>
      </p:sp>
      <p:sp>
        <p:nvSpPr>
          <p:cNvPr id="15" name="Text 13"/>
          <p:cNvSpPr/>
          <p:nvPr/>
        </p:nvSpPr>
        <p:spPr>
          <a:xfrm>
            <a:off x="5473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3</a:t>
            </a:r>
            <a:endParaRPr lang="en-US" sz="1200" dirty="0"/>
          </a:p>
        </p:txBody>
      </p:sp>
      <p:sp>
        <p:nvSpPr>
          <p:cNvPr id="16" name="Shape 14"/>
          <p:cNvSpPr/>
          <p:nvPr/>
        </p:nvSpPr>
        <p:spPr>
          <a:xfrm>
            <a:off x="6915150" y="1936651"/>
            <a:ext cx="1409700" cy="924520"/>
          </a:xfrm>
          <a:prstGeom prst="roundRect">
            <a:avLst>
              <a:gd name="adj" fmla="val 8929"/>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6997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Monitor</a:t>
            </a:r>
            <a:endParaRPr lang="en-US" sz="1500" dirty="0"/>
          </a:p>
        </p:txBody>
      </p:sp>
      <p:sp>
        <p:nvSpPr>
          <p:cNvPr id="18" name="Text 16"/>
          <p:cNvSpPr/>
          <p:nvPr/>
        </p:nvSpPr>
        <p:spPr>
          <a:xfrm>
            <a:off x="6997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4</a:t>
            </a:r>
            <a:endParaRPr lang="en-US" sz="1200" dirty="0"/>
          </a:p>
        </p:txBody>
      </p:sp>
      <p:sp>
        <p:nvSpPr>
          <p:cNvPr id="19" name="Shape 17"/>
          <p:cNvSpPr/>
          <p:nvPr/>
        </p:nvSpPr>
        <p:spPr>
          <a:xfrm>
            <a:off x="8439150" y="1936651"/>
            <a:ext cx="1409700" cy="924520"/>
          </a:xfrm>
          <a:prstGeom prst="roundRect">
            <a:avLst>
              <a:gd name="adj" fmla="val 8929"/>
            </a:avLst>
          </a:prstGeom>
          <a:solidFill>
            <a:srgbClr val="0E6F6D"/>
          </a:solidFill>
          <a:ln w="12700">
            <a:solidFill>
              <a:srgbClr val="0E6F6D"/>
            </a:solidFill>
            <a:prstDash val="solid"/>
          </a:ln>
        </p:spPr>
        <p:txBody>
          <a:bodyPr/>
          <a:lstStyle/>
          <a:p>
            <a:endParaRPr lang="en-IN"/>
          </a:p>
        </p:txBody>
      </p:sp>
      <p:sp>
        <p:nvSpPr>
          <p:cNvPr id="20" name="Text 18"/>
          <p:cNvSpPr/>
          <p:nvPr/>
        </p:nvSpPr>
        <p:spPr>
          <a:xfrm>
            <a:off x="8521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Re-execute</a:t>
            </a:r>
            <a:endParaRPr lang="en-US" sz="1500" dirty="0"/>
          </a:p>
        </p:txBody>
      </p:sp>
      <p:sp>
        <p:nvSpPr>
          <p:cNvPr id="21" name="Text 19"/>
          <p:cNvSpPr/>
          <p:nvPr/>
        </p:nvSpPr>
        <p:spPr>
          <a:xfrm>
            <a:off x="8521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FE6E3"/>
                </a:solidFill>
                <a:latin typeface="JetBrains Mono" pitchFamily="34" charset="0"/>
                <a:ea typeface="JetBrains Mono" pitchFamily="34" charset="-122"/>
                <a:cs typeface="JetBrains Mono" pitchFamily="34" charset="-120"/>
              </a:rPr>
              <a:t>Lab 5</a:t>
            </a:r>
            <a:endParaRPr lang="en-US" sz="1200" dirty="0"/>
          </a:p>
        </p:txBody>
      </p:sp>
      <p:sp>
        <p:nvSpPr>
          <p:cNvPr id="22" name="Shape 20"/>
          <p:cNvSpPr/>
          <p:nvPr/>
        </p:nvSpPr>
        <p:spPr>
          <a:xfrm>
            <a:off x="9963150" y="1936651"/>
            <a:ext cx="1409700" cy="924520"/>
          </a:xfrm>
          <a:prstGeom prst="roundRect">
            <a:avLst>
              <a:gd name="adj" fmla="val 8929"/>
            </a:avLst>
          </a:prstGeom>
          <a:solidFill>
            <a:srgbClr val="0E6F6D"/>
          </a:solidFill>
          <a:ln w="12700">
            <a:solidFill>
              <a:srgbClr val="0E6F6D"/>
            </a:solidFill>
            <a:prstDash val="solid"/>
          </a:ln>
        </p:spPr>
        <p:txBody>
          <a:bodyPr/>
          <a:lstStyle/>
          <a:p>
            <a:endParaRPr lang="en-IN"/>
          </a:p>
        </p:txBody>
      </p:sp>
      <p:sp>
        <p:nvSpPr>
          <p:cNvPr id="23" name="Text 21"/>
          <p:cNvSpPr/>
          <p:nvPr/>
        </p:nvSpPr>
        <p:spPr>
          <a:xfrm>
            <a:off x="10045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Release</a:t>
            </a:r>
            <a:endParaRPr lang="en-US" sz="1500" dirty="0"/>
          </a:p>
        </p:txBody>
      </p:sp>
      <p:sp>
        <p:nvSpPr>
          <p:cNvPr id="24" name="Text 22"/>
          <p:cNvSpPr/>
          <p:nvPr/>
        </p:nvSpPr>
        <p:spPr>
          <a:xfrm>
            <a:off x="10045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FE6E3"/>
                </a:solidFill>
                <a:latin typeface="JetBrains Mono" pitchFamily="34" charset="0"/>
                <a:ea typeface="JetBrains Mono" pitchFamily="34" charset="-122"/>
                <a:cs typeface="JetBrains Mono" pitchFamily="34" charset="-120"/>
              </a:rPr>
              <a:t>Lab 5</a:t>
            </a:r>
            <a:endParaRPr lang="en-US" sz="1200" dirty="0"/>
          </a:p>
        </p:txBody>
      </p:sp>
      <p:sp>
        <p:nvSpPr>
          <p:cNvPr id="25" name="Shape 23"/>
          <p:cNvSpPr/>
          <p:nvPr/>
        </p:nvSpPr>
        <p:spPr>
          <a:xfrm>
            <a:off x="812800" y="3232646"/>
            <a:ext cx="3318867" cy="0"/>
          </a:xfrm>
          <a:prstGeom prst="line">
            <a:avLst/>
          </a:prstGeom>
          <a:noFill/>
          <a:ln w="19050">
            <a:solidFill>
              <a:srgbClr val="0E6F6D"/>
            </a:solidFill>
            <a:prstDash val="solid"/>
          </a:ln>
        </p:spPr>
        <p:txBody>
          <a:bodyPr/>
          <a:lstStyle/>
          <a:p>
            <a:endParaRPr lang="en-IN"/>
          </a:p>
        </p:txBody>
      </p:sp>
      <p:sp>
        <p:nvSpPr>
          <p:cNvPr id="26" name="Text 24"/>
          <p:cNvSpPr/>
          <p:nvPr/>
        </p:nvSpPr>
        <p:spPr>
          <a:xfrm>
            <a:off x="812800" y="3369171"/>
            <a:ext cx="3418433" cy="48766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16232E"/>
                </a:solidFill>
                <a:latin typeface="JetBrains Mono" pitchFamily="34" charset="0"/>
                <a:ea typeface="JetBrains Mono" pitchFamily="34" charset="-122"/>
                <a:cs typeface="JetBrains Mono" pitchFamily="34" charset="-120"/>
              </a:rPr>
              <a:t>PSI 0.81</a:t>
            </a:r>
            <a:endParaRPr lang="en-US" sz="2600" dirty="0"/>
          </a:p>
        </p:txBody>
      </p:sp>
      <p:sp>
        <p:nvSpPr>
          <p:cNvPr id="27" name="Text 25"/>
          <p:cNvSpPr/>
          <p:nvPr/>
        </p:nvSpPr>
        <p:spPr>
          <a:xfrm>
            <a:off x="812800" y="3882231"/>
            <a:ext cx="341843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input drift on units_7d</a:t>
            </a:r>
            <a:endParaRPr lang="en-US" sz="1400" dirty="0"/>
          </a:p>
        </p:txBody>
      </p:sp>
      <p:sp>
        <p:nvSpPr>
          <p:cNvPr id="28" name="Shape 26"/>
          <p:cNvSpPr/>
          <p:nvPr/>
        </p:nvSpPr>
        <p:spPr>
          <a:xfrm>
            <a:off x="4436467" y="3232646"/>
            <a:ext cx="3318966" cy="0"/>
          </a:xfrm>
          <a:prstGeom prst="line">
            <a:avLst/>
          </a:prstGeom>
          <a:noFill/>
          <a:ln w="19050">
            <a:solidFill>
              <a:srgbClr val="0E6F6D"/>
            </a:solidFill>
            <a:prstDash val="solid"/>
          </a:ln>
        </p:spPr>
        <p:txBody>
          <a:bodyPr/>
          <a:lstStyle/>
          <a:p>
            <a:endParaRPr lang="en-IN"/>
          </a:p>
        </p:txBody>
      </p:sp>
      <p:sp>
        <p:nvSpPr>
          <p:cNvPr id="29" name="Text 27"/>
          <p:cNvSpPr/>
          <p:nvPr/>
        </p:nvSpPr>
        <p:spPr>
          <a:xfrm>
            <a:off x="4436467" y="3369171"/>
            <a:ext cx="3418535" cy="94992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16232E"/>
                </a:solidFill>
                <a:latin typeface="JetBrains Mono" pitchFamily="34" charset="0"/>
                <a:ea typeface="JetBrains Mono" pitchFamily="34" charset="-122"/>
                <a:cs typeface="JetBrains Mono" pitchFamily="34" charset="-120"/>
              </a:rPr>
              <a:t>RERUN_DATA_PIPELINE</a:t>
            </a:r>
            <a:endParaRPr lang="en-US" sz="2600" dirty="0"/>
          </a:p>
        </p:txBody>
      </p:sp>
      <p:sp>
        <p:nvSpPr>
          <p:cNvPr id="30" name="Text 28"/>
          <p:cNvSpPr/>
          <p:nvPr/>
        </p:nvSpPr>
        <p:spPr>
          <a:xfrm>
            <a:off x="4436467" y="4344491"/>
            <a:ext cx="341853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the decision Lab 4 wrote</a:t>
            </a:r>
            <a:endParaRPr lang="en-US" sz="1400" dirty="0"/>
          </a:p>
        </p:txBody>
      </p:sp>
      <p:sp>
        <p:nvSpPr>
          <p:cNvPr id="31" name="Shape 29"/>
          <p:cNvSpPr/>
          <p:nvPr/>
        </p:nvSpPr>
        <p:spPr>
          <a:xfrm>
            <a:off x="8060234" y="3232646"/>
            <a:ext cx="3318966" cy="0"/>
          </a:xfrm>
          <a:prstGeom prst="line">
            <a:avLst/>
          </a:prstGeom>
          <a:noFill/>
          <a:ln w="19050">
            <a:solidFill>
              <a:srgbClr val="0E6F6D"/>
            </a:solidFill>
            <a:prstDash val="solid"/>
          </a:ln>
        </p:spPr>
        <p:txBody>
          <a:bodyPr/>
          <a:lstStyle/>
          <a:p>
            <a:endParaRPr lang="en-IN"/>
          </a:p>
        </p:txBody>
      </p:sp>
      <p:sp>
        <p:nvSpPr>
          <p:cNvPr id="32" name="Text 30"/>
          <p:cNvSpPr/>
          <p:nvPr/>
        </p:nvSpPr>
        <p:spPr>
          <a:xfrm>
            <a:off x="8060234" y="3369171"/>
            <a:ext cx="3418535" cy="487660"/>
          </a:xfrm>
          <a:prstGeom prst="rect">
            <a:avLst/>
          </a:prstGeom>
          <a:noFill/>
          <a:ln/>
        </p:spPr>
        <p:txBody>
          <a:bodyPr wrap="square" lIns="0" tIns="0" rIns="0" bIns="0" rtlCol="0" anchor="t">
            <a:normAutofit/>
          </a:bodyPr>
          <a:lstStyle/>
          <a:p>
            <a:pPr marL="0" indent="0" algn="l">
              <a:lnSpc>
                <a:spcPts val="3640"/>
              </a:lnSpc>
              <a:buNone/>
            </a:pPr>
            <a:r>
              <a:rPr lang="en-US" sz="2600" b="1" dirty="0">
                <a:solidFill>
                  <a:srgbClr val="16232E"/>
                </a:solidFill>
                <a:latin typeface="JetBrains Mono" pitchFamily="34" charset="0"/>
                <a:ea typeface="JetBrains Mono" pitchFamily="34" charset="-122"/>
                <a:cs typeface="JetBrains Mono" pitchFamily="34" charset="-120"/>
              </a:rPr>
              <a:t>1.0.0</a:t>
            </a:r>
            <a:endParaRPr lang="en-US" sz="2600" dirty="0"/>
          </a:p>
        </p:txBody>
      </p:sp>
      <p:sp>
        <p:nvSpPr>
          <p:cNvPr id="33" name="Text 31"/>
          <p:cNvSpPr/>
          <p:nvPr/>
        </p:nvSpPr>
        <p:spPr>
          <a:xfrm>
            <a:off x="8060234" y="3882231"/>
            <a:ext cx="341853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freshmart-reorder image, already built</a:t>
            </a:r>
            <a:endParaRPr lang="en-US" sz="1400" dirty="0"/>
          </a:p>
        </p:txBody>
      </p:sp>
      <p:sp>
        <p:nvSpPr>
          <p:cNvPr id="34" name="Text 3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35" name="Text 3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61399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THE QUESTION THIS SESSION ANSWERS</a:t>
            </a:r>
            <a:endParaRPr lang="en-US" sz="1200" dirty="0"/>
          </a:p>
        </p:txBody>
      </p:sp>
      <p:sp>
        <p:nvSpPr>
          <p:cNvPr id="3" name="Text 1"/>
          <p:cNvSpPr/>
          <p:nvPr/>
        </p:nvSpPr>
        <p:spPr>
          <a:xfrm>
            <a:off x="812800" y="2132112"/>
            <a:ext cx="10883392" cy="1690191"/>
          </a:xfrm>
          <a:prstGeom prst="rect">
            <a:avLst/>
          </a:prstGeom>
          <a:noFill/>
          <a:ln/>
        </p:spPr>
        <p:txBody>
          <a:bodyPr wrap="square" lIns="0" tIns="0" rIns="0" bIns="0" rtlCol="0" anchor="t">
            <a:normAutofit/>
          </a:bodyPr>
          <a:lstStyle/>
          <a:p>
            <a:pPr marL="0" indent="0" algn="l">
              <a:lnSpc>
                <a:spcPts val="4370"/>
              </a:lnSpc>
              <a:buNone/>
            </a:pPr>
            <a:r>
              <a:rPr lang="en-US" sz="3800" b="1" dirty="0">
                <a:solidFill>
                  <a:srgbClr val="F6F4EE"/>
                </a:solidFill>
                <a:latin typeface="IBM Plex Sans" pitchFamily="34" charset="0"/>
                <a:ea typeface="IBM Plex Sans" pitchFamily="34" charset="-122"/>
                <a:cs typeface="IBM Plex Sans" pitchFamily="34" charset="-120"/>
              </a:rPr>
              <a:t>Can a new model never take FreshMart down — and can reverting take one move rather than a rebuild?</a:t>
            </a:r>
            <a:endParaRPr lang="en-US" sz="3800" dirty="0"/>
          </a:p>
        </p:txBody>
      </p:sp>
      <p:sp>
        <p:nvSpPr>
          <p:cNvPr id="4" name="Text 2"/>
          <p:cNvSpPr/>
          <p:nvPr/>
        </p:nvSpPr>
        <p:spPr>
          <a:xfrm>
            <a:off x="812800" y="4101703"/>
            <a:ext cx="9810750" cy="96450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B8C5CB"/>
                </a:solidFill>
                <a:latin typeface="IBM Plex Sans" pitchFamily="34" charset="0"/>
                <a:ea typeface="IBM Plex Sans" pitchFamily="34" charset="-122"/>
                <a:cs typeface="IBM Plex Sans" pitchFamily="34" charset="-120"/>
              </a:rPr>
              <a:t>Somewhere between Lab 4's decision and a planner's screen sits every question worth asking: does the retrain clear its gates, who says it can serve, what happens to the current one, and how fast can you undo all of it.</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155088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1 · THE CANDIDATE ARRIVES</a:t>
            </a:r>
            <a:endParaRPr lang="en-US" sz="1200" dirty="0"/>
          </a:p>
        </p:txBody>
      </p:sp>
      <p:sp>
        <p:nvSpPr>
          <p:cNvPr id="3" name="Text 1"/>
          <p:cNvSpPr/>
          <p:nvPr/>
        </p:nvSpPr>
        <p:spPr>
          <a:xfrm>
            <a:off x="812800" y="1865809"/>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Newer is the weakest argument in production</a:t>
            </a:r>
            <a:endParaRPr lang="en-US" sz="3200" dirty="0"/>
          </a:p>
        </p:txBody>
      </p:sp>
      <p:sp>
        <p:nvSpPr>
          <p:cNvPr id="4" name="Shape 2"/>
          <p:cNvSpPr/>
          <p:nvPr/>
        </p:nvSpPr>
        <p:spPr>
          <a:xfrm>
            <a:off x="819150" y="2623939"/>
            <a:ext cx="5168900" cy="1579563"/>
          </a:xfrm>
          <a:prstGeom prst="roundRect">
            <a:avLst>
              <a:gd name="adj" fmla="val 6030"/>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54100" y="2858889"/>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A retrain can regress</a:t>
            </a:r>
            <a:endParaRPr lang="en-US" sz="1800" dirty="0"/>
          </a:p>
        </p:txBody>
      </p:sp>
      <p:sp>
        <p:nvSpPr>
          <p:cNvPr id="6" name="Text 4"/>
          <p:cNvSpPr/>
          <p:nvPr/>
        </p:nvSpPr>
        <p:spPr>
          <a:xfrm>
            <a:off x="1054100" y="3222030"/>
            <a:ext cx="483997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Especially one triggered by drift — because it learns from the drifted period, which may not be the world next week.</a:t>
            </a:r>
            <a:endParaRPr lang="en-US" sz="1400" dirty="0"/>
          </a:p>
        </p:txBody>
      </p:sp>
      <p:sp>
        <p:nvSpPr>
          <p:cNvPr id="7" name="Shape 5"/>
          <p:cNvSpPr/>
          <p:nvPr/>
        </p:nvSpPr>
        <p:spPr>
          <a:xfrm>
            <a:off x="6203950" y="2623939"/>
            <a:ext cx="5168900" cy="1579563"/>
          </a:xfrm>
          <a:prstGeom prst="roundRect">
            <a:avLst>
              <a:gd name="adj" fmla="val 6030"/>
            </a:avLst>
          </a:prstGeom>
          <a:solidFill>
            <a:srgbClr val="E2EEEC"/>
          </a:solidFill>
          <a:ln w="12700">
            <a:solidFill>
              <a:srgbClr val="0E6F6D"/>
            </a:solidFill>
            <a:prstDash val="solid"/>
          </a:ln>
        </p:spPr>
        <p:txBody>
          <a:bodyPr/>
          <a:lstStyle/>
          <a:p>
            <a:endParaRPr lang="en-IN"/>
          </a:p>
        </p:txBody>
      </p:sp>
      <p:sp>
        <p:nvSpPr>
          <p:cNvPr id="8" name="Text 6"/>
          <p:cNvSpPr/>
          <p:nvPr/>
        </p:nvSpPr>
        <p:spPr>
          <a:xfrm>
            <a:off x="6438900" y="2858889"/>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Ask the sharper question</a:t>
            </a:r>
            <a:endParaRPr lang="en-US" sz="1800" dirty="0"/>
          </a:p>
        </p:txBody>
      </p:sp>
      <p:sp>
        <p:nvSpPr>
          <p:cNvPr id="9" name="Text 7"/>
          <p:cNvSpPr/>
          <p:nvPr/>
        </p:nvSpPr>
        <p:spPr>
          <a:xfrm>
            <a:off x="6438900" y="3222030"/>
            <a:ext cx="4839970"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What do you compare it against, and on which data? Its training metric was measured on a different world from the champion's.</a:t>
            </a:r>
            <a:endParaRPr lang="en-US" sz="1400" dirty="0"/>
          </a:p>
        </p:txBody>
      </p:sp>
      <p:sp>
        <p:nvSpPr>
          <p:cNvPr id="10" name="Text 8"/>
          <p:cNvSpPr/>
          <p:nvPr/>
        </p:nvSpPr>
        <p:spPr>
          <a:xfrm>
            <a:off x="812800" y="4514652"/>
            <a:ext cx="10883392" cy="61456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6232E"/>
                </a:solidFill>
                <a:latin typeface="IBM Plex Sans" pitchFamily="34" charset="0"/>
                <a:ea typeface="IBM Plex Sans" pitchFamily="34" charset="-122"/>
                <a:cs typeface="IBM Plex Sans" pitchFamily="34" charset="-120"/>
              </a:rPr>
              <a:t>It has to clear the same gates Lab 2 built — quality against a floor, improvement on a baseline, and lineage — </a:t>
            </a:r>
            <a:r>
              <a:rPr lang="en-US" sz="1600" b="1" dirty="0">
                <a:solidFill>
                  <a:srgbClr val="16232E"/>
                </a:solidFill>
                <a:latin typeface="IBM Plex Sans" pitchFamily="34" charset="0"/>
                <a:ea typeface="IBM Plex Sans" pitchFamily="34" charset="-122"/>
                <a:cs typeface="IBM Plex Sans" pitchFamily="34" charset="-120"/>
              </a:rPr>
              <a:t>before anything points at it</a:t>
            </a:r>
            <a:r>
              <a:rPr lang="en-US" sz="1600" dirty="0">
                <a:solidFill>
                  <a:srgbClr val="16232E"/>
                </a:solidFill>
                <a:latin typeface="IBM Plex Sans" pitchFamily="34" charset="0"/>
                <a:ea typeface="IBM Plex Sans" pitchFamily="34" charset="-122"/>
                <a:cs typeface="IBM Plex Sans" pitchFamily="34" charset="-120"/>
              </a:rPr>
              <a:t>.</a:t>
            </a:r>
            <a:endParaRPr lang="en-US" sz="16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MISSIONS 2–3 · CONTINUOUS TRAINING, IMMUTABLE ARTIFACTS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Continuous training is not a cron job</a:t>
            </a:r>
            <a:endParaRPr lang="en-US" sz="3200" dirty="0"/>
          </a:p>
        </p:txBody>
      </p:sp>
      <p:sp>
        <p:nvSpPr>
          <p:cNvPr id="4" name="Shape 2"/>
          <p:cNvSpPr/>
          <p:nvPr/>
        </p:nvSpPr>
        <p:spPr>
          <a:xfrm>
            <a:off x="819150" y="1885851"/>
            <a:ext cx="5168900" cy="1632942"/>
          </a:xfrm>
          <a:prstGeom prst="roundRect">
            <a:avLst>
              <a:gd name="adj" fmla="val 5833"/>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54100" y="2120801"/>
            <a:ext cx="483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5A10"/>
                </a:solidFill>
                <a:latin typeface="JetBrains Mono" pitchFamily="34" charset="0"/>
                <a:ea typeface="JetBrains Mono" pitchFamily="34" charset="-122"/>
                <a:cs typeface="JetBrains Mono" pitchFamily="34" charset="-120"/>
              </a:rPr>
              <a:t>A cron job wearing a better name</a:t>
            </a:r>
            <a:endParaRPr lang="en-US" sz="1200" dirty="0"/>
          </a:p>
        </p:txBody>
      </p:sp>
      <p:sp>
        <p:nvSpPr>
          <p:cNvPr id="6" name="Text 4"/>
          <p:cNvSpPr/>
          <p:nvPr/>
        </p:nvSpPr>
        <p:spPr>
          <a:xfrm>
            <a:off x="1054100" y="242302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Retrain nightly</a:t>
            </a:r>
            <a:endParaRPr lang="en-US" sz="1800" dirty="0"/>
          </a:p>
        </p:txBody>
      </p:sp>
      <p:sp>
        <p:nvSpPr>
          <p:cNvPr id="7" name="Text 5"/>
          <p:cNvSpPr/>
          <p:nvPr/>
        </p:nvSpPr>
        <p:spPr>
          <a:xfrm>
            <a:off x="1054100" y="2786162"/>
            <a:ext cx="483997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Worth keeping as a slow safety net — but it is the backstop, not the trigger.</a:t>
            </a:r>
            <a:endParaRPr lang="en-US" sz="1400" dirty="0"/>
          </a:p>
        </p:txBody>
      </p:sp>
      <p:sp>
        <p:nvSpPr>
          <p:cNvPr id="8" name="Shape 6"/>
          <p:cNvSpPr/>
          <p:nvPr/>
        </p:nvSpPr>
        <p:spPr>
          <a:xfrm>
            <a:off x="6203950" y="1885851"/>
            <a:ext cx="5168900" cy="1632942"/>
          </a:xfrm>
          <a:prstGeom prst="roundRect">
            <a:avLst>
              <a:gd name="adj" fmla="val 5833"/>
            </a:avLst>
          </a:prstGeom>
          <a:solidFill>
            <a:srgbClr val="E2EEEC"/>
          </a:solidFill>
          <a:ln w="12700">
            <a:solidFill>
              <a:srgbClr val="0E6F6D"/>
            </a:solidFill>
            <a:prstDash val="solid"/>
          </a:ln>
        </p:spPr>
        <p:txBody>
          <a:bodyPr/>
          <a:lstStyle/>
          <a:p>
            <a:endParaRPr lang="en-IN"/>
          </a:p>
        </p:txBody>
      </p:sp>
      <p:sp>
        <p:nvSpPr>
          <p:cNvPr id="9" name="Text 7"/>
          <p:cNvSpPr/>
          <p:nvPr/>
        </p:nvSpPr>
        <p:spPr>
          <a:xfrm>
            <a:off x="6438900" y="2120801"/>
            <a:ext cx="483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The Lab 4 → Lab 5 hand-off IS continuous training</a:t>
            </a:r>
            <a:endParaRPr lang="en-US" sz="1200" dirty="0"/>
          </a:p>
        </p:txBody>
      </p:sp>
      <p:sp>
        <p:nvSpPr>
          <p:cNvPr id="10" name="Text 8"/>
          <p:cNvSpPr/>
          <p:nvPr/>
        </p:nvSpPr>
        <p:spPr>
          <a:xfrm>
            <a:off x="6438900" y="242302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Re-execute when something says so</a:t>
            </a:r>
            <a:endParaRPr lang="en-US" sz="1800" dirty="0"/>
          </a:p>
        </p:txBody>
      </p:sp>
      <p:sp>
        <p:nvSpPr>
          <p:cNvPr id="11" name="Text 9"/>
          <p:cNvSpPr/>
          <p:nvPr/>
        </p:nvSpPr>
        <p:spPr>
          <a:xfrm>
            <a:off x="6438900" y="2786162"/>
            <a:ext cx="483997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32E"/>
                </a:solidFill>
                <a:latin typeface="JetBrains Mono" pitchFamily="34" charset="0"/>
                <a:ea typeface="JetBrains Mono" pitchFamily="34" charset="-122"/>
                <a:cs typeface="JetBrains Mono" pitchFamily="34" charset="-120"/>
              </a:rPr>
              <a:t>artifacts/trigger_result.json</a:t>
            </a:r>
            <a:endParaRPr lang="en-US" sz="1300" dirty="0"/>
          </a:p>
          <a:p>
            <a:pPr marL="0" indent="0" algn="l">
              <a:lnSpc>
                <a:spcPts val="1820"/>
              </a:lnSpc>
              <a:buNone/>
            </a:pPr>
            <a:r>
              <a:rPr lang="en-US" sz="1300" dirty="0">
                <a:solidFill>
                  <a:srgbClr val="16232E"/>
                </a:solidFill>
                <a:latin typeface="JetBrains Mono" pitchFamily="34" charset="0"/>
                <a:ea typeface="JetBrains Mono" pitchFamily="34" charset="-122"/>
                <a:cs typeface="JetBrains Mono" pitchFamily="34" charset="-120"/>
              </a:rPr>
              <a:t>→ rerun_data_pipeline</a:t>
            </a:r>
            <a:endParaRPr lang="en-US" sz="1300" dirty="0"/>
          </a:p>
        </p:txBody>
      </p:sp>
      <p:sp>
        <p:nvSpPr>
          <p:cNvPr id="12" name="Shape 10"/>
          <p:cNvSpPr/>
          <p:nvPr/>
        </p:nvSpPr>
        <p:spPr>
          <a:xfrm>
            <a:off x="812800" y="3829943"/>
            <a:ext cx="10566400" cy="1536601"/>
          </a:xfrm>
          <a:prstGeom prst="roundRect">
            <a:avLst>
              <a:gd name="adj" fmla="val 6612"/>
            </a:avLst>
          </a:prstGeom>
          <a:solidFill>
            <a:srgbClr val="16232E"/>
          </a:solidFill>
          <a:ln/>
        </p:spPr>
        <p:txBody>
          <a:bodyPr/>
          <a:lstStyle/>
          <a:p>
            <a:endParaRPr lang="en-IN"/>
          </a:p>
        </p:txBody>
      </p:sp>
      <p:sp>
        <p:nvSpPr>
          <p:cNvPr id="13" name="Text 11"/>
          <p:cNvSpPr/>
          <p:nvPr/>
        </p:nvSpPr>
        <p:spPr>
          <a:xfrm>
            <a:off x="1066800" y="4033143"/>
            <a:ext cx="103601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A63B"/>
                </a:solidFill>
                <a:latin typeface="JetBrains Mono" pitchFamily="34" charset="0"/>
                <a:ea typeface="JetBrains Mono" pitchFamily="34" charset="-122"/>
                <a:cs typeface="JetBrains Mono" pitchFamily="34" charset="-120"/>
              </a:rPr>
              <a:t>MISSION 3 · BUILD AN IMMUTABLE ARTIFACT</a:t>
            </a:r>
            <a:endParaRPr lang="en-US" sz="1200" dirty="0"/>
          </a:p>
        </p:txBody>
      </p:sp>
      <p:sp>
        <p:nvSpPr>
          <p:cNvPr id="14" name="Text 12"/>
          <p:cNvSpPr/>
          <p:nvPr/>
        </p:nvSpPr>
        <p:spPr>
          <a:xfrm>
            <a:off x="1066800" y="4309963"/>
            <a:ext cx="10360152"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What ships is immutable and reproducible: the exact model version, the exact dependencies, the exact data hash. </a:t>
            </a:r>
            <a:r>
              <a:rPr lang="en-US" sz="1600" b="1" dirty="0">
                <a:solidFill>
                  <a:srgbClr val="F6F4EE"/>
                </a:solidFill>
                <a:latin typeface="IBM Plex Sans" pitchFamily="34" charset="0"/>
                <a:ea typeface="IBM Plex Sans" pitchFamily="34" charset="-122"/>
                <a:cs typeface="IBM Plex Sans" pitchFamily="34" charset="-120"/>
              </a:rPr>
              <a:t>This lab never rebuilds the image to promote</a:t>
            </a:r>
            <a:r>
              <a:rPr lang="en-US" sz="1600" dirty="0">
                <a:solidFill>
                  <a:srgbClr val="F6F4EE"/>
                </a:solidFill>
                <a:latin typeface="IBM Plex Sans" pitchFamily="34" charset="0"/>
                <a:ea typeface="IBM Plex Sans" pitchFamily="34" charset="-122"/>
                <a:cs typeface="IBM Plex Sans" pitchFamily="34" charset="-120"/>
              </a:rPr>
              <a:t> — promotion moves a pointer, and the image reads the pointer at startup.</a:t>
            </a:r>
            <a:endParaRPr lang="en-US" sz="16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marL="0" indent="0" algn="l">
              <a:lnSpc>
                <a:spcPts val="1675"/>
              </a:lnSpc>
              <a:buNone/>
            </a:pPr>
            <a:r>
              <a:rPr lang="en-US" sz="1196" kern="0" spc="150" dirty="0">
                <a:solidFill>
                  <a:srgbClr val="0E6F6D"/>
                </a:solidFill>
                <a:latin typeface="JetBrains Mono" pitchFamily="34" charset="0"/>
                <a:ea typeface="JetBrains Mono" pitchFamily="34" charset="-122"/>
                <a:cs typeface="JetBrains Mono" pitchFamily="34" charset="-120"/>
              </a:rPr>
              <a:t>MISSION 4 · THE CI/CD BACKBONE</a:t>
            </a:r>
            <a:endParaRPr lang="en-US" sz="1196" dirty="0"/>
          </a:p>
        </p:txBody>
      </p:sp>
      <p:sp>
        <p:nvSpPr>
          <p:cNvPr id="3" name="Text 1"/>
          <p:cNvSpPr/>
          <p:nvPr/>
        </p:nvSpPr>
        <p:spPr>
          <a:xfrm>
            <a:off x="812800" y="1124347"/>
            <a:ext cx="10883392" cy="465237"/>
          </a:xfrm>
          <a:prstGeom prst="rect">
            <a:avLst/>
          </a:prstGeom>
          <a:noFill/>
          <a:ln/>
        </p:spPr>
        <p:txBody>
          <a:bodyPr wrap="square" lIns="0" tIns="0" rIns="0" bIns="0" rtlCol="0" anchor="t">
            <a:normAutofit/>
          </a:bodyPr>
          <a:lstStyle/>
          <a:p>
            <a:pPr marL="0" indent="0" algn="l">
              <a:lnSpc>
                <a:spcPts val="3465"/>
              </a:lnSpc>
              <a:buNone/>
            </a:pPr>
            <a:r>
              <a:rPr lang="en-US" sz="3150" b="1" dirty="0">
                <a:solidFill>
                  <a:srgbClr val="16232E"/>
                </a:solidFill>
                <a:latin typeface="IBM Plex Sans" pitchFamily="34" charset="0"/>
                <a:ea typeface="IBM Plex Sans" pitchFamily="34" charset="-122"/>
                <a:cs typeface="IBM Plex Sans" pitchFamily="34" charset="-120"/>
              </a:rPr>
              <a:t>Five jobs, each able to stop the run</a:t>
            </a:r>
            <a:endParaRPr lang="en-US" sz="3150" dirty="0"/>
          </a:p>
        </p:txBody>
      </p:sp>
      <p:sp>
        <p:nvSpPr>
          <p:cNvPr id="4" name="Shape 2"/>
          <p:cNvSpPr/>
          <p:nvPr/>
        </p:nvSpPr>
        <p:spPr>
          <a:xfrm>
            <a:off x="812800" y="1792784"/>
            <a:ext cx="10566400" cy="3275707"/>
          </a:xfrm>
          <a:prstGeom prst="roundRect">
            <a:avLst>
              <a:gd name="adj" fmla="val 3102"/>
            </a:avLst>
          </a:prstGeom>
          <a:solidFill>
            <a:srgbClr val="16232E"/>
          </a:solidFill>
          <a:ln/>
        </p:spPr>
        <p:txBody>
          <a:bodyPr/>
          <a:lstStyle/>
          <a:p>
            <a:endParaRPr lang="en-IN"/>
          </a:p>
        </p:txBody>
      </p:sp>
      <p:sp>
        <p:nvSpPr>
          <p:cNvPr id="5" name="Text 3"/>
          <p:cNvSpPr/>
          <p:nvPr/>
        </p:nvSpPr>
        <p:spPr>
          <a:xfrm>
            <a:off x="1041400" y="2021384"/>
            <a:ext cx="10412476" cy="2843907"/>
          </a:xfrm>
          <a:prstGeom prst="rect">
            <a:avLst/>
          </a:prstGeom>
          <a:noFill/>
          <a:ln/>
        </p:spPr>
        <p:txBody>
          <a:bodyPr wrap="square" lIns="0" tIns="0" rIns="0" bIns="0" rtlCol="0" anchor="t">
            <a:normAutofit/>
          </a:bodyPr>
          <a:lstStyle/>
          <a:p>
            <a:pPr marL="0" indent="0" algn="l">
              <a:lnSpc>
                <a:spcPts val="1852"/>
              </a:lnSpc>
              <a:buNone/>
            </a:pPr>
            <a:r>
              <a:rPr lang="en-US" sz="1234" dirty="0">
                <a:solidFill>
                  <a:srgbClr val="B8C5CB"/>
                </a:solidFill>
                <a:latin typeface="JetBrains Mono" pitchFamily="34" charset="0"/>
                <a:ea typeface="JetBrains Mono" pitchFamily="34" charset="-122"/>
                <a:cs typeface="JetBrains Mono" pitchFamily="34" charset="-120"/>
              </a:rPr>
              <a:t>── JOB: test (data contract) ──────────────</a:t>
            </a:r>
            <a:endParaRPr lang="en-US" sz="1234" dirty="0"/>
          </a:p>
          <a:p>
            <a:pPr marL="0" indent="0" algn="l">
              <a:lnSpc>
                <a:spcPts val="1852"/>
              </a:lnSpc>
              <a:buNone/>
            </a:pPr>
            <a:r>
              <a:rPr lang="en-US" sz="1234" dirty="0">
                <a:solidFill>
                  <a:srgbClr val="E7EEF0"/>
                </a:solidFill>
                <a:latin typeface="JetBrains Mono" pitchFamily="34" charset="0"/>
                <a:ea typeface="JetBrains Mono" pitchFamily="34" charset="-122"/>
                <a:cs typeface="JetBrains Mono" pitchFamily="34" charset="-120"/>
              </a:rPr>
              <a:t>[ci] data contract: PASS</a:t>
            </a:r>
            <a:endParaRPr lang="en-US" sz="1234" dirty="0"/>
          </a:p>
          <a:p>
            <a:pPr marL="0" indent="0" algn="l">
              <a:lnSpc>
                <a:spcPts val="1852"/>
              </a:lnSpc>
              <a:buNone/>
            </a:pPr>
            <a:r>
              <a:rPr lang="en-US" sz="1234" dirty="0">
                <a:solidFill>
                  <a:srgbClr val="B8C5CB"/>
                </a:solidFill>
                <a:latin typeface="JetBrains Mono" pitchFamily="34" charset="0"/>
                <a:ea typeface="JetBrains Mono" pitchFamily="34" charset="-122"/>
                <a:cs typeface="JetBrains Mono" pitchFamily="34" charset="-120"/>
              </a:rPr>
              <a:t>── JOB: build (re-execute, retrain, register) ──</a:t>
            </a:r>
            <a:endParaRPr lang="en-US" sz="1234" dirty="0"/>
          </a:p>
          <a:p>
            <a:pPr marL="0" indent="0" algn="l">
              <a:lnSpc>
                <a:spcPts val="1852"/>
              </a:lnSpc>
              <a:buNone/>
            </a:pPr>
            <a:r>
              <a:rPr lang="en-US" sz="1234" dirty="0">
                <a:solidFill>
                  <a:srgbClr val="E7EEF0"/>
                </a:solidFill>
                <a:latin typeface="JetBrains Mono" pitchFamily="34" charset="0"/>
                <a:ea typeface="JetBrains Mono" pitchFamily="34" charset="-122"/>
                <a:cs typeface="JetBrains Mono" pitchFamily="34" charset="-120"/>
              </a:rPr>
              <a:t>[ci] @champion = v4 (logreg) AUC=0.6972 data_hash=e0ce921bf845</a:t>
            </a:r>
            <a:endParaRPr lang="en-US" sz="1234" dirty="0"/>
          </a:p>
          <a:p>
            <a:pPr marL="0" indent="0" algn="l">
              <a:lnSpc>
                <a:spcPts val="1852"/>
              </a:lnSpc>
              <a:buNone/>
            </a:pPr>
            <a:r>
              <a:rPr lang="en-US" sz="1234" dirty="0">
                <a:solidFill>
                  <a:srgbClr val="B8C5CB"/>
                </a:solidFill>
                <a:latin typeface="JetBrains Mono" pitchFamily="34" charset="0"/>
                <a:ea typeface="JetBrains Mono" pitchFamily="34" charset="-122"/>
                <a:cs typeface="JetBrains Mono" pitchFamily="34" charset="-120"/>
              </a:rPr>
              <a:t>── JOB: gate (quality + lineage) ──────────</a:t>
            </a:r>
            <a:endParaRPr lang="en-US" sz="1234" dirty="0"/>
          </a:p>
          <a:p>
            <a:pPr marL="0" indent="0" algn="l">
              <a:lnSpc>
                <a:spcPts val="1852"/>
              </a:lnSpc>
              <a:buNone/>
            </a:pPr>
            <a:r>
              <a:rPr lang="en-US" sz="1234" dirty="0">
                <a:solidFill>
                  <a:srgbClr val="E7EEF0"/>
                </a:solidFill>
                <a:latin typeface="JetBrains Mono" pitchFamily="34" charset="0"/>
                <a:ea typeface="JetBrains Mono" pitchFamily="34" charset="-122"/>
                <a:cs typeface="JetBrains Mono" pitchFamily="34" charset="-120"/>
              </a:rPr>
              <a:t>[ci] quality gate PASS (AUC 0.6972 &gt;= 0.65)  ·  lineage gate PASS</a:t>
            </a:r>
            <a:endParaRPr lang="en-US" sz="1234" dirty="0"/>
          </a:p>
          <a:p>
            <a:pPr marL="0" indent="0" algn="l">
              <a:lnSpc>
                <a:spcPts val="1852"/>
              </a:lnSpc>
              <a:buNone/>
            </a:pPr>
            <a:r>
              <a:rPr lang="en-US" sz="1234" dirty="0">
                <a:solidFill>
                  <a:srgbClr val="B8C5CB"/>
                </a:solidFill>
                <a:latin typeface="JetBrains Mono" pitchFamily="34" charset="0"/>
                <a:ea typeface="JetBrains Mono" pitchFamily="34" charset="-122"/>
                <a:cs typeface="JetBrains Mono" pitchFamily="34" charset="-120"/>
              </a:rPr>
              <a:t>── JOB: promote (@production &lt;- @champion) ──</a:t>
            </a:r>
            <a:endParaRPr lang="en-US" sz="1234" dirty="0"/>
          </a:p>
          <a:p>
            <a:pPr marL="0" indent="0" algn="l">
              <a:lnSpc>
                <a:spcPts val="1852"/>
              </a:lnSpc>
              <a:buNone/>
            </a:pPr>
            <a:r>
              <a:rPr lang="en-US" sz="1234" dirty="0">
                <a:solidFill>
                  <a:srgbClr val="E7EEF0"/>
                </a:solidFill>
                <a:latin typeface="JetBrains Mono" pitchFamily="34" charset="0"/>
                <a:ea typeface="JetBrains Mono" pitchFamily="34" charset="-122"/>
                <a:cs typeface="JetBrains Mono" pitchFamily="34" charset="-120"/>
              </a:rPr>
              <a:t>[ci] rollback pointer @previous -&gt; v3  ·  [ci] @production -&gt; v4</a:t>
            </a:r>
            <a:endParaRPr lang="en-US" sz="1234" dirty="0"/>
          </a:p>
          <a:p>
            <a:pPr marL="0" indent="0" algn="l">
              <a:lnSpc>
                <a:spcPts val="1852"/>
              </a:lnSpc>
              <a:buNone/>
            </a:pPr>
            <a:r>
              <a:rPr lang="en-US" sz="1234" dirty="0">
                <a:solidFill>
                  <a:srgbClr val="B8C5CB"/>
                </a:solidFill>
                <a:latin typeface="JetBrains Mono" pitchFamily="34" charset="0"/>
                <a:ea typeface="JetBrains Mono" pitchFamily="34" charset="-122"/>
                <a:cs typeface="JetBrains Mono" pitchFamily="34" charset="-120"/>
              </a:rPr>
              <a:t>── JOB: deploy + smoke test (@production) ──</a:t>
            </a:r>
            <a:endParaRPr lang="en-US" sz="1234" dirty="0"/>
          </a:p>
          <a:p>
            <a:pPr marL="0" indent="0" algn="l">
              <a:lnSpc>
                <a:spcPts val="1852"/>
              </a:lnSpc>
              <a:buNone/>
            </a:pPr>
            <a:r>
              <a:rPr lang="en-US" sz="1234" dirty="0">
                <a:solidFill>
                  <a:srgbClr val="E7EEF0"/>
                </a:solidFill>
                <a:latin typeface="JetBrains Mono" pitchFamily="34" charset="0"/>
                <a:ea typeface="JetBrains Mono" pitchFamily="34" charset="-122"/>
                <a:cs typeface="JetBrains Mono" pitchFamily="34" charset="-120"/>
              </a:rPr>
              <a:t>[ci] service ready: serving v4 via @production</a:t>
            </a:r>
            <a:endParaRPr lang="en-US" sz="1234" dirty="0"/>
          </a:p>
          <a:p>
            <a:pPr marL="0" indent="0" algn="l">
              <a:lnSpc>
                <a:spcPts val="1852"/>
              </a:lnSpc>
              <a:buNone/>
            </a:pPr>
            <a:r>
              <a:rPr lang="en-US" sz="1234" dirty="0">
                <a:solidFill>
                  <a:srgbClr val="E7EEF0"/>
                </a:solidFill>
                <a:latin typeface="JetBrains Mono" pitchFamily="34" charset="0"/>
                <a:ea typeface="JetBrains Mono" pitchFamily="34" charset="-122"/>
                <a:cs typeface="JetBrains Mono" pitchFamily="34" charset="-120"/>
              </a:rPr>
              <a:t>[ci] smoke test HTTP 200: S001/P0001 -&gt; 0.0058 (no action)</a:t>
            </a:r>
            <a:endParaRPr lang="en-US" sz="1234" dirty="0"/>
          </a:p>
          <a:p>
            <a:pPr marL="0" indent="0" algn="l">
              <a:lnSpc>
                <a:spcPts val="1852"/>
              </a:lnSpc>
              <a:buNone/>
            </a:pPr>
            <a:r>
              <a:rPr lang="en-US" sz="1234" dirty="0">
                <a:solidFill>
                  <a:srgbClr val="8FD6C6"/>
                </a:solidFill>
                <a:latin typeface="JetBrains Mono" pitchFamily="34" charset="0"/>
                <a:ea typeface="JetBrains Mono" pitchFamily="34" charset="-122"/>
                <a:cs typeface="JetBrains Mono" pitchFamily="34" charset="-120"/>
              </a:rPr>
              <a:t>[ci] PIPELINE GREEN - production is live and serving.</a:t>
            </a:r>
            <a:endParaRPr lang="en-US" sz="1234" dirty="0"/>
          </a:p>
        </p:txBody>
      </p:sp>
      <p:sp>
        <p:nvSpPr>
          <p:cNvPr id="6" name="Text 4"/>
          <p:cNvSpPr/>
          <p:nvPr/>
        </p:nvSpPr>
        <p:spPr>
          <a:xfrm>
            <a:off x="812800" y="5297091"/>
            <a:ext cx="10883392" cy="570309"/>
          </a:xfrm>
          <a:prstGeom prst="rect">
            <a:avLst/>
          </a:prstGeom>
          <a:noFill/>
          <a:ln/>
        </p:spPr>
        <p:txBody>
          <a:bodyPr wrap="square" lIns="0" tIns="0" rIns="0" bIns="0" rtlCol="0" anchor="t">
            <a:normAutofit/>
          </a:bodyPr>
          <a:lstStyle/>
          <a:p>
            <a:pPr marL="0" indent="0" algn="l">
              <a:lnSpc>
                <a:spcPts val="2161"/>
              </a:lnSpc>
              <a:buNone/>
            </a:pPr>
            <a:r>
              <a:rPr lang="en-US" sz="1491" dirty="0">
                <a:solidFill>
                  <a:srgbClr val="16232E"/>
                </a:solidFill>
                <a:latin typeface="IBM Plex Sans" pitchFamily="34" charset="0"/>
                <a:ea typeface="IBM Plex Sans" pitchFamily="34" charset="-122"/>
                <a:cs typeface="IBM Plex Sans" pitchFamily="34" charset="-120"/>
              </a:rPr>
              <a:t>Run it with </a:t>
            </a:r>
            <a:r>
              <a:rPr lang="en-US" sz="1491" dirty="0">
                <a:solidFill>
                  <a:srgbClr val="0E6F6D"/>
                </a:solidFill>
                <a:latin typeface="IBM Plex Sans" pitchFamily="34" charset="0"/>
                <a:ea typeface="IBM Plex Sans" pitchFamily="34" charset="-122"/>
                <a:cs typeface="IBM Plex Sans" pitchFamily="34" charset="-120"/>
              </a:rPr>
              <a:t>python pipelines/ci_cd_local.py</a:t>
            </a:r>
            <a:r>
              <a:rPr lang="en-US" sz="1491" dirty="0">
                <a:solidFill>
                  <a:srgbClr val="16232E"/>
                </a:solidFill>
                <a:latin typeface="IBM Plex Sans" pitchFamily="34" charset="0"/>
                <a:ea typeface="IBM Plex Sans" pitchFamily="34" charset="-122"/>
                <a:cs typeface="IBM Plex Sans" pitchFamily="34" charset="-120"/>
              </a:rPr>
              <a:t> — the same shape a GitHub Actions workflow has, with the runner swapped for your laptop.</a:t>
            </a:r>
            <a:endParaRPr lang="en-US" sz="1491"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8"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117633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READ THE PROMOTE JOB TWICE</a:t>
            </a:r>
            <a:endParaRPr lang="en-US" sz="1200" dirty="0"/>
          </a:p>
        </p:txBody>
      </p:sp>
      <p:sp>
        <p:nvSpPr>
          <p:cNvPr id="3" name="Text 1"/>
          <p:cNvSpPr/>
          <p:nvPr/>
        </p:nvSpPr>
        <p:spPr>
          <a:xfrm>
            <a:off x="812800" y="1491258"/>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Rollback is arranged at the instant the new version goes live</a:t>
            </a:r>
            <a:endParaRPr lang="en-US" sz="3200" dirty="0"/>
          </a:p>
        </p:txBody>
      </p:sp>
      <p:sp>
        <p:nvSpPr>
          <p:cNvPr id="4" name="Shape 2"/>
          <p:cNvSpPr/>
          <p:nvPr/>
        </p:nvSpPr>
        <p:spPr>
          <a:xfrm>
            <a:off x="819150" y="2696369"/>
            <a:ext cx="5168900" cy="1881783"/>
          </a:xfrm>
          <a:prstGeom prst="roundRect">
            <a:avLst>
              <a:gd name="adj" fmla="val 5062"/>
            </a:avLst>
          </a:prstGeom>
          <a:solidFill>
            <a:srgbClr val="E2EEEC"/>
          </a:solidFill>
          <a:ln w="12700">
            <a:solidFill>
              <a:srgbClr val="0E6F6D"/>
            </a:solidFill>
            <a:prstDash val="solid"/>
          </a:ln>
        </p:spPr>
        <p:txBody>
          <a:bodyPr/>
          <a:lstStyle/>
          <a:p>
            <a:endParaRPr lang="en-IN"/>
          </a:p>
        </p:txBody>
      </p:sp>
      <p:sp>
        <p:nvSpPr>
          <p:cNvPr id="5" name="Text 3"/>
          <p:cNvSpPr/>
          <p:nvPr/>
        </p:nvSpPr>
        <p:spPr>
          <a:xfrm>
            <a:off x="1054100" y="2931319"/>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@previous is recorded first</a:t>
            </a:r>
            <a:endParaRPr lang="en-US" sz="1800" dirty="0"/>
          </a:p>
        </p:txBody>
      </p:sp>
      <p:sp>
        <p:nvSpPr>
          <p:cNvPr id="6" name="Text 4"/>
          <p:cNvSpPr/>
          <p:nvPr/>
        </p:nvSpPr>
        <p:spPr>
          <a:xfrm>
            <a:off x="1054100" y="3294459"/>
            <a:ext cx="483997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32E"/>
                </a:solidFill>
                <a:latin typeface="JetBrains Mono" pitchFamily="34" charset="0"/>
                <a:ea typeface="JetBrains Mono" pitchFamily="34" charset="-122"/>
                <a:cs typeface="JetBrains Mono" pitchFamily="34" charset="-120"/>
              </a:rPr>
              <a:t>@previous → v3</a:t>
            </a:r>
            <a:endParaRPr lang="en-US" sz="1300" dirty="0"/>
          </a:p>
          <a:p>
            <a:pPr marL="0" indent="0" algn="l">
              <a:lnSpc>
                <a:spcPts val="1820"/>
              </a:lnSpc>
              <a:buNone/>
            </a:pPr>
            <a:r>
              <a:rPr lang="en-US" sz="1300" dirty="0">
                <a:solidFill>
                  <a:srgbClr val="16232E"/>
                </a:solidFill>
                <a:latin typeface="JetBrains Mono" pitchFamily="34" charset="0"/>
                <a:ea typeface="JetBrains Mono" pitchFamily="34" charset="-122"/>
                <a:cs typeface="JetBrains Mono" pitchFamily="34" charset="-120"/>
              </a:rPr>
              <a:t>@production → v4</a:t>
            </a:r>
            <a:endParaRPr lang="en-US" sz="1300" dirty="0"/>
          </a:p>
        </p:txBody>
      </p:sp>
      <p:sp>
        <p:nvSpPr>
          <p:cNvPr id="7" name="Text 5"/>
          <p:cNvSpPr/>
          <p:nvPr/>
        </p:nvSpPr>
        <p:spPr>
          <a:xfrm>
            <a:off x="1054100" y="3845520"/>
            <a:ext cx="483997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Nobody has to remember to arrange the escape route. It exists before it is needed.</a:t>
            </a:r>
            <a:endParaRPr lang="en-US" sz="1400" dirty="0"/>
          </a:p>
        </p:txBody>
      </p:sp>
      <p:sp>
        <p:nvSpPr>
          <p:cNvPr id="8" name="Shape 6"/>
          <p:cNvSpPr/>
          <p:nvPr/>
        </p:nvSpPr>
        <p:spPr>
          <a:xfrm>
            <a:off x="6203950" y="2696369"/>
            <a:ext cx="5168900" cy="1881783"/>
          </a:xfrm>
          <a:prstGeom prst="roundRect">
            <a:avLst>
              <a:gd name="adj" fmla="val 5062"/>
            </a:avLst>
          </a:prstGeom>
          <a:solidFill>
            <a:srgbClr val="E2EEEC"/>
          </a:solidFill>
          <a:ln w="12700">
            <a:solidFill>
              <a:srgbClr val="0E6F6D"/>
            </a:solidFill>
            <a:prstDash val="solid"/>
          </a:ln>
        </p:spPr>
        <p:txBody>
          <a:bodyPr/>
          <a:lstStyle/>
          <a:p>
            <a:endParaRPr lang="en-IN"/>
          </a:p>
        </p:txBody>
      </p:sp>
      <p:sp>
        <p:nvSpPr>
          <p:cNvPr id="9" name="Text 7"/>
          <p:cNvSpPr/>
          <p:nvPr/>
        </p:nvSpPr>
        <p:spPr>
          <a:xfrm>
            <a:off x="6438900" y="2931319"/>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The smoke test asks which version</a:t>
            </a:r>
            <a:endParaRPr lang="en-US" sz="1800" dirty="0"/>
          </a:p>
        </p:txBody>
      </p:sp>
      <p:sp>
        <p:nvSpPr>
          <p:cNvPr id="10" name="Text 8"/>
          <p:cNvSpPr/>
          <p:nvPr/>
        </p:nvSpPr>
        <p:spPr>
          <a:xfrm>
            <a:off x="6438900" y="3294459"/>
            <a:ext cx="483997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32E"/>
                </a:solidFill>
                <a:latin typeface="JetBrains Mono" pitchFamily="34" charset="0"/>
                <a:ea typeface="JetBrains Mono" pitchFamily="34" charset="-122"/>
                <a:cs typeface="JetBrains Mono" pitchFamily="34" charset="-120"/>
              </a:rPr>
              <a:t>service ready: serving v4</a:t>
            </a:r>
            <a:endParaRPr lang="en-US" sz="1300" dirty="0"/>
          </a:p>
          <a:p>
            <a:pPr marL="0" indent="0" algn="l">
              <a:lnSpc>
                <a:spcPts val="1820"/>
              </a:lnSpc>
              <a:buNone/>
            </a:pPr>
            <a:r>
              <a:rPr lang="en-US" sz="1300" dirty="0">
                <a:solidFill>
                  <a:srgbClr val="16232E"/>
                </a:solidFill>
                <a:latin typeface="JetBrains Mono" pitchFamily="34" charset="0"/>
                <a:ea typeface="JetBrains Mono" pitchFamily="34" charset="-122"/>
                <a:cs typeface="JetBrains Mono" pitchFamily="34" charset="-120"/>
              </a:rPr>
              <a:t>via @production</a:t>
            </a:r>
            <a:endParaRPr lang="en-US" sz="1300" dirty="0"/>
          </a:p>
        </p:txBody>
      </p:sp>
      <p:sp>
        <p:nvSpPr>
          <p:cNvPr id="11" name="Text 9"/>
          <p:cNvSpPr/>
          <p:nvPr/>
        </p:nvSpPr>
        <p:spPr>
          <a:xfrm>
            <a:off x="6438900" y="3845520"/>
            <a:ext cx="483997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A deploy that silently loaded the old model fails the pipeline instead of passing it.</a:t>
            </a:r>
            <a:endParaRPr lang="en-US" sz="1400" dirty="0"/>
          </a:p>
        </p:txBody>
      </p:sp>
      <p:sp>
        <p:nvSpPr>
          <p:cNvPr id="12" name="Text 10"/>
          <p:cNvSpPr/>
          <p:nvPr/>
        </p:nvSpPr>
        <p:spPr>
          <a:xfrm>
            <a:off x="812800" y="4889302"/>
            <a:ext cx="10883392" cy="61456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6232E"/>
                </a:solidFill>
                <a:latin typeface="IBM Plex Sans" pitchFamily="34" charset="0"/>
                <a:ea typeface="IBM Plex Sans" pitchFamily="34" charset="-122"/>
                <a:cs typeface="IBM Plex Sans" pitchFamily="34" charset="-120"/>
              </a:rPr>
              <a:t>A smoke test that only checks for HTTP 200 would have passed that deploy. </a:t>
            </a:r>
            <a:r>
              <a:rPr lang="en-US" sz="1600" b="1" dirty="0">
                <a:solidFill>
                  <a:srgbClr val="16232E"/>
                </a:solidFill>
                <a:latin typeface="IBM Plex Sans" pitchFamily="34" charset="0"/>
                <a:ea typeface="IBM Plex Sans" pitchFamily="34" charset="-122"/>
                <a:cs typeface="IBM Plex Sans" pitchFamily="34" charset="-120"/>
              </a:rPr>
              <a:t>Ask the service what it is, not just whether it answers.</a:t>
            </a:r>
            <a:endParaRPr lang="en-US" sz="16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PILLAR FOCUS · DEPLOYMENT STRATEGIES, IN DEPTH</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Four strategies, none of which requires a rebuild</a:t>
            </a:r>
            <a:endParaRPr lang="en-US" sz="3200" dirty="0"/>
          </a:p>
        </p:txBody>
      </p:sp>
      <p:sp>
        <p:nvSpPr>
          <p:cNvPr id="4" name="Shape 2"/>
          <p:cNvSpPr/>
          <p:nvPr/>
        </p:nvSpPr>
        <p:spPr>
          <a:xfrm>
            <a:off x="812800" y="1835051"/>
            <a:ext cx="10566400" cy="0"/>
          </a:xfrm>
          <a:prstGeom prst="line">
            <a:avLst/>
          </a:prstGeom>
          <a:noFill/>
          <a:ln w="12700">
            <a:solidFill>
              <a:srgbClr val="141413">
                <a:alpha val="22000"/>
              </a:srgbClr>
            </a:solidFill>
            <a:prstDash val="solid"/>
          </a:ln>
        </p:spPr>
        <p:txBody>
          <a:bodyPr/>
          <a:lstStyle/>
          <a:p>
            <a:endParaRPr lang="en-IN"/>
          </a:p>
        </p:txBody>
      </p:sp>
      <p:sp>
        <p:nvSpPr>
          <p:cNvPr id="5" name="Shape 3"/>
          <p:cNvSpPr/>
          <p:nvPr/>
        </p:nvSpPr>
        <p:spPr>
          <a:xfrm>
            <a:off x="819150" y="1828701"/>
            <a:ext cx="0" cy="2866827"/>
          </a:xfrm>
          <a:prstGeom prst="line">
            <a:avLst/>
          </a:prstGeom>
          <a:noFill/>
          <a:ln w="12700">
            <a:solidFill>
              <a:srgbClr val="141413">
                <a:alpha val="22000"/>
              </a:srgbClr>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1930301"/>
          <a:ext cx="10299700" cy="2676327"/>
        </p:xfrm>
        <a:graphic>
          <a:graphicData uri="http://schemas.openxmlformats.org/drawingml/2006/table">
            <a:tbl>
              <a:tblPr/>
              <a:tblGrid>
                <a:gridCol w="1647952">
                  <a:extLst>
                    <a:ext uri="{9D8B030D-6E8A-4147-A177-3AD203B41FA5}">
                      <a16:colId xmlns:a16="http://schemas.microsoft.com/office/drawing/2014/main" val="20000"/>
                    </a:ext>
                  </a:extLst>
                </a:gridCol>
                <a:gridCol w="3913886">
                  <a:extLst>
                    <a:ext uri="{9D8B030D-6E8A-4147-A177-3AD203B41FA5}">
                      <a16:colId xmlns:a16="http://schemas.microsoft.com/office/drawing/2014/main" val="20001"/>
                    </a:ext>
                  </a:extLst>
                </a:gridCol>
                <a:gridCol w="3089910">
                  <a:extLst>
                    <a:ext uri="{9D8B030D-6E8A-4147-A177-3AD203B41FA5}">
                      <a16:colId xmlns:a16="http://schemas.microsoft.com/office/drawing/2014/main" val="20002"/>
                    </a:ext>
                  </a:extLst>
                </a:gridCol>
                <a:gridCol w="1647952">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Strategy</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What it does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The hard part</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Built in</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634802">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Shadow</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Real inputs, no authority — log and compare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Interpreting a disagreement nobody felt</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Lab 3</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634802">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Canary</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A small traffic slice, with a business signal deciding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Not the routing — waiting long enough to have evidence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Mission 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Blue/green</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A full cutover, old version kept warm</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Saying how the fleet restarts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Mission 6</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634802">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Rolling</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Replace instances a few at a time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Old and new serve at once, so both must be acceptable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812800" y="4949527"/>
            <a:ext cx="1088339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E5B63"/>
                </a:solidFill>
                <a:latin typeface="IBM Plex Sans" pitchFamily="34" charset="0"/>
                <a:ea typeface="IBM Plex Sans" pitchFamily="34" charset="-122"/>
                <a:cs typeface="IBM Plex Sans" pitchFamily="34" charset="-120"/>
              </a:rPr>
              <a:t>Lab 3's shadow run already found a </a:t>
            </a:r>
            <a:r>
              <a:rPr lang="en-US" sz="1500" b="1" dirty="0">
                <a:solidFill>
                  <a:srgbClr val="16232E"/>
                </a:solidFill>
                <a:latin typeface="IBM Plex Sans" pitchFamily="34" charset="0"/>
                <a:ea typeface="IBM Plex Sans" pitchFamily="34" charset="-122"/>
                <a:cs typeface="IBM Plex Sans" pitchFamily="34" charset="-120"/>
              </a:rPr>
              <a:t>10% action disagreement</a:t>
            </a:r>
            <a:r>
              <a:rPr lang="en-US" sz="1500" dirty="0">
                <a:solidFill>
                  <a:srgbClr val="4E5B63"/>
                </a:solidFill>
                <a:latin typeface="IBM Plex Sans" pitchFamily="34" charset="0"/>
                <a:ea typeface="IBM Plex Sans" pitchFamily="34" charset="-122"/>
                <a:cs typeface="IBM Plex Sans" pitchFamily="34" charset="-120"/>
              </a:rPr>
              <a:t> between two models whose AUCs differed by 0.02. Each strategy here maps to an alias or a traffic pattern on the Lab 4 image.</a:t>
            </a:r>
            <a:endParaRPr lang="en-US" sz="15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891407"/>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MISSION 5 · STOP &amp; DECIDE</a:t>
            </a:r>
            <a:endParaRPr lang="en-US" sz="1200" dirty="0"/>
          </a:p>
        </p:txBody>
      </p:sp>
      <p:sp>
        <p:nvSpPr>
          <p:cNvPr id="3" name="Text 1"/>
          <p:cNvSpPr/>
          <p:nvPr/>
        </p:nvSpPr>
        <p:spPr>
          <a:xfrm>
            <a:off x="812800" y="2409527"/>
            <a:ext cx="10883392" cy="1135261"/>
          </a:xfrm>
          <a:prstGeom prst="rect">
            <a:avLst/>
          </a:prstGeom>
          <a:noFill/>
          <a:ln/>
        </p:spPr>
        <p:txBody>
          <a:bodyPr wrap="square" lIns="0" tIns="0" rIns="0" bIns="0" rtlCol="0" anchor="t">
            <a:normAutofit/>
          </a:bodyPr>
          <a:lstStyle/>
          <a:p>
            <a:pPr marL="0" indent="0" algn="l">
              <a:lnSpc>
                <a:spcPts val="4370"/>
              </a:lnSpc>
              <a:buNone/>
            </a:pPr>
            <a:r>
              <a:rPr lang="en-US" sz="3800" b="1" dirty="0">
                <a:solidFill>
                  <a:srgbClr val="F6F4EE"/>
                </a:solidFill>
                <a:latin typeface="IBM Plex Sans" pitchFamily="34" charset="0"/>
                <a:ea typeface="IBM Plex Sans" pitchFamily="34" charset="-122"/>
                <a:cs typeface="IBM Plex Sans" pitchFamily="34" charset="-120"/>
              </a:rPr>
              <a:t>What decides promote versus kill — the model's AUC, or the business signal?</a:t>
            </a:r>
            <a:endParaRPr lang="en-US" sz="3800" dirty="0"/>
          </a:p>
        </p:txBody>
      </p:sp>
      <p:sp>
        <p:nvSpPr>
          <p:cNvPr id="4" name="Text 2"/>
          <p:cNvSpPr/>
          <p:nvPr/>
        </p:nvSpPr>
        <p:spPr>
          <a:xfrm>
            <a:off x="812800" y="3824188"/>
            <a:ext cx="9810750" cy="96450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B8C5CB"/>
                </a:solidFill>
                <a:latin typeface="IBM Plex Sans" pitchFamily="34" charset="0"/>
                <a:ea typeface="IBM Plex Sans" pitchFamily="34" charset="-122"/>
                <a:cs typeface="IBM Plex Sans" pitchFamily="34" charset="-120"/>
              </a:rPr>
              <a:t>The business signal. A model can look statistically fine and still hurt the outcome. Then the second question, the one teams get wrong: </a:t>
            </a:r>
            <a:r>
              <a:rPr lang="en-US" sz="1700" dirty="0">
                <a:solidFill>
                  <a:srgbClr val="F6F4EE"/>
                </a:solidFill>
                <a:latin typeface="IBM Plex Sans" pitchFamily="34" charset="0"/>
                <a:ea typeface="IBM Plex Sans" pitchFamily="34" charset="-122"/>
                <a:cs typeface="IBM Plex Sans" pitchFamily="34" charset="-120"/>
              </a:rPr>
              <a:t>how many exposures do you need before that signal means anything?</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179189"/>
          </a:xfrm>
          <a:prstGeom prst="rect">
            <a:avLst/>
          </a:prstGeom>
          <a:noFill/>
          <a:ln/>
        </p:spPr>
        <p:txBody>
          <a:bodyPr wrap="square" lIns="0" tIns="0" rIns="0" bIns="0" rtlCol="0" anchor="t">
            <a:normAutofit/>
          </a:bodyPr>
          <a:lstStyle/>
          <a:p>
            <a:pPr marL="0" indent="0" algn="l">
              <a:lnSpc>
                <a:spcPts val="1223"/>
              </a:lnSpc>
              <a:buNone/>
            </a:pPr>
            <a:r>
              <a:rPr lang="en-US" sz="874" kern="0" spc="150" dirty="0">
                <a:solidFill>
                  <a:srgbClr val="0E6F6D"/>
                </a:solidFill>
                <a:latin typeface="JetBrains Mono" pitchFamily="34" charset="0"/>
                <a:ea typeface="JetBrains Mono" pitchFamily="34" charset="-122"/>
                <a:cs typeface="JetBrains Mono" pitchFamily="34" charset="-120"/>
              </a:rPr>
              <a:t>CODED CHALLENGE · CANARY AT 5% OF 1,000 REQUESTS PER ROUND</a:t>
            </a:r>
            <a:endParaRPr lang="en-US" sz="874" dirty="0"/>
          </a:p>
        </p:txBody>
      </p:sp>
      <p:sp>
        <p:nvSpPr>
          <p:cNvPr id="3" name="Text 1"/>
          <p:cNvSpPr/>
          <p:nvPr/>
        </p:nvSpPr>
        <p:spPr>
          <a:xfrm>
            <a:off x="812800" y="1068189"/>
            <a:ext cx="10883392" cy="669925"/>
          </a:xfrm>
          <a:prstGeom prst="rect">
            <a:avLst/>
          </a:prstGeom>
          <a:noFill/>
          <a:ln/>
        </p:spPr>
        <p:txBody>
          <a:bodyPr wrap="square" lIns="0" tIns="0" rIns="0" bIns="0" rtlCol="0" anchor="t">
            <a:normAutofit/>
          </a:bodyPr>
          <a:lstStyle/>
          <a:p>
            <a:pPr marL="0" indent="0" algn="l">
              <a:lnSpc>
                <a:spcPts val="3443"/>
              </a:lnSpc>
              <a:buNone/>
            </a:pPr>
            <a:r>
              <a:rPr lang="en-US" sz="3130" b="1" dirty="0">
                <a:solidFill>
                  <a:srgbClr val="16232E"/>
                </a:solidFill>
                <a:latin typeface="IBM Plex Sans" pitchFamily="34" charset="0"/>
                <a:ea typeface="IBM Plex Sans" pitchFamily="34" charset="-122"/>
                <a:cs typeface="IBM Plex Sans" pitchFamily="34" charset="-120"/>
              </a:rPr>
              <a:t>The canary holds for six rounds before it can say anything</a:t>
            </a:r>
            <a:endParaRPr lang="en-US" sz="3130" dirty="0"/>
          </a:p>
        </p:txBody>
      </p:sp>
      <p:sp>
        <p:nvSpPr>
          <p:cNvPr id="4" name="Shape 2"/>
          <p:cNvSpPr/>
          <p:nvPr/>
        </p:nvSpPr>
        <p:spPr>
          <a:xfrm>
            <a:off x="812800" y="1922264"/>
            <a:ext cx="10566400" cy="0"/>
          </a:xfrm>
          <a:prstGeom prst="line">
            <a:avLst/>
          </a:prstGeom>
          <a:noFill/>
          <a:ln w="12700">
            <a:solidFill>
              <a:srgbClr val="141413">
                <a:alpha val="22000"/>
              </a:srgbClr>
            </a:solidFill>
            <a:prstDash val="solid"/>
          </a:ln>
        </p:spPr>
        <p:txBody>
          <a:bodyPr/>
          <a:lstStyle/>
          <a:p>
            <a:endParaRPr lang="en-IN"/>
          </a:p>
        </p:txBody>
      </p:sp>
      <p:sp>
        <p:nvSpPr>
          <p:cNvPr id="5" name="Shape 3"/>
          <p:cNvSpPr/>
          <p:nvPr/>
        </p:nvSpPr>
        <p:spPr>
          <a:xfrm>
            <a:off x="819150" y="1915914"/>
            <a:ext cx="0" cy="3311624"/>
          </a:xfrm>
          <a:prstGeom prst="line">
            <a:avLst/>
          </a:prstGeom>
          <a:noFill/>
          <a:ln w="12700">
            <a:solidFill>
              <a:srgbClr val="141413">
                <a:alpha val="22000"/>
              </a:srgbClr>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9800" y="1992114"/>
          <a:ext cx="10325100" cy="3171924"/>
        </p:xfrm>
        <a:graphic>
          <a:graphicData uri="http://schemas.openxmlformats.org/drawingml/2006/table">
            <a:tbl>
              <a:tblPr/>
              <a:tblGrid>
                <a:gridCol w="1032510">
                  <a:extLst>
                    <a:ext uri="{9D8B030D-6E8A-4147-A177-3AD203B41FA5}">
                      <a16:colId xmlns:a16="http://schemas.microsoft.com/office/drawing/2014/main" val="20000"/>
                    </a:ext>
                  </a:extLst>
                </a:gridCol>
                <a:gridCol w="1445514">
                  <a:extLst>
                    <a:ext uri="{9D8B030D-6E8A-4147-A177-3AD203B41FA5}">
                      <a16:colId xmlns:a16="http://schemas.microsoft.com/office/drawing/2014/main" val="20001"/>
                    </a:ext>
                  </a:extLst>
                </a:gridCol>
                <a:gridCol w="1445514">
                  <a:extLst>
                    <a:ext uri="{9D8B030D-6E8A-4147-A177-3AD203B41FA5}">
                      <a16:colId xmlns:a16="http://schemas.microsoft.com/office/drawing/2014/main" val="20002"/>
                    </a:ext>
                  </a:extLst>
                </a:gridCol>
                <a:gridCol w="1548765">
                  <a:extLst>
                    <a:ext uri="{9D8B030D-6E8A-4147-A177-3AD203B41FA5}">
                      <a16:colId xmlns:a16="http://schemas.microsoft.com/office/drawing/2014/main" val="20003"/>
                    </a:ext>
                  </a:extLst>
                </a:gridCol>
                <a:gridCol w="1239012">
                  <a:extLst>
                    <a:ext uri="{9D8B030D-6E8A-4147-A177-3AD203B41FA5}">
                      <a16:colId xmlns:a16="http://schemas.microsoft.com/office/drawing/2014/main" val="20004"/>
                    </a:ext>
                  </a:extLst>
                </a:gridCol>
                <a:gridCol w="1032510">
                  <a:extLst>
                    <a:ext uri="{9D8B030D-6E8A-4147-A177-3AD203B41FA5}">
                      <a16:colId xmlns:a16="http://schemas.microsoft.com/office/drawing/2014/main" val="20005"/>
                    </a:ext>
                  </a:extLst>
                </a:gridCol>
                <a:gridCol w="2581275">
                  <a:extLst>
                    <a:ext uri="{9D8B030D-6E8A-4147-A177-3AD203B41FA5}">
                      <a16:colId xmlns:a16="http://schemas.microsoft.com/office/drawing/2014/main" val="20006"/>
                    </a:ext>
                  </a:extLst>
                </a:gridCol>
              </a:tblGrid>
              <a:tr h="367605">
                <a:tc>
                  <a:txBody>
                    <a:bodyPr/>
                    <a:lstStyle/>
                    <a:p>
                      <a:pPr marL="0" indent="0">
                        <a:lnSpc>
                          <a:spcPts val="1814"/>
                        </a:lnSpc>
                        <a:buNone/>
                      </a:pPr>
                      <a:r>
                        <a:rPr lang="en-US" sz="1296" b="1" dirty="0">
                          <a:solidFill>
                            <a:srgbClr val="16232E"/>
                          </a:solidFill>
                          <a:latin typeface="JetBrains Mono" pitchFamily="34" charset="0"/>
                          <a:ea typeface="JetBrains Mono" pitchFamily="34" charset="-122"/>
                          <a:cs typeface="JetBrains Mono" pitchFamily="34" charset="-120"/>
                        </a:rPr>
                        <a:t>round</a:t>
                      </a:r>
                      <a:endParaRPr lang="en-US" sz="1296" dirty="0">
                        <a:latin typeface="JetBrains Mono" charset="0"/>
                        <a:ea typeface="JetBrains Mono" charset="0"/>
                        <a:cs typeface="JetBrains Mono" charset="0"/>
                      </a:endParaRPr>
                    </a:p>
                  </a:txBody>
                  <a:tcPr marL="57604" marR="57604" marT="57604" marB="57604">
                    <a:lnL w="0" cap="flat" cmpd="sng" algn="ctr">
                      <a:noFill/>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14"/>
                        </a:lnSpc>
                        <a:buNone/>
                      </a:pPr>
                      <a:r>
                        <a:rPr lang="en-US" sz="1296" b="1" dirty="0">
                          <a:solidFill>
                            <a:srgbClr val="16232E"/>
                          </a:solidFill>
                          <a:latin typeface="JetBrains Mono" pitchFamily="34" charset="0"/>
                          <a:ea typeface="JetBrains Mono" pitchFamily="34" charset="-122"/>
                          <a:cs typeface="JetBrains Mono" pitchFamily="34" charset="-120"/>
                        </a:rPr>
                        <a:t>canary n</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14"/>
                        </a:lnSpc>
                        <a:buNone/>
                      </a:pPr>
                      <a:r>
                        <a:rPr lang="en-US" sz="1296" b="1" dirty="0">
                          <a:solidFill>
                            <a:srgbClr val="16232E"/>
                          </a:solidFill>
                          <a:latin typeface="JetBrains Mono" pitchFamily="34" charset="0"/>
                          <a:ea typeface="JetBrains Mono" pitchFamily="34" charset="-122"/>
                          <a:cs typeface="JetBrains Mono" pitchFamily="34" charset="-120"/>
                        </a:rPr>
                        <a:t>prod rate</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14"/>
                        </a:lnSpc>
                        <a:buNone/>
                      </a:pPr>
                      <a:r>
                        <a:rPr lang="en-US" sz="1296" b="1" dirty="0">
                          <a:solidFill>
                            <a:srgbClr val="16232E"/>
                          </a:solidFill>
                          <a:latin typeface="JetBrains Mono" pitchFamily="34" charset="0"/>
                          <a:ea typeface="JetBrains Mono" pitchFamily="34" charset="-122"/>
                          <a:cs typeface="JetBrains Mono" pitchFamily="34" charset="-120"/>
                        </a:rPr>
                        <a:t>canary rate</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14"/>
                        </a:lnSpc>
                        <a:buNone/>
                      </a:pPr>
                      <a:r>
                        <a:rPr lang="en-US" sz="1296" b="1" dirty="0">
                          <a:solidFill>
                            <a:srgbClr val="16232E"/>
                          </a:solidFill>
                          <a:latin typeface="JetBrains Mono" pitchFamily="34" charset="0"/>
                          <a:ea typeface="JetBrains Mono" pitchFamily="34" charset="-122"/>
                          <a:cs typeface="JetBrains Mono" pitchFamily="34" charset="-120"/>
                        </a:rPr>
                        <a:t>delta</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14"/>
                        </a:lnSpc>
                        <a:buNone/>
                      </a:pPr>
                      <a:r>
                        <a:rPr lang="en-US" sz="1296" b="1" dirty="0">
                          <a:solidFill>
                            <a:srgbClr val="16232E"/>
                          </a:solidFill>
                          <a:latin typeface="JetBrains Mono" pitchFamily="34" charset="0"/>
                          <a:ea typeface="JetBrains Mono" pitchFamily="34" charset="-122"/>
                          <a:cs typeface="JetBrains Mono" pitchFamily="34" charset="-120"/>
                        </a:rPr>
                        <a:t>p</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14"/>
                        </a:lnSpc>
                        <a:buNone/>
                      </a:pPr>
                      <a:r>
                        <a:rPr lang="en-US" sz="1296" b="1" dirty="0">
                          <a:solidFill>
                            <a:srgbClr val="16232E"/>
                          </a:solidFill>
                          <a:latin typeface="JetBrains Mono" pitchFamily="34" charset="0"/>
                          <a:ea typeface="JetBrains Mono" pitchFamily="34" charset="-122"/>
                          <a:cs typeface="JetBrains Mono" pitchFamily="34" charset="-120"/>
                        </a:rPr>
                        <a:t>decision</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67705">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1</a:t>
                      </a:r>
                      <a:endParaRPr lang="en-US" sz="1296" dirty="0">
                        <a:latin typeface="JetBrains Mono" charset="0"/>
                        <a:ea typeface="JetBrains Mono" charset="0"/>
                        <a:cs typeface="JetBrains Mono" charset="0"/>
                      </a:endParaRPr>
                    </a:p>
                  </a:txBody>
                  <a:tcPr marL="57604" marR="57604" marT="57604" marB="57604">
                    <a:lnL w="0" cap="flat" cmpd="sng" algn="ctr">
                      <a:noFill/>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50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0.186</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0.100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−0.086</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0.062</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HOLD — cannot decide yet</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67705">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2</a:t>
                      </a:r>
                      <a:endParaRPr lang="en-US" sz="1296" dirty="0">
                        <a:latin typeface="JetBrains Mono" charset="0"/>
                        <a:ea typeface="JetBrains Mono" charset="0"/>
                        <a:cs typeface="JetBrains Mono" charset="0"/>
                      </a:endParaRPr>
                    </a:p>
                  </a:txBody>
                  <a:tcPr marL="57604" marR="57604" marT="57604" marB="57604">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100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0.188</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0.180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−0.008</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0.417</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HOLD — cannot decide yet</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367705">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3</a:t>
                      </a:r>
                      <a:endParaRPr lang="en-US" sz="1296" dirty="0">
                        <a:latin typeface="JetBrains Mono" charset="0"/>
                        <a:ea typeface="JetBrains Mono" charset="0"/>
                        <a:cs typeface="JetBrains Mono" charset="0"/>
                      </a:endParaRPr>
                    </a:p>
                  </a:txBody>
                  <a:tcPr marL="57604" marR="57604" marT="57604" marB="57604">
                    <a:lnL w="0" cap="flat" cmpd="sng" algn="ctr">
                      <a:noFill/>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150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0.198</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0.180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−0.018</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0.299</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HOLD — cannot decide yet</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67705">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4</a:t>
                      </a:r>
                      <a:endParaRPr lang="en-US" sz="1296" dirty="0">
                        <a:latin typeface="JetBrains Mono" charset="0"/>
                        <a:ea typeface="JetBrains Mono" charset="0"/>
                        <a:cs typeface="JetBrains Mono" charset="0"/>
                      </a:endParaRPr>
                    </a:p>
                  </a:txBody>
                  <a:tcPr marL="57604" marR="57604" marT="57604" marB="57604">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200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0.194</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0.150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−0.044</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0.062</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HOLD — cannot decide yet</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367705">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5</a:t>
                      </a:r>
                      <a:endParaRPr lang="en-US" sz="1296" dirty="0">
                        <a:latin typeface="JetBrains Mono" charset="0"/>
                        <a:ea typeface="JetBrains Mono" charset="0"/>
                        <a:cs typeface="JetBrains Mono" charset="0"/>
                      </a:endParaRPr>
                    </a:p>
                  </a:txBody>
                  <a:tcPr marL="57604" marR="57604" marT="57604" marB="57604">
                    <a:lnL w="0" cap="flat" cmpd="sng" algn="ctr">
                      <a:noFill/>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250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0.200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0.164</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−0.036</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0.082</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HOLD — cannot decide yet</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5"/>
                  </a:ext>
                </a:extLst>
              </a:tr>
              <a:tr h="367705">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6</a:t>
                      </a:r>
                      <a:endParaRPr lang="en-US" sz="1296" dirty="0">
                        <a:latin typeface="JetBrains Mono" charset="0"/>
                        <a:ea typeface="JetBrains Mono" charset="0"/>
                        <a:cs typeface="JetBrains Mono" charset="0"/>
                      </a:endParaRPr>
                    </a:p>
                  </a:txBody>
                  <a:tcPr marL="57604" marR="57604" marT="57604" marB="57604">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300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0.199</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0.167</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−0.032</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0.084</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HOLD — trending worse</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6"/>
                  </a:ext>
                </a:extLst>
              </a:tr>
              <a:tr h="598091">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7</a:t>
                      </a:r>
                      <a:endParaRPr lang="en-US" sz="1296" dirty="0">
                        <a:latin typeface="JetBrains Mono" charset="0"/>
                        <a:ea typeface="JetBrains Mono" charset="0"/>
                        <a:cs typeface="JetBrains Mono" charset="0"/>
                      </a:endParaRPr>
                    </a:p>
                  </a:txBody>
                  <a:tcPr marL="57604" marR="57604" marT="57604" marB="57604">
                    <a:lnL w="0" cap="flat" cmpd="sng" algn="ctr">
                      <a:noFill/>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350</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5BEBC"/>
                      </a:solidFill>
                      <a:prstDash val="solid"/>
                      <a:round/>
                      <a:headEnd type="none" w="med" len="med"/>
                      <a:tailEnd type="none" w="med" len="med"/>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0.201</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5BEBC"/>
                      </a:solidFill>
                      <a:prstDash val="solid"/>
                      <a:round/>
                      <a:headEnd type="none" w="med" len="med"/>
                      <a:tailEnd type="none" w="med" len="med"/>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0.154</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5BEBC"/>
                      </a:solidFill>
                      <a:prstDash val="solid"/>
                      <a:round/>
                      <a:headEnd type="none" w="med" len="med"/>
                      <a:tailEnd type="none" w="med" len="med"/>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−0.046</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5BEBC"/>
                      </a:solidFill>
                      <a:prstDash val="solid"/>
                      <a:round/>
                      <a:headEnd type="none" w="med" len="med"/>
                      <a:tailEnd type="none" w="med" len="med"/>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0.017</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5BEBC"/>
                      </a:solidFill>
                      <a:prstDash val="solid"/>
                      <a:round/>
                      <a:headEnd type="none" w="med" len="med"/>
                      <a:tailEnd type="none" w="med" len="med"/>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tc>
                  <a:txBody>
                    <a:bodyPr/>
                    <a:lstStyle/>
                    <a:p>
                      <a:pPr marL="0" indent="0">
                        <a:lnSpc>
                          <a:spcPts val="1814"/>
                        </a:lnSpc>
                        <a:buNone/>
                      </a:pPr>
                      <a:r>
                        <a:rPr lang="en-US" sz="1296" dirty="0">
                          <a:solidFill>
                            <a:srgbClr val="16232E"/>
                          </a:solidFill>
                          <a:latin typeface="JetBrains Mono" pitchFamily="34" charset="0"/>
                          <a:ea typeface="JetBrains Mono" pitchFamily="34" charset="-122"/>
                          <a:cs typeface="JetBrains Mono" pitchFamily="34" charset="-120"/>
                        </a:rPr>
                        <a:t>ROLLBACK — worse, significantly</a:t>
                      </a:r>
                      <a:endParaRPr lang="en-US" sz="1296" dirty="0">
                        <a:latin typeface="JetBrains Mono" charset="0"/>
                        <a:ea typeface="JetBrains Mono" charset="0"/>
                        <a:cs typeface="JetBrains Mono" charset="0"/>
                      </a:endParaRPr>
                    </a:p>
                  </a:txBody>
                  <a:tcPr marL="57604" marR="57604" marT="57604" marB="57604">
                    <a:lnL w="12700" cap="flat" cmpd="sng" algn="ctr">
                      <a:solidFill>
                        <a:srgbClr val="B5BEBC"/>
                      </a:solidFill>
                      <a:prstDash val="solid"/>
                      <a:round/>
                      <a:headEnd type="none" w="med" len="med"/>
                      <a:tailEnd type="none" w="med" len="med"/>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extLst>
                  <a:ext uri="{0D108BD9-81ED-4DB2-BD59-A6C34878D82A}">
                    <a16:rowId xmlns:a16="http://schemas.microsoft.com/office/drawing/2014/main" val="10007"/>
                  </a:ext>
                </a:extLst>
              </a:tr>
            </a:tbl>
          </a:graphicData>
        </a:graphic>
      </p:graphicFrame>
      <p:sp>
        <p:nvSpPr>
          <p:cNvPr id="7" name="Text 4"/>
          <p:cNvSpPr/>
          <p:nvPr/>
        </p:nvSpPr>
        <p:spPr>
          <a:xfrm>
            <a:off x="812800" y="5430738"/>
            <a:ext cx="10883392" cy="436662"/>
          </a:xfrm>
          <a:prstGeom prst="rect">
            <a:avLst/>
          </a:prstGeom>
          <a:noFill/>
          <a:ln/>
        </p:spPr>
        <p:txBody>
          <a:bodyPr wrap="square" lIns="0" tIns="0" rIns="0" bIns="0" rtlCol="0" anchor="t">
            <a:normAutofit/>
          </a:bodyPr>
          <a:lstStyle/>
          <a:p>
            <a:pPr marL="0" indent="0" algn="l">
              <a:lnSpc>
                <a:spcPts val="2168"/>
              </a:lnSpc>
              <a:buNone/>
            </a:pPr>
            <a:r>
              <a:rPr lang="en-US" sz="1495" dirty="0">
                <a:solidFill>
                  <a:srgbClr val="16232E"/>
                </a:solidFill>
                <a:latin typeface="IBM Plex Sans" pitchFamily="34" charset="0"/>
                <a:ea typeface="IBM Plex Sans" pitchFamily="34" charset="-122"/>
                <a:cs typeface="IBM Plex Sans" pitchFamily="34" charset="-120"/>
              </a:rPr>
              <a:t>The truth behind the simulation: production converts at </a:t>
            </a:r>
            <a:r>
              <a:rPr lang="en-US" sz="1495" b="1" dirty="0">
                <a:solidFill>
                  <a:srgbClr val="16232E"/>
                </a:solidFill>
                <a:latin typeface="IBM Plex Sans" pitchFamily="34" charset="0"/>
                <a:ea typeface="IBM Plex Sans" pitchFamily="34" charset="-122"/>
                <a:cs typeface="IBM Plex Sans" pitchFamily="34" charset="-120"/>
              </a:rPr>
              <a:t>21.0%</a:t>
            </a:r>
            <a:r>
              <a:rPr lang="en-US" sz="1495" dirty="0">
                <a:solidFill>
                  <a:srgbClr val="16232E"/>
                </a:solidFill>
                <a:latin typeface="IBM Plex Sans" pitchFamily="34" charset="0"/>
                <a:ea typeface="IBM Plex Sans" pitchFamily="34" charset="-122"/>
                <a:cs typeface="IBM Plex Sans" pitchFamily="34" charset="-120"/>
              </a:rPr>
              <a:t>, the candidate at </a:t>
            </a:r>
            <a:r>
              <a:rPr lang="en-US" sz="1495" b="1" dirty="0">
                <a:solidFill>
                  <a:srgbClr val="16232E"/>
                </a:solidFill>
                <a:latin typeface="IBM Plex Sans" pitchFamily="34" charset="0"/>
                <a:ea typeface="IBM Plex Sans" pitchFamily="34" charset="-122"/>
                <a:cs typeface="IBM Plex Sans" pitchFamily="34" charset="-120"/>
              </a:rPr>
              <a:t>18.5%</a:t>
            </a:r>
            <a:r>
              <a:rPr lang="en-US" sz="1495" dirty="0">
                <a:solidFill>
                  <a:srgbClr val="16232E"/>
                </a:solidFill>
                <a:latin typeface="IBM Plex Sans" pitchFamily="34" charset="0"/>
                <a:ea typeface="IBM Plex Sans" pitchFamily="34" charset="-122"/>
                <a:cs typeface="IBM Plex Sans" pitchFamily="34" charset="-120"/>
              </a:rPr>
              <a:t>. The canary got it right — at round 7.</a:t>
            </a:r>
            <a:endParaRPr lang="en-US" sz="1495"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6 · CODED CHALLENGE · MAKE ROLLBACK BORING</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One alias move, 13 ms — asked of the running service</a:t>
            </a:r>
            <a:endParaRPr lang="en-US" sz="3200" dirty="0"/>
          </a:p>
        </p:txBody>
      </p:sp>
      <p:sp>
        <p:nvSpPr>
          <p:cNvPr id="4" name="Shape 2"/>
          <p:cNvSpPr/>
          <p:nvPr/>
        </p:nvSpPr>
        <p:spPr>
          <a:xfrm>
            <a:off x="812800" y="1803301"/>
            <a:ext cx="10566400" cy="2582863"/>
          </a:xfrm>
          <a:prstGeom prst="roundRect">
            <a:avLst>
              <a:gd name="adj" fmla="val 3934"/>
            </a:avLst>
          </a:prstGeom>
          <a:solidFill>
            <a:srgbClr val="16232E"/>
          </a:solidFill>
          <a:ln/>
        </p:spPr>
        <p:txBody>
          <a:bodyPr/>
          <a:lstStyle/>
          <a:p>
            <a:endParaRPr lang="en-IN"/>
          </a:p>
        </p:txBody>
      </p:sp>
      <p:sp>
        <p:nvSpPr>
          <p:cNvPr id="5" name="Text 3"/>
          <p:cNvSpPr/>
          <p:nvPr/>
        </p:nvSpPr>
        <p:spPr>
          <a:xfrm>
            <a:off x="1041400" y="2031901"/>
            <a:ext cx="10412476" cy="2151063"/>
          </a:xfrm>
          <a:prstGeom prst="rect">
            <a:avLst/>
          </a:prstGeom>
          <a:noFill/>
          <a:ln/>
        </p:spPr>
        <p:txBody>
          <a:bodyPr wrap="square" lIns="0" tIns="0" rIns="0" bIns="0" rtlCol="0" anchor="t">
            <a:normAutofit/>
          </a:bodyPr>
          <a:lstStyle/>
          <a:p>
            <a:pPr marL="0" indent="0" algn="l">
              <a:lnSpc>
                <a:spcPts val="2093"/>
              </a:lnSpc>
              <a:buNone/>
            </a:pPr>
            <a:r>
              <a:rPr lang="en-US" sz="1350" dirty="0">
                <a:solidFill>
                  <a:srgbClr val="E7EEF0"/>
                </a:solidFill>
                <a:latin typeface="JetBrains Mono" pitchFamily="34" charset="0"/>
                <a:ea typeface="JetBrains Mono" pitchFamily="34" charset="-122"/>
                <a:cs typeface="JetBrains Mono" pitchFamily="34" charset="-120"/>
              </a:rPr>
              <a:t>blue (live)      @production = v4  ·  green (candidate) @candidate = v2</a:t>
            </a:r>
            <a:endParaRPr lang="en-US" sz="1350" dirty="0"/>
          </a:p>
          <a:p>
            <a:pPr marL="0" indent="0" algn="l">
              <a:lnSpc>
                <a:spcPts val="2093"/>
              </a:lnSpc>
              <a:buNone/>
            </a:pPr>
            <a:r>
              <a:rPr lang="en-US" sz="1350" dirty="0">
                <a:solidFill>
                  <a:srgbClr val="E7EEF0"/>
                </a:solidFill>
                <a:latin typeface="JetBrains Mono" pitchFamily="34" charset="0"/>
                <a:ea typeface="JetBrains Mono" pitchFamily="34" charset="-122"/>
                <a:cs typeface="JetBrains Mono" pitchFamily="34" charset="-120"/>
              </a:rPr>
              <a:t>service is serving v4</a:t>
            </a:r>
            <a:endParaRPr lang="en-US" sz="1350" dirty="0"/>
          </a:p>
          <a:p>
            <a:pPr marL="0" indent="0" algn="l">
              <a:lnSpc>
                <a:spcPts val="2093"/>
              </a:lnSpc>
              <a:buNone/>
            </a:pPr>
            <a:endParaRPr lang="en-US" sz="1350" dirty="0"/>
          </a:p>
          <a:p>
            <a:pPr marL="0" indent="0" algn="l">
              <a:lnSpc>
                <a:spcPts val="2093"/>
              </a:lnSpc>
              <a:buNone/>
            </a:pPr>
            <a:r>
              <a:rPr lang="en-US" sz="1350" dirty="0">
                <a:solidFill>
                  <a:srgbClr val="E7EEF0"/>
                </a:solidFill>
                <a:latin typeface="JetBrains Mono" pitchFamily="34" charset="0"/>
                <a:ea typeface="JetBrains Mono" pitchFamily="34" charset="-122"/>
                <a:cs typeface="JetBrains Mono" pitchFamily="34" charset="-120"/>
              </a:rPr>
              <a:t>deploy green:    @previous -&gt; v4, @production -&gt; v2</a:t>
            </a:r>
            <a:endParaRPr lang="en-US" sz="1350" dirty="0"/>
          </a:p>
          <a:p>
            <a:pPr marL="0" indent="0" algn="l">
              <a:lnSpc>
                <a:spcPts val="2093"/>
              </a:lnSpc>
              <a:buNone/>
            </a:pPr>
            <a:r>
              <a:rPr lang="en-US" sz="1350" dirty="0">
                <a:solidFill>
                  <a:srgbClr val="E7EEF0"/>
                </a:solidFill>
                <a:latin typeface="JetBrains Mono" pitchFamily="34" charset="0"/>
                <a:ea typeface="JetBrains Mono" pitchFamily="34" charset="-122"/>
                <a:cs typeface="JetBrains Mono" pitchFamily="34" charset="-120"/>
              </a:rPr>
              <a:t>service is serving v2 after restart</a:t>
            </a:r>
            <a:endParaRPr lang="en-US" sz="1350" dirty="0"/>
          </a:p>
          <a:p>
            <a:pPr marL="0" indent="0" algn="l">
              <a:lnSpc>
                <a:spcPts val="2093"/>
              </a:lnSpc>
              <a:buNone/>
            </a:pPr>
            <a:endParaRPr lang="en-US" sz="1350" dirty="0"/>
          </a:p>
          <a:p>
            <a:pPr marL="0" indent="0" algn="l">
              <a:lnSpc>
                <a:spcPts val="2093"/>
              </a:lnSpc>
              <a:buNone/>
            </a:pPr>
            <a:r>
              <a:rPr lang="en-US" sz="1350" dirty="0">
                <a:solidFill>
                  <a:srgbClr val="E7EEF0"/>
                </a:solidFill>
                <a:latin typeface="JetBrains Mono" pitchFamily="34" charset="0"/>
                <a:ea typeface="JetBrains Mono" pitchFamily="34" charset="-122"/>
                <a:cs typeface="JetBrains Mono" pitchFamily="34" charset="-120"/>
              </a:rPr>
              <a:t>rollback:        @production -&gt; v4  </a:t>
            </a:r>
            <a:r>
              <a:rPr lang="en-US" sz="1350" dirty="0">
                <a:solidFill>
                  <a:srgbClr val="8FD6C6"/>
                </a:solidFill>
                <a:latin typeface="JetBrains Mono" pitchFamily="34" charset="0"/>
                <a:ea typeface="JetBrains Mono" pitchFamily="34" charset="-122"/>
                <a:cs typeface="JetBrains Mono" pitchFamily="34" charset="-120"/>
              </a:rPr>
              <a:t>(one alias move, 13 ms)</a:t>
            </a:r>
            <a:endParaRPr lang="en-US" sz="1350" dirty="0"/>
          </a:p>
          <a:p>
            <a:pPr marL="0" indent="0" algn="l">
              <a:lnSpc>
                <a:spcPts val="2093"/>
              </a:lnSpc>
              <a:buNone/>
            </a:pPr>
            <a:r>
              <a:rPr lang="en-US" sz="1350" dirty="0">
                <a:solidFill>
                  <a:srgbClr val="E7EEF0"/>
                </a:solidFill>
                <a:latin typeface="JetBrains Mono" pitchFamily="34" charset="0"/>
                <a:ea typeface="JetBrains Mono" pitchFamily="34" charset="-122"/>
                <a:cs typeface="JetBrains Mono" pitchFamily="34" charset="-120"/>
              </a:rPr>
              <a:t>service is serving v4 after restart</a:t>
            </a:r>
            <a:endParaRPr lang="en-US" sz="1350" dirty="0"/>
          </a:p>
        </p:txBody>
      </p:sp>
      <p:sp>
        <p:nvSpPr>
          <p:cNvPr id="6" name="Shape 4"/>
          <p:cNvSpPr/>
          <p:nvPr/>
        </p:nvSpPr>
        <p:spPr>
          <a:xfrm>
            <a:off x="819150" y="4621113"/>
            <a:ext cx="5168900" cy="1185962"/>
          </a:xfrm>
          <a:prstGeom prst="roundRect">
            <a:avLst>
              <a:gd name="adj" fmla="val 8031"/>
            </a:avLst>
          </a:prstGeom>
          <a:solidFill>
            <a:srgbClr val="E2EEEC"/>
          </a:solidFill>
          <a:ln w="12700">
            <a:solidFill>
              <a:srgbClr val="0E6F6D"/>
            </a:solidFill>
            <a:prstDash val="solid"/>
          </a:ln>
        </p:spPr>
        <p:txBody>
          <a:bodyPr/>
          <a:lstStyle/>
          <a:p>
            <a:endParaRPr lang="en-IN"/>
          </a:p>
        </p:txBody>
      </p:sp>
      <p:sp>
        <p:nvSpPr>
          <p:cNvPr id="7" name="Text 5"/>
          <p:cNvSpPr/>
          <p:nvPr/>
        </p:nvSpPr>
        <p:spPr>
          <a:xfrm>
            <a:off x="1028700" y="4805263"/>
            <a:ext cx="489229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What is instant</a:t>
            </a:r>
            <a:endParaRPr lang="en-US" sz="1600" dirty="0"/>
          </a:p>
        </p:txBody>
      </p:sp>
      <p:sp>
        <p:nvSpPr>
          <p:cNvPr id="8" name="Text 6"/>
          <p:cNvSpPr/>
          <p:nvPr/>
        </p:nvSpPr>
        <p:spPr>
          <a:xfrm>
            <a:off x="1028700" y="5125244"/>
            <a:ext cx="489229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The decision. The old version was never deleted, so reverting is a pointer, not a rebuild.</a:t>
            </a:r>
            <a:endParaRPr lang="en-US" sz="1400" dirty="0"/>
          </a:p>
        </p:txBody>
      </p:sp>
      <p:sp>
        <p:nvSpPr>
          <p:cNvPr id="9" name="Shape 7"/>
          <p:cNvSpPr/>
          <p:nvPr/>
        </p:nvSpPr>
        <p:spPr>
          <a:xfrm>
            <a:off x="6203950" y="4621113"/>
            <a:ext cx="5168900" cy="1185962"/>
          </a:xfrm>
          <a:prstGeom prst="roundRect">
            <a:avLst>
              <a:gd name="adj" fmla="val 8031"/>
            </a:avLst>
          </a:prstGeom>
          <a:solidFill>
            <a:srgbClr val="FDFCF8"/>
          </a:solidFill>
          <a:ln w="12700">
            <a:solidFill>
              <a:srgbClr val="DCD6C8"/>
            </a:solidFill>
            <a:prstDash val="solid"/>
          </a:ln>
        </p:spPr>
        <p:txBody>
          <a:bodyPr/>
          <a:lstStyle/>
          <a:p>
            <a:endParaRPr lang="en-IN"/>
          </a:p>
        </p:txBody>
      </p:sp>
      <p:sp>
        <p:nvSpPr>
          <p:cNvPr id="10" name="Text 8"/>
          <p:cNvSpPr/>
          <p:nvPr/>
        </p:nvSpPr>
        <p:spPr>
          <a:xfrm>
            <a:off x="6413500" y="4805263"/>
            <a:ext cx="489229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What is not</a:t>
            </a:r>
            <a:endParaRPr lang="en-US" sz="1600" dirty="0"/>
          </a:p>
        </p:txBody>
      </p:sp>
      <p:sp>
        <p:nvSpPr>
          <p:cNvPr id="11" name="Text 9"/>
          <p:cNvSpPr/>
          <p:nvPr/>
        </p:nvSpPr>
        <p:spPr>
          <a:xfrm>
            <a:off x="6413500" y="5125244"/>
            <a:ext cx="489229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The fleet keeps serving the old model until it restarts — so the strategy must say how that restart happens.</a:t>
            </a:r>
            <a:endParaRPr lang="en-US" sz="14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7 · CODED CHALLENGE · GATE ON ACCURACY AND BEHAVIOUR</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Both models, one recent batch, three checks</a:t>
            </a:r>
            <a:endParaRPr lang="en-US" sz="3200" dirty="0"/>
          </a:p>
        </p:txBody>
      </p:sp>
      <p:sp>
        <p:nvSpPr>
          <p:cNvPr id="4" name="Shape 2"/>
          <p:cNvSpPr/>
          <p:nvPr/>
        </p:nvSpPr>
        <p:spPr>
          <a:xfrm>
            <a:off x="812800" y="1803301"/>
            <a:ext cx="10566400" cy="1644650"/>
          </a:xfrm>
          <a:prstGeom prst="roundRect">
            <a:avLst>
              <a:gd name="adj" fmla="val 6178"/>
            </a:avLst>
          </a:prstGeom>
          <a:solidFill>
            <a:srgbClr val="16232E"/>
          </a:solidFill>
          <a:ln/>
        </p:spPr>
        <p:txBody>
          <a:bodyPr/>
          <a:lstStyle/>
          <a:p>
            <a:endParaRPr lang="en-IN"/>
          </a:p>
        </p:txBody>
      </p:sp>
      <p:sp>
        <p:nvSpPr>
          <p:cNvPr id="5" name="Text 3"/>
          <p:cNvSpPr/>
          <p:nvPr/>
        </p:nvSpPr>
        <p:spPr>
          <a:xfrm>
            <a:off x="1041400" y="2006501"/>
            <a:ext cx="10412476" cy="12636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B8C5CB"/>
                </a:solidFill>
                <a:latin typeface="JetBrains Mono" pitchFamily="34" charset="0"/>
                <a:ea typeface="JetBrains Mono" pitchFamily="34" charset="-122"/>
                <a:cs typeface="JetBrains Mono" pitchFamily="34" charset="-120"/>
              </a:rPr>
              <a:t>evaluation batch: 16,818 labelled rows from the drifted period</a:t>
            </a:r>
            <a:endParaRPr lang="en-US" sz="1300" dirty="0"/>
          </a:p>
          <a:p>
            <a:pPr marL="0" indent="0" algn="l">
              <a:lnSpc>
                <a:spcPts val="1950"/>
              </a:lnSpc>
              <a:buNone/>
            </a:pPr>
            <a:endParaRPr lang="en-US" sz="1300" dirty="0"/>
          </a:p>
          <a:p>
            <a:pPr marL="0" indent="0" algn="l">
              <a:lnSpc>
                <a:spcPts val="1950"/>
              </a:lnSpc>
              <a:buNone/>
            </a:pPr>
            <a:r>
              <a:rPr lang="en-US" sz="1300" dirty="0">
                <a:solidFill>
                  <a:srgbClr val="E7EEF0"/>
                </a:solidFill>
                <a:latin typeface="JetBrains Mono" pitchFamily="34" charset="0"/>
                <a:ea typeface="JetBrains Mono" pitchFamily="34" charset="-122"/>
                <a:cs typeface="JetBrains Mono" pitchFamily="34" charset="-120"/>
              </a:rPr>
              <a:t>              version      type  AUC at train  AUC on batch</a:t>
            </a:r>
            <a:endParaRPr lang="en-US" sz="1300" dirty="0"/>
          </a:p>
          <a:p>
            <a:pPr marL="0" indent="0" algn="l">
              <a:lnSpc>
                <a:spcPts val="1950"/>
              </a:lnSpc>
              <a:buNone/>
            </a:pPr>
            <a:r>
              <a:rPr lang="en-US" sz="1300" dirty="0">
                <a:solidFill>
                  <a:srgbClr val="E7EEF0"/>
                </a:solidFill>
                <a:latin typeface="JetBrains Mono" pitchFamily="34" charset="0"/>
                <a:ea typeface="JetBrains Mono" pitchFamily="34" charset="-122"/>
                <a:cs typeface="JetBrains Mono" pitchFamily="34" charset="-120"/>
              </a:rPr>
              <a:t>production    v4          logreg        0.6972        0.6545</a:t>
            </a:r>
            <a:endParaRPr lang="en-US" sz="1300" dirty="0"/>
          </a:p>
          <a:p>
            <a:pPr marL="0" indent="0" algn="l">
              <a:lnSpc>
                <a:spcPts val="1950"/>
              </a:lnSpc>
              <a:buNone/>
            </a:pPr>
            <a:r>
              <a:rPr lang="en-US" sz="1300" dirty="0">
                <a:solidFill>
                  <a:srgbClr val="E7EEF0"/>
                </a:solidFill>
                <a:latin typeface="JetBrains Mono" pitchFamily="34" charset="0"/>
                <a:ea typeface="JetBrains Mono" pitchFamily="34" charset="-122"/>
                <a:cs typeface="JetBrains Mono" pitchFamily="34" charset="-120"/>
              </a:rPr>
              <a:t>candidate     v2         xgboost        0.6743        0.6474</a:t>
            </a:r>
            <a:endParaRPr lang="en-US" sz="1300" dirty="0"/>
          </a:p>
        </p:txBody>
      </p:sp>
      <p:sp>
        <p:nvSpPr>
          <p:cNvPr id="6" name="Shape 4"/>
          <p:cNvSpPr/>
          <p:nvPr/>
        </p:nvSpPr>
        <p:spPr>
          <a:xfrm>
            <a:off x="819150" y="3682901"/>
            <a:ext cx="2514600" cy="1436291"/>
          </a:xfrm>
          <a:prstGeom prst="roundRect">
            <a:avLst>
              <a:gd name="adj" fmla="val 5747"/>
            </a:avLst>
          </a:prstGeom>
          <a:solidFill>
            <a:srgbClr val="FDFCF8"/>
          </a:solidFill>
          <a:ln w="12700">
            <a:solidFill>
              <a:srgbClr val="DCD6C8"/>
            </a:solidFill>
            <a:prstDash val="solid"/>
          </a:ln>
        </p:spPr>
        <p:txBody>
          <a:bodyPr/>
          <a:lstStyle/>
          <a:p>
            <a:endParaRPr lang="en-IN"/>
          </a:p>
        </p:txBody>
      </p:sp>
      <p:sp>
        <p:nvSpPr>
          <p:cNvPr id="7" name="Text 5"/>
          <p:cNvSpPr/>
          <p:nvPr/>
        </p:nvSpPr>
        <p:spPr>
          <a:xfrm>
            <a:off x="1003300" y="3867051"/>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IBM Plex Sans" pitchFamily="34" charset="0"/>
                <a:ea typeface="IBM Plex Sans" pitchFamily="34" charset="-122"/>
                <a:cs typeface="IBM Plex Sans" pitchFamily="34" charset="-120"/>
              </a:rPr>
              <a:t>Accuracy</a:t>
            </a:r>
            <a:endParaRPr lang="en-US" sz="1500" dirty="0"/>
          </a:p>
        </p:txBody>
      </p:sp>
      <p:sp>
        <p:nvSpPr>
          <p:cNvPr id="8" name="Text 6"/>
          <p:cNvSpPr/>
          <p:nvPr/>
        </p:nvSpPr>
        <p:spPr>
          <a:xfrm>
            <a:off x="1003300" y="4159151"/>
            <a:ext cx="221068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candidate AUC ≥ production − 0.005</a:t>
            </a:r>
            <a:endParaRPr lang="en-US" sz="1300" dirty="0"/>
          </a:p>
        </p:txBody>
      </p:sp>
      <p:sp>
        <p:nvSpPr>
          <p:cNvPr id="9" name="Text 7"/>
          <p:cNvSpPr/>
          <p:nvPr/>
        </p:nvSpPr>
        <p:spPr>
          <a:xfrm>
            <a:off x="1003300" y="4668341"/>
            <a:ext cx="22106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8A5A10"/>
                </a:solidFill>
                <a:latin typeface="JetBrains Mono" pitchFamily="34" charset="0"/>
                <a:ea typeface="JetBrains Mono" pitchFamily="34" charset="-122"/>
                <a:cs typeface="JetBrains Mono" pitchFamily="34" charset="-120"/>
              </a:rPr>
              <a:t>FAIL</a:t>
            </a:r>
            <a:endParaRPr lang="en-US" sz="1500" dirty="0"/>
          </a:p>
        </p:txBody>
      </p:sp>
      <p:sp>
        <p:nvSpPr>
          <p:cNvPr id="10" name="Shape 8"/>
          <p:cNvSpPr/>
          <p:nvPr/>
        </p:nvSpPr>
        <p:spPr>
          <a:xfrm>
            <a:off x="3498850" y="3682901"/>
            <a:ext cx="2514600" cy="1436291"/>
          </a:xfrm>
          <a:prstGeom prst="roundRect">
            <a:avLst>
              <a:gd name="adj" fmla="val 5747"/>
            </a:avLst>
          </a:prstGeom>
          <a:solidFill>
            <a:srgbClr val="FDFCF8"/>
          </a:solidFill>
          <a:ln w="12700">
            <a:solidFill>
              <a:srgbClr val="DCD6C8"/>
            </a:solidFill>
            <a:prstDash val="solid"/>
          </a:ln>
        </p:spPr>
        <p:txBody>
          <a:bodyPr/>
          <a:lstStyle/>
          <a:p>
            <a:endParaRPr lang="en-IN"/>
          </a:p>
        </p:txBody>
      </p:sp>
      <p:sp>
        <p:nvSpPr>
          <p:cNvPr id="11" name="Text 9"/>
          <p:cNvSpPr/>
          <p:nvPr/>
        </p:nvSpPr>
        <p:spPr>
          <a:xfrm>
            <a:off x="3683000" y="3867051"/>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IBM Plex Sans" pitchFamily="34" charset="0"/>
                <a:ea typeface="IBM Plex Sans" pitchFamily="34" charset="-122"/>
                <a:cs typeface="IBM Plex Sans" pitchFamily="34" charset="-120"/>
              </a:rPr>
              <a:t>Behaviour</a:t>
            </a:r>
            <a:endParaRPr lang="en-US" sz="1500" dirty="0"/>
          </a:p>
        </p:txBody>
      </p:sp>
      <p:sp>
        <p:nvSpPr>
          <p:cNvPr id="12" name="Text 10"/>
          <p:cNvSpPr/>
          <p:nvPr/>
        </p:nvSpPr>
        <p:spPr>
          <a:xfrm>
            <a:off x="3683000" y="4159151"/>
            <a:ext cx="221068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action agreement ≥ 90% — measured 90.3%</a:t>
            </a:r>
            <a:endParaRPr lang="en-US" sz="1300" dirty="0"/>
          </a:p>
        </p:txBody>
      </p:sp>
      <p:sp>
        <p:nvSpPr>
          <p:cNvPr id="13" name="Text 11"/>
          <p:cNvSpPr/>
          <p:nvPr/>
        </p:nvSpPr>
        <p:spPr>
          <a:xfrm>
            <a:off x="3683000" y="4668341"/>
            <a:ext cx="22106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E6F6D"/>
                </a:solidFill>
                <a:latin typeface="JetBrains Mono" pitchFamily="34" charset="0"/>
                <a:ea typeface="JetBrains Mono" pitchFamily="34" charset="-122"/>
                <a:cs typeface="JetBrains Mono" pitchFamily="34" charset="-120"/>
              </a:rPr>
              <a:t>PASS</a:t>
            </a:r>
            <a:endParaRPr lang="en-US" sz="1500" dirty="0"/>
          </a:p>
        </p:txBody>
      </p:sp>
      <p:sp>
        <p:nvSpPr>
          <p:cNvPr id="14" name="Shape 12"/>
          <p:cNvSpPr/>
          <p:nvPr/>
        </p:nvSpPr>
        <p:spPr>
          <a:xfrm>
            <a:off x="6178550" y="3682901"/>
            <a:ext cx="2514600" cy="1436291"/>
          </a:xfrm>
          <a:prstGeom prst="roundRect">
            <a:avLst>
              <a:gd name="adj" fmla="val 5747"/>
            </a:avLst>
          </a:prstGeom>
          <a:solidFill>
            <a:srgbClr val="FDFCF8"/>
          </a:solidFill>
          <a:ln w="12700">
            <a:solidFill>
              <a:srgbClr val="DCD6C8"/>
            </a:solidFill>
            <a:prstDash val="solid"/>
          </a:ln>
        </p:spPr>
        <p:txBody>
          <a:bodyPr/>
          <a:lstStyle/>
          <a:p>
            <a:endParaRPr lang="en-IN"/>
          </a:p>
        </p:txBody>
      </p:sp>
      <p:sp>
        <p:nvSpPr>
          <p:cNvPr id="15" name="Text 13"/>
          <p:cNvSpPr/>
          <p:nvPr/>
        </p:nvSpPr>
        <p:spPr>
          <a:xfrm>
            <a:off x="6362700" y="3867051"/>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IBM Plex Sans" pitchFamily="34" charset="0"/>
                <a:ea typeface="IBM Plex Sans" pitchFamily="34" charset="-122"/>
                <a:cs typeface="IBM Plex Sans" pitchFamily="34" charset="-120"/>
              </a:rPr>
              <a:t>Lineage</a:t>
            </a:r>
            <a:endParaRPr lang="en-US" sz="1500" dirty="0"/>
          </a:p>
        </p:txBody>
      </p:sp>
      <p:sp>
        <p:nvSpPr>
          <p:cNvPr id="16" name="Text 14"/>
          <p:cNvSpPr/>
          <p:nvPr/>
        </p:nvSpPr>
        <p:spPr>
          <a:xfrm>
            <a:off x="6362700" y="4159151"/>
            <a:ext cx="221068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candidate carries a data_hash</a:t>
            </a:r>
            <a:endParaRPr lang="en-US" sz="1300" dirty="0"/>
          </a:p>
        </p:txBody>
      </p:sp>
      <p:sp>
        <p:nvSpPr>
          <p:cNvPr id="17" name="Text 15"/>
          <p:cNvSpPr/>
          <p:nvPr/>
        </p:nvSpPr>
        <p:spPr>
          <a:xfrm>
            <a:off x="6362700" y="4668341"/>
            <a:ext cx="22106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E6F6D"/>
                </a:solidFill>
                <a:latin typeface="JetBrains Mono" pitchFamily="34" charset="0"/>
                <a:ea typeface="JetBrains Mono" pitchFamily="34" charset="-122"/>
                <a:cs typeface="JetBrains Mono" pitchFamily="34" charset="-120"/>
              </a:rPr>
              <a:t>PASS</a:t>
            </a:r>
            <a:endParaRPr lang="en-US" sz="1500" dirty="0"/>
          </a:p>
        </p:txBody>
      </p:sp>
      <p:sp>
        <p:nvSpPr>
          <p:cNvPr id="18" name="Shape 16"/>
          <p:cNvSpPr/>
          <p:nvPr/>
        </p:nvSpPr>
        <p:spPr>
          <a:xfrm>
            <a:off x="8858250" y="3682901"/>
            <a:ext cx="2514600" cy="1436291"/>
          </a:xfrm>
          <a:prstGeom prst="roundRect">
            <a:avLst>
              <a:gd name="adj" fmla="val 5747"/>
            </a:avLst>
          </a:prstGeom>
          <a:solidFill>
            <a:srgbClr val="E2EEEC"/>
          </a:solidFill>
          <a:ln w="12700">
            <a:solidFill>
              <a:srgbClr val="0E6F6D"/>
            </a:solidFill>
            <a:prstDash val="solid"/>
          </a:ln>
        </p:spPr>
        <p:txBody>
          <a:bodyPr/>
          <a:lstStyle/>
          <a:p>
            <a:endParaRPr lang="en-IN"/>
          </a:p>
        </p:txBody>
      </p:sp>
      <p:sp>
        <p:nvSpPr>
          <p:cNvPr id="19" name="Text 17"/>
          <p:cNvSpPr/>
          <p:nvPr/>
        </p:nvSpPr>
        <p:spPr>
          <a:xfrm>
            <a:off x="9042400" y="3867051"/>
            <a:ext cx="22106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IBM Plex Sans" pitchFamily="34" charset="0"/>
                <a:ea typeface="IBM Plex Sans" pitchFamily="34" charset="-122"/>
                <a:cs typeface="IBM Plex Sans" pitchFamily="34" charset="-120"/>
              </a:rPr>
              <a:t>Decision</a:t>
            </a:r>
            <a:endParaRPr lang="en-US" sz="1500" dirty="0"/>
          </a:p>
        </p:txBody>
      </p:sp>
      <p:sp>
        <p:nvSpPr>
          <p:cNvPr id="20" name="Text 18"/>
          <p:cNvSpPr/>
          <p:nvPr/>
        </p:nvSpPr>
        <p:spPr>
          <a:xfrm>
            <a:off x="9042400" y="4159151"/>
            <a:ext cx="2210689"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two of three is not enough</a:t>
            </a:r>
            <a:endParaRPr lang="en-US" sz="1300" dirty="0"/>
          </a:p>
        </p:txBody>
      </p:sp>
      <p:sp>
        <p:nvSpPr>
          <p:cNvPr id="21" name="Text 19"/>
          <p:cNvSpPr/>
          <p:nvPr/>
        </p:nvSpPr>
        <p:spPr>
          <a:xfrm>
            <a:off x="9042400" y="4445496"/>
            <a:ext cx="22106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32E"/>
                </a:solidFill>
                <a:latin typeface="JetBrains Mono" pitchFamily="34" charset="0"/>
                <a:ea typeface="JetBrains Mono" pitchFamily="34" charset="-122"/>
                <a:cs typeface="JetBrains Mono" pitchFamily="34" charset="-120"/>
              </a:rPr>
              <a:t>HOLD</a:t>
            </a:r>
            <a:endParaRPr lang="en-US" sz="15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891407"/>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DEFEND THIS GATE</a:t>
            </a:r>
            <a:endParaRPr lang="en-US" sz="1200" dirty="0"/>
          </a:p>
        </p:txBody>
      </p:sp>
      <p:sp>
        <p:nvSpPr>
          <p:cNvPr id="3" name="Text 1"/>
          <p:cNvSpPr/>
          <p:nvPr/>
        </p:nvSpPr>
        <p:spPr>
          <a:xfrm>
            <a:off x="812800" y="2409527"/>
            <a:ext cx="10883392" cy="1135261"/>
          </a:xfrm>
          <a:prstGeom prst="rect">
            <a:avLst/>
          </a:prstGeom>
          <a:noFill/>
          <a:ln/>
        </p:spPr>
        <p:txBody>
          <a:bodyPr wrap="square" lIns="0" tIns="0" rIns="0" bIns="0" rtlCol="0" anchor="t">
            <a:normAutofit/>
          </a:bodyPr>
          <a:lstStyle/>
          <a:p>
            <a:pPr marL="0" indent="0" algn="l">
              <a:lnSpc>
                <a:spcPts val="4370"/>
              </a:lnSpc>
              <a:buNone/>
            </a:pPr>
            <a:r>
              <a:rPr lang="en-US" sz="3800" b="1" dirty="0">
                <a:solidFill>
                  <a:srgbClr val="F6F4EE"/>
                </a:solidFill>
                <a:latin typeface="IBM Plex Sans" pitchFamily="34" charset="0"/>
                <a:ea typeface="IBM Plex Sans" pitchFamily="34" charset="-122"/>
                <a:cs typeface="IBM Plex Sans" pitchFamily="34" charset="-120"/>
              </a:rPr>
              <a:t>90.3% agreement means one line in ten changes.</a:t>
            </a:r>
            <a:endParaRPr lang="en-US" sz="3800" dirty="0"/>
          </a:p>
        </p:txBody>
      </p:sp>
      <p:sp>
        <p:nvSpPr>
          <p:cNvPr id="4" name="Text 2"/>
          <p:cNvSpPr/>
          <p:nvPr/>
        </p:nvSpPr>
        <p:spPr>
          <a:xfrm>
            <a:off x="812800" y="3824188"/>
            <a:ext cx="9810750" cy="96450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B8C5CB"/>
                </a:solidFill>
                <a:latin typeface="IBM Plex Sans" pitchFamily="34" charset="0"/>
                <a:ea typeface="IBM Plex Sans" pitchFamily="34" charset="-122"/>
                <a:cs typeface="IBM Plex Sans" pitchFamily="34" charset="-120"/>
              </a:rPr>
              <a:t>On 23,589 store–product lines that is over two thousand replenishment decisions reversed by a model that scores slightly worse. “Almost identical” is a statement about the model; </a:t>
            </a:r>
            <a:r>
              <a:rPr lang="en-US" sz="1700" dirty="0">
                <a:solidFill>
                  <a:srgbClr val="F6F4EE"/>
                </a:solidFill>
                <a:latin typeface="IBM Plex Sans" pitchFamily="34" charset="0"/>
                <a:ea typeface="IBM Plex Sans" pitchFamily="34" charset="-122"/>
                <a:cs typeface="IBM Plex Sans" pitchFamily="34" charset="-120"/>
              </a:rPr>
              <a:t>one in ten</a:t>
            </a:r>
            <a:r>
              <a:rPr lang="en-US" sz="1700" dirty="0">
                <a:solidFill>
                  <a:srgbClr val="B8C5CB"/>
                </a:solidFill>
                <a:latin typeface="IBM Plex Sans" pitchFamily="34" charset="0"/>
                <a:ea typeface="IBM Plex Sans" pitchFamily="34" charset="-122"/>
                <a:cs typeface="IBM Plex Sans" pitchFamily="34" charset="-120"/>
              </a:rPr>
              <a:t> is a statement about the warehouse.</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8 · DEPLOY THE CONTAINER</a:t>
            </a:r>
            <a:endParaRPr lang="en-US" sz="1200" dirty="0"/>
          </a:p>
        </p:txBody>
      </p:sp>
      <p:sp>
        <p:nvSpPr>
          <p:cNvPr id="3" name="Text 1"/>
          <p:cNvSpPr/>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Promote without rebuilding: move the alias, restart the service</a:t>
            </a:r>
            <a:endParaRPr lang="en-US" sz="3200" dirty="0"/>
          </a:p>
        </p:txBody>
      </p:sp>
      <p:sp>
        <p:nvSpPr>
          <p:cNvPr id="4" name="Shape 2"/>
          <p:cNvSpPr/>
          <p:nvPr/>
        </p:nvSpPr>
        <p:spPr>
          <a:xfrm>
            <a:off x="812800" y="2250281"/>
            <a:ext cx="5181600" cy="2235200"/>
          </a:xfrm>
          <a:prstGeom prst="roundRect">
            <a:avLst>
              <a:gd name="adj" fmla="val 4545"/>
            </a:avLst>
          </a:prstGeom>
          <a:solidFill>
            <a:srgbClr val="16232E"/>
          </a:solidFill>
          <a:ln/>
        </p:spPr>
        <p:txBody>
          <a:bodyPr/>
          <a:lstStyle/>
          <a:p>
            <a:endParaRPr lang="en-IN"/>
          </a:p>
        </p:txBody>
      </p:sp>
      <p:sp>
        <p:nvSpPr>
          <p:cNvPr id="5" name="Text 3"/>
          <p:cNvSpPr/>
          <p:nvPr/>
        </p:nvSpPr>
        <p:spPr>
          <a:xfrm>
            <a:off x="1016000" y="2453481"/>
            <a:ext cx="4918456" cy="1854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B8C5CB"/>
                </a:solidFill>
                <a:latin typeface="JetBrains Mono" pitchFamily="34" charset="0"/>
                <a:ea typeface="JetBrains Mono" pitchFamily="34" charset="-122"/>
                <a:cs typeface="JetBrains Mono" pitchFamily="34" charset="-120"/>
              </a:rPr>
              <a:t># deploy the immutable image from Lab 4</a:t>
            </a:r>
            <a:endParaRPr lang="en-US" sz="1200" dirty="0"/>
          </a:p>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docker compose up -d reorder-api</a:t>
            </a:r>
            <a:endParaRPr lang="en-US" sz="1200" dirty="0"/>
          </a:p>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curl -s localhost:8000/ready</a:t>
            </a:r>
            <a:endParaRPr lang="en-US" sz="1200" dirty="0"/>
          </a:p>
          <a:p>
            <a:pPr marL="0" indent="0" algn="l">
              <a:lnSpc>
                <a:spcPts val="1800"/>
              </a:lnSpc>
              <a:buNone/>
            </a:pPr>
            <a:endParaRPr lang="en-US" sz="1200" dirty="0"/>
          </a:p>
          <a:p>
            <a:pPr marL="0" indent="0" algn="l">
              <a:lnSpc>
                <a:spcPts val="1800"/>
              </a:lnSpc>
              <a:buNone/>
            </a:pPr>
            <a:r>
              <a:rPr lang="en-US" sz="1200" dirty="0">
                <a:solidFill>
                  <a:srgbClr val="B8C5CB"/>
                </a:solidFill>
                <a:latin typeface="JetBrains Mono" pitchFamily="34" charset="0"/>
                <a:ea typeface="JetBrains Mono" pitchFamily="34" charset="-122"/>
                <a:cs typeface="JetBrains Mono" pitchFamily="34" charset="-120"/>
              </a:rPr>
              <a:t># promote or roll back, no rebuild</a:t>
            </a:r>
            <a:endParaRPr lang="en-US" sz="1200" dirty="0"/>
          </a:p>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set_registered_model_alias(</a:t>
            </a:r>
            <a:endParaRPr lang="en-US" sz="1200" dirty="0"/>
          </a:p>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  'freshmart_reorder_model','production',4)</a:t>
            </a:r>
            <a:endParaRPr lang="en-US" sz="1200" dirty="0"/>
          </a:p>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docker compose restart reorder-api</a:t>
            </a:r>
            <a:endParaRPr lang="en-US" sz="1200" dirty="0"/>
          </a:p>
        </p:txBody>
      </p:sp>
      <p:sp>
        <p:nvSpPr>
          <p:cNvPr id="6" name="Shape 4"/>
          <p:cNvSpPr/>
          <p:nvPr/>
        </p:nvSpPr>
        <p:spPr>
          <a:xfrm>
            <a:off x="6197600" y="2250281"/>
            <a:ext cx="5181600" cy="2235200"/>
          </a:xfrm>
          <a:prstGeom prst="roundRect">
            <a:avLst>
              <a:gd name="adj" fmla="val 4545"/>
            </a:avLst>
          </a:prstGeom>
          <a:solidFill>
            <a:srgbClr val="16232E"/>
          </a:solidFill>
          <a:ln/>
        </p:spPr>
        <p:txBody>
          <a:bodyPr/>
          <a:lstStyle/>
          <a:p>
            <a:endParaRPr lang="en-IN"/>
          </a:p>
        </p:txBody>
      </p:sp>
      <p:sp>
        <p:nvSpPr>
          <p:cNvPr id="7" name="Text 5"/>
          <p:cNvSpPr/>
          <p:nvPr/>
        </p:nvSpPr>
        <p:spPr>
          <a:xfrm>
            <a:off x="6400800" y="2453481"/>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A63B"/>
                </a:solidFill>
                <a:latin typeface="JetBrains Mono" pitchFamily="34" charset="0"/>
                <a:ea typeface="JetBrains Mono" pitchFamily="34" charset="-122"/>
                <a:cs typeface="JetBrains Mono" pitchFamily="34" charset="-120"/>
              </a:rPr>
              <a:t>EXPECTED OUTPUT</a:t>
            </a:r>
            <a:endParaRPr lang="en-US" sz="1200" dirty="0"/>
          </a:p>
        </p:txBody>
      </p:sp>
      <p:sp>
        <p:nvSpPr>
          <p:cNvPr id="8" name="Text 6"/>
          <p:cNvSpPr/>
          <p:nvPr/>
        </p:nvSpPr>
        <p:spPr>
          <a:xfrm>
            <a:off x="6400800" y="2666802"/>
            <a:ext cx="4918456" cy="1625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 Container reorder-api Healthy 62.1s</a:t>
            </a:r>
            <a:endParaRPr lang="en-US" sz="1200" dirty="0"/>
          </a:p>
          <a:p>
            <a:pPr marL="0" indent="0" algn="l">
              <a:lnSpc>
                <a:spcPts val="1800"/>
              </a:lnSpc>
              <a:buNone/>
            </a:pPr>
            <a:endParaRPr lang="en-US" sz="1200" dirty="0"/>
          </a:p>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{"status": "ready",</a:t>
            </a:r>
            <a:endParaRPr lang="en-US" sz="1200" dirty="0"/>
          </a:p>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 "model_version": 4,</a:t>
            </a:r>
            <a:endParaRPr lang="en-US" sz="1200" dirty="0"/>
          </a:p>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 "alias": "production",</a:t>
            </a:r>
            <a:endParaRPr lang="en-US" sz="1200" dirty="0"/>
          </a:p>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 "model_type": "logreg",</a:t>
            </a:r>
            <a:endParaRPr lang="en-US" sz="1200" dirty="0"/>
          </a:p>
          <a:p>
            <a:pPr marL="0" indent="0" algn="l">
              <a:lnSpc>
                <a:spcPts val="1800"/>
              </a:lnSpc>
              <a:buNone/>
            </a:pPr>
            <a:r>
              <a:rPr lang="en-US" sz="1200" dirty="0">
                <a:solidFill>
                  <a:srgbClr val="E7EEF0"/>
                </a:solidFill>
                <a:latin typeface="JetBrains Mono" pitchFamily="34" charset="0"/>
                <a:ea typeface="JetBrains Mono" pitchFamily="34" charset="-122"/>
                <a:cs typeface="JetBrains Mono" pitchFamily="34" charset="-120"/>
              </a:rPr>
              <a:t> "data_hash": "e0ce921bf845"}</a:t>
            </a:r>
            <a:endParaRPr lang="en-US" sz="1200" dirty="0"/>
          </a:p>
        </p:txBody>
      </p:sp>
      <p:sp>
        <p:nvSpPr>
          <p:cNvPr id="9" name="Shape 7"/>
          <p:cNvSpPr/>
          <p:nvPr/>
        </p:nvSpPr>
        <p:spPr>
          <a:xfrm>
            <a:off x="812800" y="4714081"/>
            <a:ext cx="10566400" cy="908050"/>
          </a:xfrm>
          <a:prstGeom prst="roundRect">
            <a:avLst>
              <a:gd name="adj" fmla="val 11189"/>
            </a:avLst>
          </a:prstGeom>
          <a:solidFill>
            <a:srgbClr val="E2EEEC"/>
          </a:solidFill>
          <a:ln/>
        </p:spPr>
        <p:txBody>
          <a:bodyPr/>
          <a:lstStyle/>
          <a:p>
            <a:endParaRPr lang="en-IN"/>
          </a:p>
        </p:txBody>
      </p:sp>
      <p:sp>
        <p:nvSpPr>
          <p:cNvPr id="10" name="Text 8"/>
          <p:cNvSpPr/>
          <p:nvPr/>
        </p:nvSpPr>
        <p:spPr>
          <a:xfrm>
            <a:off x="1041400" y="4891881"/>
            <a:ext cx="10412476"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That readiness response is the whole chain in one line: </a:t>
            </a:r>
            <a:r>
              <a:rPr lang="en-US" sz="1500" b="1" dirty="0">
                <a:solidFill>
                  <a:srgbClr val="16232E"/>
                </a:solidFill>
                <a:latin typeface="IBM Plex Sans" pitchFamily="34" charset="0"/>
                <a:ea typeface="IBM Plex Sans" pitchFamily="34" charset="-122"/>
                <a:cs typeface="IBM Plex Sans" pitchFamily="34" charset="-120"/>
              </a:rPr>
              <a:t>the version serving, the alias that chose it, and the extract it was trained on</a:t>
            </a:r>
            <a:r>
              <a:rPr lang="en-US" sz="1500" dirty="0">
                <a:solidFill>
                  <a:srgbClr val="16232E"/>
                </a:solidFill>
                <a:latin typeface="IBM Plex Sans" pitchFamily="34" charset="0"/>
                <a:ea typeface="IBM Plex Sans" pitchFamily="34" charset="-122"/>
                <a:cs typeface="IBM Plex Sans" pitchFamily="34" charset="-120"/>
              </a:rPr>
              <a:t> — traced back to the batch M2 profiled on Day 1.</a:t>
            </a:r>
            <a:endParaRPr lang="en-US" sz="15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7707"/>
          </a:xfrm>
          <a:prstGeom prst="rect">
            <a:avLst/>
          </a:prstGeom>
          <a:noFill/>
          <a:ln/>
        </p:spPr>
        <p:txBody>
          <a:bodyPr wrap="square" lIns="0" tIns="0" rIns="0" bIns="0" rtlCol="0" anchor="t">
            <a:normAutofit/>
          </a:bodyPr>
          <a:lstStyle/>
          <a:p>
            <a:pPr marL="0" indent="0" algn="l">
              <a:lnSpc>
                <a:spcPts val="1622"/>
              </a:lnSpc>
              <a:buNone/>
            </a:pPr>
            <a:r>
              <a:rPr lang="en-US" sz="1159" kern="0" spc="150" dirty="0">
                <a:solidFill>
                  <a:srgbClr val="0E6F6D"/>
                </a:solidFill>
                <a:latin typeface="JetBrains Mono" pitchFamily="34" charset="0"/>
                <a:ea typeface="JetBrains Mono" pitchFamily="34" charset="-122"/>
                <a:cs typeface="JetBrains Mono" pitchFamily="34" charset="-120"/>
              </a:rPr>
              <a:t>THE CLOUD MAPPING · ONE TO ONE</a:t>
            </a:r>
            <a:endParaRPr lang="en-US" sz="1159" dirty="0"/>
          </a:p>
        </p:txBody>
      </p:sp>
      <p:sp>
        <p:nvSpPr>
          <p:cNvPr id="3" name="Text 1"/>
          <p:cNvSpPr/>
          <p:nvPr/>
        </p:nvSpPr>
        <p:spPr>
          <a:xfrm>
            <a:off x="812800" y="1116707"/>
            <a:ext cx="10883392" cy="449064"/>
          </a:xfrm>
          <a:prstGeom prst="rect">
            <a:avLst/>
          </a:prstGeom>
          <a:noFill/>
          <a:ln/>
        </p:spPr>
        <p:txBody>
          <a:bodyPr wrap="square" lIns="0" tIns="0" rIns="0" bIns="0" rtlCol="0" anchor="t">
            <a:normAutofit/>
          </a:bodyPr>
          <a:lstStyle/>
          <a:p>
            <a:pPr marL="0" indent="0" algn="l">
              <a:lnSpc>
                <a:spcPts val="3366"/>
              </a:lnSpc>
              <a:buNone/>
            </a:pPr>
            <a:r>
              <a:rPr lang="en-US" sz="3060" b="1" dirty="0">
                <a:solidFill>
                  <a:srgbClr val="16232E"/>
                </a:solidFill>
                <a:latin typeface="IBM Plex Sans" pitchFamily="34" charset="0"/>
                <a:ea typeface="IBM Plex Sans" pitchFamily="34" charset="-122"/>
                <a:cs typeface="IBM Plex Sans" pitchFamily="34" charset="-120"/>
              </a:rPr>
              <a:t>The concepts do not change when the runner does</a:t>
            </a:r>
            <a:endParaRPr lang="en-US" sz="3060" dirty="0"/>
          </a:p>
        </p:txBody>
      </p:sp>
      <p:sp>
        <p:nvSpPr>
          <p:cNvPr id="4" name="Shape 2"/>
          <p:cNvSpPr/>
          <p:nvPr/>
        </p:nvSpPr>
        <p:spPr>
          <a:xfrm>
            <a:off x="812800" y="1749921"/>
            <a:ext cx="10566400" cy="0"/>
          </a:xfrm>
          <a:prstGeom prst="line">
            <a:avLst/>
          </a:prstGeom>
          <a:noFill/>
          <a:ln w="12700">
            <a:solidFill>
              <a:srgbClr val="141413">
                <a:alpha val="22000"/>
              </a:srgbClr>
            </a:solidFill>
            <a:prstDash val="solid"/>
          </a:ln>
        </p:spPr>
        <p:txBody>
          <a:bodyPr/>
          <a:lstStyle/>
          <a:p>
            <a:endParaRPr lang="en-IN"/>
          </a:p>
        </p:txBody>
      </p:sp>
      <p:sp>
        <p:nvSpPr>
          <p:cNvPr id="5" name="Shape 3"/>
          <p:cNvSpPr/>
          <p:nvPr/>
        </p:nvSpPr>
        <p:spPr>
          <a:xfrm>
            <a:off x="819150" y="1743571"/>
            <a:ext cx="0" cy="3367584"/>
          </a:xfrm>
          <a:prstGeom prst="line">
            <a:avLst/>
          </a:prstGeom>
          <a:noFill/>
          <a:ln w="12700">
            <a:solidFill>
              <a:srgbClr val="141413">
                <a:alpha val="22000"/>
              </a:srgbClr>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1832471"/>
          <a:ext cx="10299700" cy="3202484"/>
        </p:xfrm>
        <a:graphic>
          <a:graphicData uri="http://schemas.openxmlformats.org/drawingml/2006/table">
            <a:tbl>
              <a:tblPr/>
              <a:tblGrid>
                <a:gridCol w="3295904">
                  <a:extLst>
                    <a:ext uri="{9D8B030D-6E8A-4147-A177-3AD203B41FA5}">
                      <a16:colId xmlns:a16="http://schemas.microsoft.com/office/drawing/2014/main" val="20000"/>
                    </a:ext>
                  </a:extLst>
                </a:gridCol>
                <a:gridCol w="3295904">
                  <a:extLst>
                    <a:ext uri="{9D8B030D-6E8A-4147-A177-3AD203B41FA5}">
                      <a16:colId xmlns:a16="http://schemas.microsoft.com/office/drawing/2014/main" val="20001"/>
                    </a:ext>
                  </a:extLst>
                </a:gridCol>
                <a:gridCol w="3707892">
                  <a:extLst>
                    <a:ext uri="{9D8B030D-6E8A-4147-A177-3AD203B41FA5}">
                      <a16:colId xmlns:a16="http://schemas.microsoft.com/office/drawing/2014/main" val="20002"/>
                    </a:ext>
                  </a:extLst>
                </a:gridCol>
              </a:tblGrid>
              <a:tr h="355798">
                <a:tc>
                  <a:txBody>
                    <a:bodyPr/>
                    <a:lstStyle/>
                    <a:p>
                      <a:pPr marL="0" indent="0">
                        <a:lnSpc>
                          <a:spcPts val="1801"/>
                        </a:lnSpc>
                        <a:buNone/>
                      </a:pPr>
                      <a:r>
                        <a:rPr lang="en-US" sz="1287" b="1" dirty="0">
                          <a:solidFill>
                            <a:srgbClr val="16232E"/>
                          </a:solidFill>
                          <a:latin typeface="IBM Plex Sans" pitchFamily="34" charset="0"/>
                          <a:ea typeface="IBM Plex Sans" pitchFamily="34" charset="-122"/>
                          <a:cs typeface="IBM Plex Sans" pitchFamily="34" charset="-120"/>
                        </a:rPr>
                        <a:t>This lab, on a laptop</a:t>
                      </a:r>
                      <a:endParaRPr lang="en-US" sz="1287" dirty="0">
                        <a:latin typeface="IBM Plex Sans" charset="0"/>
                        <a:ea typeface="IBM Plex Sans" charset="0"/>
                        <a:cs typeface="IBM Plex Sans" charset="0"/>
                      </a:endParaRPr>
                    </a:p>
                  </a:txBody>
                  <a:tcPr marL="57195" marR="57195" marT="57195" marB="57195">
                    <a:lnL w="0" cap="flat" cmpd="sng" algn="ctr">
                      <a:noFill/>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01"/>
                        </a:lnSpc>
                        <a:buNone/>
                      </a:pPr>
                      <a:r>
                        <a:rPr lang="en-US" sz="1287" b="1" dirty="0">
                          <a:solidFill>
                            <a:srgbClr val="16232E"/>
                          </a:solidFill>
                          <a:latin typeface="IBM Plex Sans" pitchFamily="34" charset="0"/>
                          <a:ea typeface="IBM Plex Sans" pitchFamily="34" charset="-122"/>
                          <a:cs typeface="IBM Plex Sans" pitchFamily="34" charset="-120"/>
                        </a:rPr>
                        <a:t>Cloud CI/CD</a:t>
                      </a:r>
                      <a:endParaRPr lang="en-US" sz="1287" dirty="0">
                        <a:latin typeface="IBM Plex Sans" charset="0"/>
                        <a:ea typeface="IBM Plex Sans" charset="0"/>
                        <a:cs typeface="IBM Plex Sans" charset="0"/>
                      </a:endParaRPr>
                    </a:p>
                  </a:txBody>
                  <a:tcPr marL="57195" marR="57195" marT="57195" marB="5719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01"/>
                        </a:lnSpc>
                        <a:buNone/>
                      </a:pPr>
                      <a:r>
                        <a:rPr lang="en-US" sz="1287" b="1" dirty="0">
                          <a:solidFill>
                            <a:srgbClr val="16232E"/>
                          </a:solidFill>
                          <a:latin typeface="IBM Plex Sans" pitchFamily="34" charset="0"/>
                          <a:ea typeface="IBM Plex Sans" pitchFamily="34" charset="-122"/>
                          <a:cs typeface="IBM Plex Sans" pitchFamily="34" charset="-120"/>
                        </a:rPr>
                        <a:t>Purpose</a:t>
                      </a:r>
                      <a:endParaRPr lang="en-US" sz="1287" dirty="0">
                        <a:latin typeface="IBM Plex Sans" charset="0"/>
                        <a:ea typeface="IBM Plex Sans" charset="0"/>
                        <a:cs typeface="IBM Plex Sans" charset="0"/>
                      </a:endParaRPr>
                    </a:p>
                  </a:txBody>
                  <a:tcPr marL="57195" marR="57195" marT="57195" marB="5719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55798">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a JOB block</a:t>
                      </a:r>
                      <a:endParaRPr lang="en-US" sz="1287" dirty="0">
                        <a:latin typeface="IBM Plex Sans" charset="0"/>
                        <a:ea typeface="IBM Plex Sans" charset="0"/>
                        <a:cs typeface="IBM Plex Sans" charset="0"/>
                      </a:endParaRPr>
                    </a:p>
                  </a:txBody>
                  <a:tcPr marL="57195" marR="57195" marT="57195" marB="57195">
                    <a:lnL w="0" cap="flat" cmpd="sng" algn="ctr">
                      <a:noFill/>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a GitHub Actions job</a:t>
                      </a:r>
                      <a:endParaRPr lang="en-US" sz="1287" dirty="0">
                        <a:latin typeface="IBM Plex Sans" charset="0"/>
                        <a:ea typeface="IBM Plex Sans" charset="0"/>
                        <a:cs typeface="IBM Plex Sans" charset="0"/>
                      </a:endParaRPr>
                    </a:p>
                  </a:txBody>
                  <a:tcPr marL="57195" marR="57195" marT="57195" marB="571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a unit of work with its own gate</a:t>
                      </a:r>
                      <a:endParaRPr lang="en-US" sz="1287" dirty="0">
                        <a:latin typeface="IBM Plex Sans" charset="0"/>
                        <a:ea typeface="IBM Plex Sans" charset="0"/>
                        <a:cs typeface="IBM Plex Sans" charset="0"/>
                      </a:endParaRPr>
                    </a:p>
                  </a:txBody>
                  <a:tcPr marL="57195" marR="57195" marT="57195" marB="571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55798">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validate_data.py</a:t>
                      </a:r>
                      <a:endParaRPr lang="en-US" sz="1287" dirty="0">
                        <a:latin typeface="IBM Plex Sans" charset="0"/>
                        <a:ea typeface="IBM Plex Sans" charset="0"/>
                        <a:cs typeface="IBM Plex Sans" charset="0"/>
                      </a:endParaRPr>
                    </a:p>
                  </a:txBody>
                  <a:tcPr marL="57195" marR="57195" marT="57195" marB="57195">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a test job</a:t>
                      </a:r>
                      <a:endParaRPr lang="en-US" sz="1287" dirty="0">
                        <a:latin typeface="IBM Plex Sans" charset="0"/>
                        <a:ea typeface="IBM Plex Sans" charset="0"/>
                        <a:cs typeface="IBM Plex Sans" charset="0"/>
                      </a:endParaRPr>
                    </a:p>
                  </a:txBody>
                  <a:tcPr marL="57195" marR="57195" marT="57195" marB="571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block bad data before it spreads</a:t>
                      </a:r>
                      <a:endParaRPr lang="en-US" sz="1287" dirty="0">
                        <a:latin typeface="IBM Plex Sans" charset="0"/>
                        <a:ea typeface="IBM Plex Sans" charset="0"/>
                        <a:cs typeface="IBM Plex Sans" charset="0"/>
                      </a:endParaRPr>
                    </a:p>
                  </a:txBody>
                  <a:tcPr marL="57195" marR="57195" marT="57195" marB="571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355798">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AUC + lineage gate</a:t>
                      </a:r>
                      <a:endParaRPr lang="en-US" sz="1287" dirty="0">
                        <a:latin typeface="IBM Plex Sans" charset="0"/>
                        <a:ea typeface="IBM Plex Sans" charset="0"/>
                        <a:cs typeface="IBM Plex Sans" charset="0"/>
                      </a:endParaRPr>
                    </a:p>
                  </a:txBody>
                  <a:tcPr marL="57195" marR="57195" marT="57195" marB="57195">
                    <a:lnL w="0" cap="flat" cmpd="sng" algn="ctr">
                      <a:noFill/>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a quality gate plus approval</a:t>
                      </a:r>
                      <a:endParaRPr lang="en-US" sz="1287" dirty="0">
                        <a:latin typeface="IBM Plex Sans" charset="0"/>
                        <a:ea typeface="IBM Plex Sans" charset="0"/>
                        <a:cs typeface="IBM Plex Sans" charset="0"/>
                      </a:endParaRPr>
                    </a:p>
                  </a:txBody>
                  <a:tcPr marL="57195" marR="57195" marT="57195" marB="571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block weak or unreproducible models</a:t>
                      </a:r>
                      <a:endParaRPr lang="en-US" sz="1287" dirty="0">
                        <a:latin typeface="IBM Plex Sans" charset="0"/>
                        <a:ea typeface="IBM Plex Sans" charset="0"/>
                        <a:cs typeface="IBM Plex Sans" charset="0"/>
                      </a:endParaRPr>
                    </a:p>
                  </a:txBody>
                  <a:tcPr marL="57195" marR="57195" marT="57195" marB="571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55798">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freshmart-reorder:1.0.0</a:t>
                      </a:r>
                      <a:endParaRPr lang="en-US" sz="1287" dirty="0">
                        <a:latin typeface="IBM Plex Sans" charset="0"/>
                        <a:ea typeface="IBM Plex Sans" charset="0"/>
                        <a:cs typeface="IBM Plex Sans" charset="0"/>
                      </a:endParaRPr>
                    </a:p>
                  </a:txBody>
                  <a:tcPr marL="57195" marR="57195" marT="57195" marB="57195">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an image in ECR or GAR</a:t>
                      </a:r>
                      <a:endParaRPr lang="en-US" sz="1287" dirty="0">
                        <a:latin typeface="IBM Plex Sans" charset="0"/>
                        <a:ea typeface="IBM Plex Sans" charset="0"/>
                        <a:cs typeface="IBM Plex Sans" charset="0"/>
                      </a:endParaRPr>
                    </a:p>
                  </a:txBody>
                  <a:tcPr marL="57195" marR="57195" marT="57195" marB="571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the immutable artifact to deploy</a:t>
                      </a:r>
                      <a:endParaRPr lang="en-US" sz="1287" dirty="0">
                        <a:latin typeface="IBM Plex Sans" charset="0"/>
                        <a:ea typeface="IBM Plex Sans" charset="0"/>
                        <a:cs typeface="IBM Plex Sans" charset="0"/>
                      </a:endParaRPr>
                    </a:p>
                  </a:txBody>
                  <a:tcPr marL="57195" marR="57195" marT="57195" marB="571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355798">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docker compose up</a:t>
                      </a:r>
                      <a:endParaRPr lang="en-US" sz="1287" dirty="0">
                        <a:latin typeface="IBM Plex Sans" charset="0"/>
                        <a:ea typeface="IBM Plex Sans" charset="0"/>
                        <a:cs typeface="IBM Plex Sans" charset="0"/>
                      </a:endParaRPr>
                    </a:p>
                  </a:txBody>
                  <a:tcPr marL="57195" marR="57195" marT="57195" marB="57195">
                    <a:lnL w="0" cap="flat" cmpd="sng" algn="ctr">
                      <a:noFill/>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ECS/Fargate or Cloud Run</a:t>
                      </a:r>
                      <a:endParaRPr lang="en-US" sz="1287" dirty="0">
                        <a:latin typeface="IBM Plex Sans" charset="0"/>
                        <a:ea typeface="IBM Plex Sans" charset="0"/>
                        <a:cs typeface="IBM Plex Sans" charset="0"/>
                      </a:endParaRPr>
                    </a:p>
                  </a:txBody>
                  <a:tcPr marL="57195" marR="57195" marT="57195" marB="571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run the container, managed</a:t>
                      </a:r>
                      <a:endParaRPr lang="en-US" sz="1287" dirty="0">
                        <a:latin typeface="IBM Plex Sans" charset="0"/>
                        <a:ea typeface="IBM Plex Sans" charset="0"/>
                        <a:cs typeface="IBM Plex Sans" charset="0"/>
                      </a:endParaRPr>
                    </a:p>
                  </a:txBody>
                  <a:tcPr marL="57195" marR="57195" marT="57195" marB="571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5"/>
                  </a:ext>
                </a:extLst>
              </a:tr>
              <a:tr h="355898">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set alias @production</a:t>
                      </a:r>
                      <a:endParaRPr lang="en-US" sz="1287" dirty="0">
                        <a:latin typeface="IBM Plex Sans" charset="0"/>
                        <a:ea typeface="IBM Plex Sans" charset="0"/>
                        <a:cs typeface="IBM Plex Sans" charset="0"/>
                      </a:endParaRPr>
                    </a:p>
                  </a:txBody>
                  <a:tcPr marL="57195" marR="57195" marT="57195" marB="57195">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a promotion step</a:t>
                      </a:r>
                      <a:endParaRPr lang="en-US" sz="1287" dirty="0">
                        <a:latin typeface="IBM Plex Sans" charset="0"/>
                        <a:ea typeface="IBM Plex Sans" charset="0"/>
                        <a:cs typeface="IBM Plex Sans" charset="0"/>
                      </a:endParaRPr>
                    </a:p>
                  </a:txBody>
                  <a:tcPr marL="57195" marR="57195" marT="57195" marB="571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mark a version approved to serve</a:t>
                      </a:r>
                      <a:endParaRPr lang="en-US" sz="1287" dirty="0">
                        <a:latin typeface="IBM Plex Sans" charset="0"/>
                        <a:ea typeface="IBM Plex Sans" charset="0"/>
                        <a:cs typeface="IBM Plex Sans" charset="0"/>
                      </a:endParaRPr>
                    </a:p>
                  </a:txBody>
                  <a:tcPr marL="57195" marR="57195" marT="57195" marB="571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6"/>
                  </a:ext>
                </a:extLst>
              </a:tr>
              <a:tr h="355898">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@previous pointer</a:t>
                      </a:r>
                      <a:endParaRPr lang="en-US" sz="1287" dirty="0">
                        <a:latin typeface="IBM Plex Sans" charset="0"/>
                        <a:ea typeface="IBM Plex Sans" charset="0"/>
                        <a:cs typeface="IBM Plex Sans" charset="0"/>
                      </a:endParaRPr>
                    </a:p>
                  </a:txBody>
                  <a:tcPr marL="57195" marR="57195" marT="57195" marB="57195">
                    <a:lnL w="0" cap="flat" cmpd="sng" algn="ctr">
                      <a:noFill/>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blue/green plus rollback</a:t>
                      </a:r>
                      <a:endParaRPr lang="en-US" sz="1287" dirty="0">
                        <a:latin typeface="IBM Plex Sans" charset="0"/>
                        <a:ea typeface="IBM Plex Sans" charset="0"/>
                        <a:cs typeface="IBM Plex Sans" charset="0"/>
                      </a:endParaRPr>
                    </a:p>
                  </a:txBody>
                  <a:tcPr marL="57195" marR="57195" marT="57195" marB="571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instant revert, no rebuild</a:t>
                      </a:r>
                      <a:endParaRPr lang="en-US" sz="1287" dirty="0">
                        <a:latin typeface="IBM Plex Sans" charset="0"/>
                        <a:ea typeface="IBM Plex Sans" charset="0"/>
                        <a:cs typeface="IBM Plex Sans" charset="0"/>
                      </a:endParaRPr>
                    </a:p>
                  </a:txBody>
                  <a:tcPr marL="57195" marR="57195" marT="57195" marB="571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7"/>
                  </a:ext>
                </a:extLst>
              </a:tr>
              <a:tr h="355898">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canary simulator</a:t>
                      </a:r>
                      <a:endParaRPr lang="en-US" sz="1287" dirty="0">
                        <a:latin typeface="IBM Plex Sans" charset="0"/>
                        <a:ea typeface="IBM Plex Sans" charset="0"/>
                        <a:cs typeface="IBM Plex Sans" charset="0"/>
                      </a:endParaRPr>
                    </a:p>
                  </a:txBody>
                  <a:tcPr marL="57195" marR="57195" marT="57195" marB="57195">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ALB weighted target groups</a:t>
                      </a:r>
                      <a:endParaRPr lang="en-US" sz="1287" dirty="0">
                        <a:latin typeface="IBM Plex Sans" charset="0"/>
                        <a:ea typeface="IBM Plex Sans" charset="0"/>
                        <a:cs typeface="IBM Plex Sans" charset="0"/>
                      </a:endParaRPr>
                    </a:p>
                  </a:txBody>
                  <a:tcPr marL="57195" marR="57195" marT="57195" marB="571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01"/>
                        </a:lnSpc>
                        <a:buNone/>
                      </a:pPr>
                      <a:r>
                        <a:rPr lang="en-US" sz="1287" dirty="0">
                          <a:solidFill>
                            <a:srgbClr val="16232E"/>
                          </a:solidFill>
                          <a:latin typeface="IBM Plex Sans" pitchFamily="34" charset="0"/>
                          <a:ea typeface="IBM Plex Sans" pitchFamily="34" charset="-122"/>
                          <a:cs typeface="IBM Plex Sans" pitchFamily="34" charset="-120"/>
                        </a:rPr>
                        <a:t>progressive, low-risk exposure</a:t>
                      </a:r>
                      <a:endParaRPr lang="en-US" sz="1287" dirty="0">
                        <a:latin typeface="IBM Plex Sans" charset="0"/>
                        <a:ea typeface="IBM Plex Sans" charset="0"/>
                        <a:cs typeface="IBM Plex Sans" charset="0"/>
                      </a:endParaRPr>
                    </a:p>
                  </a:txBody>
                  <a:tcPr marL="57195" marR="57195" marT="57195" marB="571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Text 4"/>
          <p:cNvSpPr/>
          <p:nvPr/>
        </p:nvSpPr>
        <p:spPr>
          <a:xfrm>
            <a:off x="812800" y="5314355"/>
            <a:ext cx="10883392" cy="553045"/>
          </a:xfrm>
          <a:prstGeom prst="rect">
            <a:avLst/>
          </a:prstGeom>
          <a:noFill/>
          <a:ln/>
        </p:spPr>
        <p:txBody>
          <a:bodyPr wrap="square" lIns="0" tIns="0" rIns="0" bIns="0" rtlCol="0" anchor="t">
            <a:normAutofit/>
          </a:bodyPr>
          <a:lstStyle/>
          <a:p>
            <a:pPr marL="0" indent="0" algn="l">
              <a:lnSpc>
                <a:spcPts val="2087"/>
              </a:lnSpc>
              <a:buNone/>
            </a:pPr>
            <a:r>
              <a:rPr lang="en-US" sz="1439" dirty="0">
                <a:solidFill>
                  <a:srgbClr val="16232E"/>
                </a:solidFill>
                <a:latin typeface="IBM Plex Sans" pitchFamily="34" charset="0"/>
                <a:ea typeface="IBM Plex Sans" pitchFamily="34" charset="-122"/>
                <a:cs typeface="IBM Plex Sans" pitchFamily="34" charset="-120"/>
              </a:rPr>
              <a:t>Every local step has a cloud equivalent. </a:t>
            </a:r>
            <a:r>
              <a:rPr lang="en-US" sz="1439" b="1" dirty="0">
                <a:solidFill>
                  <a:srgbClr val="16232E"/>
                </a:solidFill>
                <a:latin typeface="IBM Plex Sans" pitchFamily="34" charset="0"/>
                <a:ea typeface="IBM Plex Sans" pitchFamily="34" charset="-122"/>
                <a:cs typeface="IBM Plex Sans" pitchFamily="34" charset="-120"/>
              </a:rPr>
              <a:t>What you rehearsed on a laptop is the same pipeline</a:t>
            </a:r>
            <a:r>
              <a:rPr lang="en-US" sz="1439" dirty="0">
                <a:solidFill>
                  <a:srgbClr val="16232E"/>
                </a:solidFill>
                <a:latin typeface="IBM Plex Sans" pitchFamily="34" charset="0"/>
                <a:ea typeface="IBM Plex Sans" pitchFamily="34" charset="-122"/>
                <a:cs typeface="IBM Plex Sans" pitchFamily="34" charset="-120"/>
              </a:rPr>
              <a:t> — the cost, the IAM and the waiting are what change.</a:t>
            </a:r>
            <a:endParaRPr lang="en-US" sz="1439"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ISSUED NOW · THE AWS TAKE-HOME LAB</a:t>
            </a:r>
            <a:endParaRPr lang="en-US" sz="1200" dirty="0"/>
          </a:p>
        </p:txBody>
      </p:sp>
      <p:sp>
        <p:nvSpPr>
          <p:cNvPr id="3" name="Text 1"/>
          <p:cNvSpPr/>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Do the cloud half on your own account, at your own pace</a:t>
            </a:r>
            <a:endParaRPr lang="en-US" sz="3200" dirty="0"/>
          </a:p>
        </p:txBody>
      </p:sp>
      <p:sp>
        <p:nvSpPr>
          <p:cNvPr id="4" name="Shape 2"/>
          <p:cNvSpPr/>
          <p:nvPr/>
        </p:nvSpPr>
        <p:spPr>
          <a:xfrm>
            <a:off x="819150" y="2282031"/>
            <a:ext cx="2514600" cy="2196703"/>
          </a:xfrm>
          <a:prstGeom prst="roundRect">
            <a:avLst>
              <a:gd name="adj" fmla="val 3758"/>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990600" y="249158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Step 1</a:t>
            </a:r>
            <a:endParaRPr lang="en-US" sz="1200" dirty="0"/>
          </a:p>
        </p:txBody>
      </p:sp>
      <p:sp>
        <p:nvSpPr>
          <p:cNvPr id="6" name="Text 4"/>
          <p:cNvSpPr/>
          <p:nvPr/>
        </p:nvSpPr>
        <p:spPr>
          <a:xfrm>
            <a:off x="990600" y="2781102"/>
            <a:ext cx="22368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Push the image</a:t>
            </a:r>
            <a:endParaRPr lang="en-US" sz="1600" dirty="0"/>
          </a:p>
        </p:txBody>
      </p:sp>
      <p:sp>
        <p:nvSpPr>
          <p:cNvPr id="7" name="Text 5"/>
          <p:cNvSpPr/>
          <p:nvPr/>
        </p:nvSpPr>
        <p:spPr>
          <a:xfrm>
            <a:off x="990600" y="3101082"/>
            <a:ext cx="2236851"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Tag freshmart-reorder:1.0.0 and push it to ECR — the same image, now in a registry.</a:t>
            </a:r>
            <a:endParaRPr lang="en-US" sz="1300" dirty="0"/>
          </a:p>
        </p:txBody>
      </p:sp>
      <p:sp>
        <p:nvSpPr>
          <p:cNvPr id="8" name="Shape 6"/>
          <p:cNvSpPr/>
          <p:nvPr/>
        </p:nvSpPr>
        <p:spPr>
          <a:xfrm>
            <a:off x="3498850" y="2282031"/>
            <a:ext cx="2514600" cy="2196703"/>
          </a:xfrm>
          <a:prstGeom prst="roundRect">
            <a:avLst>
              <a:gd name="adj" fmla="val 3758"/>
            </a:avLst>
          </a:prstGeom>
          <a:solidFill>
            <a:srgbClr val="FDFCF8"/>
          </a:solidFill>
          <a:ln w="12700">
            <a:solidFill>
              <a:srgbClr val="DCD6C8"/>
            </a:solidFill>
            <a:prstDash val="solid"/>
          </a:ln>
        </p:spPr>
        <p:txBody>
          <a:bodyPr/>
          <a:lstStyle/>
          <a:p>
            <a:endParaRPr lang="en-IN"/>
          </a:p>
        </p:txBody>
      </p:sp>
      <p:sp>
        <p:nvSpPr>
          <p:cNvPr id="9" name="Text 7"/>
          <p:cNvSpPr/>
          <p:nvPr/>
        </p:nvSpPr>
        <p:spPr>
          <a:xfrm>
            <a:off x="3670300" y="249158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Step 2</a:t>
            </a:r>
            <a:endParaRPr lang="en-US" sz="1200" dirty="0"/>
          </a:p>
        </p:txBody>
      </p:sp>
      <p:sp>
        <p:nvSpPr>
          <p:cNvPr id="10" name="Text 8"/>
          <p:cNvSpPr/>
          <p:nvPr/>
        </p:nvSpPr>
        <p:spPr>
          <a:xfrm>
            <a:off x="3670300" y="2781102"/>
            <a:ext cx="22368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Run it managed</a:t>
            </a:r>
            <a:endParaRPr lang="en-US" sz="1600" dirty="0"/>
          </a:p>
        </p:txBody>
      </p:sp>
      <p:sp>
        <p:nvSpPr>
          <p:cNvPr id="11" name="Text 9"/>
          <p:cNvSpPr/>
          <p:nvPr/>
        </p:nvSpPr>
        <p:spPr>
          <a:xfrm>
            <a:off x="3670300" y="3101082"/>
            <a:ext cx="2236851"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Deploy on ECS/Fargate with the readiness probe wired to /ready.</a:t>
            </a:r>
            <a:endParaRPr lang="en-US" sz="1300" dirty="0"/>
          </a:p>
        </p:txBody>
      </p:sp>
      <p:sp>
        <p:nvSpPr>
          <p:cNvPr id="12" name="Shape 10"/>
          <p:cNvSpPr/>
          <p:nvPr/>
        </p:nvSpPr>
        <p:spPr>
          <a:xfrm>
            <a:off x="6178550" y="2282031"/>
            <a:ext cx="2514600" cy="2196703"/>
          </a:xfrm>
          <a:prstGeom prst="roundRect">
            <a:avLst>
              <a:gd name="adj" fmla="val 3758"/>
            </a:avLst>
          </a:prstGeom>
          <a:solidFill>
            <a:srgbClr val="FDFCF8"/>
          </a:solidFill>
          <a:ln w="12700">
            <a:solidFill>
              <a:srgbClr val="DCD6C8"/>
            </a:solidFill>
            <a:prstDash val="solid"/>
          </a:ln>
        </p:spPr>
        <p:txBody>
          <a:bodyPr/>
          <a:lstStyle/>
          <a:p>
            <a:endParaRPr lang="en-IN"/>
          </a:p>
        </p:txBody>
      </p:sp>
      <p:sp>
        <p:nvSpPr>
          <p:cNvPr id="13" name="Text 11"/>
          <p:cNvSpPr/>
          <p:nvPr/>
        </p:nvSpPr>
        <p:spPr>
          <a:xfrm>
            <a:off x="6350000" y="249158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Step 3</a:t>
            </a:r>
            <a:endParaRPr lang="en-US" sz="1200" dirty="0"/>
          </a:p>
        </p:txBody>
      </p:sp>
      <p:sp>
        <p:nvSpPr>
          <p:cNvPr id="14" name="Text 12"/>
          <p:cNvSpPr/>
          <p:nvPr/>
        </p:nvSpPr>
        <p:spPr>
          <a:xfrm>
            <a:off x="6350000" y="2781102"/>
            <a:ext cx="22368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Automate the pipeline</a:t>
            </a:r>
            <a:endParaRPr lang="en-US" sz="1600" dirty="0"/>
          </a:p>
        </p:txBody>
      </p:sp>
      <p:sp>
        <p:nvSpPr>
          <p:cNvPr id="15" name="Text 13"/>
          <p:cNvSpPr/>
          <p:nvPr/>
        </p:nvSpPr>
        <p:spPr>
          <a:xfrm>
            <a:off x="6350000" y="3101082"/>
            <a:ext cx="2236851"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Turn each JOB block into a GitHub Actions job, gates included.</a:t>
            </a:r>
            <a:endParaRPr lang="en-US" sz="1300" dirty="0"/>
          </a:p>
        </p:txBody>
      </p:sp>
      <p:sp>
        <p:nvSpPr>
          <p:cNvPr id="16" name="Shape 14"/>
          <p:cNvSpPr/>
          <p:nvPr/>
        </p:nvSpPr>
        <p:spPr>
          <a:xfrm>
            <a:off x="8858250" y="2282031"/>
            <a:ext cx="2514600" cy="2196703"/>
          </a:xfrm>
          <a:prstGeom prst="roundRect">
            <a:avLst>
              <a:gd name="adj" fmla="val 3758"/>
            </a:avLst>
          </a:prstGeom>
          <a:solidFill>
            <a:srgbClr val="E2EEEC"/>
          </a:solidFill>
          <a:ln w="12700">
            <a:solidFill>
              <a:srgbClr val="0E6F6D"/>
            </a:solidFill>
            <a:prstDash val="solid"/>
          </a:ln>
        </p:spPr>
        <p:txBody>
          <a:bodyPr/>
          <a:lstStyle/>
          <a:p>
            <a:endParaRPr lang="en-IN"/>
          </a:p>
        </p:txBody>
      </p:sp>
      <p:sp>
        <p:nvSpPr>
          <p:cNvPr id="17" name="Text 15"/>
          <p:cNvSpPr/>
          <p:nvPr/>
        </p:nvSpPr>
        <p:spPr>
          <a:xfrm>
            <a:off x="9029700" y="2491581"/>
            <a:ext cx="22368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Deliverable</a:t>
            </a:r>
            <a:endParaRPr lang="en-US" sz="1200" dirty="0"/>
          </a:p>
        </p:txBody>
      </p:sp>
      <p:sp>
        <p:nvSpPr>
          <p:cNvPr id="18" name="Text 16"/>
          <p:cNvSpPr/>
          <p:nvPr/>
        </p:nvSpPr>
        <p:spPr>
          <a:xfrm>
            <a:off x="9029700" y="2781102"/>
            <a:ext cx="2236851"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A green run and a rollback</a:t>
            </a:r>
            <a:endParaRPr lang="en-US" sz="1600" dirty="0"/>
          </a:p>
        </p:txBody>
      </p:sp>
      <p:sp>
        <p:nvSpPr>
          <p:cNvPr id="19" name="Text 17"/>
          <p:cNvSpPr/>
          <p:nvPr/>
        </p:nvSpPr>
        <p:spPr>
          <a:xfrm>
            <a:off x="9029700" y="3344863"/>
            <a:ext cx="2236851"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The workflow file, a screenshot of the run, and one documented alias rollback.</a:t>
            </a:r>
            <a:endParaRPr lang="en-US" sz="1300" dirty="0"/>
          </a:p>
        </p:txBody>
      </p:sp>
      <p:sp>
        <p:nvSpPr>
          <p:cNvPr id="20" name="Shape 18"/>
          <p:cNvSpPr/>
          <p:nvPr/>
        </p:nvSpPr>
        <p:spPr>
          <a:xfrm>
            <a:off x="812800" y="4739084"/>
            <a:ext cx="10566400" cy="908050"/>
          </a:xfrm>
          <a:prstGeom prst="roundRect">
            <a:avLst>
              <a:gd name="adj" fmla="val 11189"/>
            </a:avLst>
          </a:prstGeom>
          <a:solidFill>
            <a:srgbClr val="16232E"/>
          </a:solidFill>
          <a:ln/>
        </p:spPr>
        <p:txBody>
          <a:bodyPr/>
          <a:lstStyle/>
          <a:p>
            <a:endParaRPr lang="en-IN"/>
          </a:p>
        </p:txBody>
      </p:sp>
      <p:sp>
        <p:nvSpPr>
          <p:cNvPr id="21" name="Text 19"/>
          <p:cNvSpPr/>
          <p:nvPr/>
        </p:nvSpPr>
        <p:spPr>
          <a:xfrm>
            <a:off x="1041400" y="4916884"/>
            <a:ext cx="10412476"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E3A63B"/>
                </a:solidFill>
                <a:latin typeface="IBM Plex Sans" pitchFamily="34" charset="0"/>
                <a:ea typeface="IBM Plex Sans" pitchFamily="34" charset="-122"/>
                <a:cs typeface="IBM Plex Sans" pitchFamily="34" charset="-120"/>
              </a:rPr>
              <a:t>Mind the bill.</a:t>
            </a:r>
            <a:r>
              <a:rPr lang="en-US" sz="1500" dirty="0">
                <a:solidFill>
                  <a:srgbClr val="F6F4EE"/>
                </a:solidFill>
                <a:latin typeface="IBM Plex Sans" pitchFamily="34" charset="0"/>
                <a:ea typeface="IBM Plex Sans" pitchFamily="34" charset="-122"/>
                <a:cs typeface="IBM Plex Sans" pitchFamily="34" charset="-120"/>
              </a:rPr>
              <a:t> Everything here fits inside a free tier if you tear it down. Set a budget alert before step 1, and destroy the service when the deliverable is captured.</a:t>
            </a:r>
            <a:endParaRPr lang="en-US" sz="15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986955"/>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3A63B"/>
                </a:solidFill>
                <a:latin typeface="JetBrains Mono" pitchFamily="34" charset="0"/>
                <a:ea typeface="JetBrains Mono" pitchFamily="34" charset="-122"/>
                <a:cs typeface="JetBrains Mono" pitchFamily="34" charset="-120"/>
              </a:rPr>
              <a:t>Clinic</a:t>
            </a:r>
            <a:endParaRPr lang="en-US" sz="6000" dirty="0"/>
          </a:p>
        </p:txBody>
      </p:sp>
      <p:sp>
        <p:nvSpPr>
          <p:cNvPr id="3" name="Text 1"/>
          <p:cNvSpPr/>
          <p:nvPr/>
        </p:nvSpPr>
        <p:spPr>
          <a:xfrm>
            <a:off x="812800" y="3002955"/>
            <a:ext cx="10883392" cy="521891"/>
          </a:xfrm>
          <a:prstGeom prst="rect">
            <a:avLst/>
          </a:prstGeom>
          <a:noFill/>
          <a:ln/>
        </p:spPr>
        <p:txBody>
          <a:bodyPr wrap="square" lIns="0" tIns="0" rIns="0" bIns="0" rtlCol="0" anchor="t">
            <a:normAutofit/>
          </a:bodyPr>
          <a:lstStyle/>
          <a:p>
            <a:pPr marL="0" indent="0" algn="l">
              <a:lnSpc>
                <a:spcPts val="3910"/>
              </a:lnSpc>
              <a:buNone/>
            </a:pPr>
            <a:r>
              <a:rPr lang="en-US" sz="3400" b="1" dirty="0">
                <a:solidFill>
                  <a:srgbClr val="F6F4EE"/>
                </a:solidFill>
                <a:latin typeface="IBM Plex Sans" pitchFamily="34" charset="0"/>
                <a:ea typeface="IBM Plex Sans" pitchFamily="34" charset="-122"/>
                <a:cs typeface="IBM Plex Sans" pitchFamily="34" charset="-120"/>
              </a:rPr>
              <a:t>Pedagogy: how would you teach this?</a:t>
            </a:r>
            <a:endParaRPr lang="en-US" sz="3400" dirty="0"/>
          </a:p>
        </p:txBody>
      </p:sp>
      <p:sp>
        <p:nvSpPr>
          <p:cNvPr id="4" name="Text 2"/>
          <p:cNvSpPr/>
          <p:nvPr/>
        </p:nvSpPr>
        <p:spPr>
          <a:xfrm>
            <a:off x="812800" y="3753445"/>
            <a:ext cx="9810750" cy="9398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B8C5CB"/>
                </a:solidFill>
                <a:latin typeface="IBM Plex Sans" pitchFamily="34" charset="0"/>
                <a:ea typeface="IBM Plex Sans" pitchFamily="34" charset="-122"/>
                <a:cs typeface="IBM Plex Sans" pitchFamily="34" charset="-120"/>
              </a:rPr>
              <a:t>Six sessions and five labs are behind us. The rest of this slot is about your classroom, not FreshMart: what to demonstrate live, where students stumble, what is examinable, and which of your modules each lab belongs to.</a:t>
            </a:r>
            <a:endParaRPr lang="en-US" sz="16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CLINIC 1 · THE DESIGN CHOICES BEHIND THESE TWO DAYS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Six principles you can lift into your own labs</a:t>
            </a:r>
            <a:endParaRPr lang="en-US" sz="3200" dirty="0"/>
          </a:p>
        </p:txBody>
      </p:sp>
      <p:sp>
        <p:nvSpPr>
          <p:cNvPr id="4" name="Shape 2"/>
          <p:cNvSpPr/>
          <p:nvPr/>
        </p:nvSpPr>
        <p:spPr>
          <a:xfrm>
            <a:off x="819150" y="1835051"/>
            <a:ext cx="3390900" cy="1432322"/>
          </a:xfrm>
          <a:prstGeom prst="roundRect">
            <a:avLst>
              <a:gd name="adj" fmla="val 6650"/>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28700" y="2044601"/>
            <a:ext cx="306095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One method, two systems</a:t>
            </a:r>
            <a:endParaRPr lang="en-US" sz="1600" dirty="0"/>
          </a:p>
        </p:txBody>
      </p:sp>
      <p:sp>
        <p:nvSpPr>
          <p:cNvPr id="6" name="Text 4"/>
          <p:cNvSpPr/>
          <p:nvPr/>
        </p:nvSpPr>
        <p:spPr>
          <a:xfrm>
            <a:off x="1028700" y="2364581"/>
            <a:ext cx="306095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Day 3 is this same lifecycle on new primitives, so nothing has to be unlearned.</a:t>
            </a:r>
            <a:endParaRPr lang="en-US" sz="1300" dirty="0"/>
          </a:p>
        </p:txBody>
      </p:sp>
      <p:sp>
        <p:nvSpPr>
          <p:cNvPr id="7" name="Shape 5"/>
          <p:cNvSpPr/>
          <p:nvPr/>
        </p:nvSpPr>
        <p:spPr>
          <a:xfrm>
            <a:off x="4400550" y="1835051"/>
            <a:ext cx="3390900" cy="1432322"/>
          </a:xfrm>
          <a:prstGeom prst="roundRect">
            <a:avLst>
              <a:gd name="adj" fmla="val 6650"/>
            </a:avLst>
          </a:prstGeom>
          <a:solidFill>
            <a:srgbClr val="FDFCF8"/>
          </a:solidFill>
          <a:ln w="12700">
            <a:solidFill>
              <a:srgbClr val="DCD6C8"/>
            </a:solidFill>
            <a:prstDash val="solid"/>
          </a:ln>
        </p:spPr>
        <p:txBody>
          <a:bodyPr/>
          <a:lstStyle/>
          <a:p>
            <a:endParaRPr lang="en-IN"/>
          </a:p>
        </p:txBody>
      </p:sp>
      <p:sp>
        <p:nvSpPr>
          <p:cNvPr id="8" name="Text 6"/>
          <p:cNvSpPr/>
          <p:nvPr/>
        </p:nvSpPr>
        <p:spPr>
          <a:xfrm>
            <a:off x="4610100" y="2044601"/>
            <a:ext cx="306095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Architecture before tooling</a:t>
            </a:r>
            <a:endParaRPr lang="en-US" sz="1600" dirty="0"/>
          </a:p>
        </p:txBody>
      </p:sp>
      <p:sp>
        <p:nvSpPr>
          <p:cNvPr id="9" name="Text 7"/>
          <p:cNvSpPr/>
          <p:nvPr/>
        </p:nvSpPr>
        <p:spPr>
          <a:xfrm>
            <a:off x="4610100" y="2364581"/>
            <a:ext cx="306095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Why a component exists, established before any command is typed.</a:t>
            </a:r>
            <a:endParaRPr lang="en-US" sz="1300" dirty="0"/>
          </a:p>
        </p:txBody>
      </p:sp>
      <p:sp>
        <p:nvSpPr>
          <p:cNvPr id="10" name="Shape 8"/>
          <p:cNvSpPr/>
          <p:nvPr/>
        </p:nvSpPr>
        <p:spPr>
          <a:xfrm>
            <a:off x="7981950" y="1835051"/>
            <a:ext cx="3390900" cy="1432322"/>
          </a:xfrm>
          <a:prstGeom prst="roundRect">
            <a:avLst>
              <a:gd name="adj" fmla="val 6650"/>
            </a:avLst>
          </a:prstGeom>
          <a:solidFill>
            <a:srgbClr val="FDFCF8"/>
          </a:solidFill>
          <a:ln w="12700">
            <a:solidFill>
              <a:srgbClr val="DCD6C8"/>
            </a:solidFill>
            <a:prstDash val="solid"/>
          </a:ln>
        </p:spPr>
        <p:txBody>
          <a:bodyPr/>
          <a:lstStyle/>
          <a:p>
            <a:endParaRPr lang="en-IN"/>
          </a:p>
        </p:txBody>
      </p:sp>
      <p:sp>
        <p:nvSpPr>
          <p:cNvPr id="11" name="Text 9"/>
          <p:cNvSpPr/>
          <p:nvPr/>
        </p:nvSpPr>
        <p:spPr>
          <a:xfrm>
            <a:off x="8191500" y="2044601"/>
            <a:ext cx="306095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Compounding labs</a:t>
            </a:r>
            <a:endParaRPr lang="en-US" sz="1600" dirty="0"/>
          </a:p>
        </p:txBody>
      </p:sp>
      <p:sp>
        <p:nvSpPr>
          <p:cNvPr id="12" name="Text 10"/>
          <p:cNvSpPr/>
          <p:nvPr/>
        </p:nvSpPr>
        <p:spPr>
          <a:xfrm>
            <a:off x="8191500" y="2364581"/>
            <a:ext cx="306095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Labs 1–4 build on each other; Lab 8 reaches back to Labs 3 and 6.</a:t>
            </a:r>
            <a:endParaRPr lang="en-US" sz="1300" dirty="0"/>
          </a:p>
        </p:txBody>
      </p:sp>
      <p:sp>
        <p:nvSpPr>
          <p:cNvPr id="13" name="Shape 11"/>
          <p:cNvSpPr/>
          <p:nvPr/>
        </p:nvSpPr>
        <p:spPr>
          <a:xfrm>
            <a:off x="819150" y="3457873"/>
            <a:ext cx="3390900" cy="1432322"/>
          </a:xfrm>
          <a:prstGeom prst="roundRect">
            <a:avLst>
              <a:gd name="adj" fmla="val 6650"/>
            </a:avLst>
          </a:prstGeom>
          <a:solidFill>
            <a:srgbClr val="E2EEEC"/>
          </a:solidFill>
          <a:ln w="12700">
            <a:solidFill>
              <a:srgbClr val="0E6F6D"/>
            </a:solidFill>
            <a:prstDash val="solid"/>
          </a:ln>
        </p:spPr>
        <p:txBody>
          <a:bodyPr/>
          <a:lstStyle/>
          <a:p>
            <a:endParaRPr lang="en-IN"/>
          </a:p>
        </p:txBody>
      </p:sp>
      <p:sp>
        <p:nvSpPr>
          <p:cNvPr id="14" name="Text 12"/>
          <p:cNvSpPr/>
          <p:nvPr/>
        </p:nvSpPr>
        <p:spPr>
          <a:xfrm>
            <a:off x="1028700" y="3667423"/>
            <a:ext cx="306095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Deliberate failure</a:t>
            </a:r>
            <a:endParaRPr lang="en-US" sz="1600" dirty="0"/>
          </a:p>
        </p:txBody>
      </p:sp>
      <p:sp>
        <p:nvSpPr>
          <p:cNvPr id="15" name="Text 13"/>
          <p:cNvSpPr/>
          <p:nvPr/>
        </p:nvSpPr>
        <p:spPr>
          <a:xfrm>
            <a:off x="1028700" y="3987403"/>
            <a:ext cx="306095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Gates fail, drift is injected, the canary misleads at round 1 — failure seen before the fix.</a:t>
            </a:r>
            <a:endParaRPr lang="en-US" sz="1300" dirty="0"/>
          </a:p>
        </p:txBody>
      </p:sp>
      <p:sp>
        <p:nvSpPr>
          <p:cNvPr id="16" name="Shape 14"/>
          <p:cNvSpPr/>
          <p:nvPr/>
        </p:nvSpPr>
        <p:spPr>
          <a:xfrm>
            <a:off x="4400550" y="3457873"/>
            <a:ext cx="3390900" cy="1432322"/>
          </a:xfrm>
          <a:prstGeom prst="roundRect">
            <a:avLst>
              <a:gd name="adj" fmla="val 6650"/>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4610100" y="3667423"/>
            <a:ext cx="306095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Visualization in situ</a:t>
            </a:r>
            <a:endParaRPr lang="en-US" sz="1600" dirty="0"/>
          </a:p>
        </p:txBody>
      </p:sp>
      <p:sp>
        <p:nvSpPr>
          <p:cNvPr id="18" name="Text 16"/>
          <p:cNvSpPr/>
          <p:nvPr/>
        </p:nvSpPr>
        <p:spPr>
          <a:xfrm>
            <a:off x="4610100" y="3987403"/>
            <a:ext cx="306095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Every observability point is a dashboard students build, not a slide they watch.</a:t>
            </a:r>
            <a:endParaRPr lang="en-US" sz="1300" dirty="0"/>
          </a:p>
        </p:txBody>
      </p:sp>
      <p:sp>
        <p:nvSpPr>
          <p:cNvPr id="19" name="Shape 17"/>
          <p:cNvSpPr/>
          <p:nvPr/>
        </p:nvSpPr>
        <p:spPr>
          <a:xfrm>
            <a:off x="7981950" y="3457873"/>
            <a:ext cx="3390900" cy="1432322"/>
          </a:xfrm>
          <a:prstGeom prst="roundRect">
            <a:avLst>
              <a:gd name="adj" fmla="val 6650"/>
            </a:avLst>
          </a:prstGeom>
          <a:solidFill>
            <a:srgbClr val="FDFCF8"/>
          </a:solidFill>
          <a:ln w="12700">
            <a:solidFill>
              <a:srgbClr val="DCD6C8"/>
            </a:solidFill>
            <a:prstDash val="solid"/>
          </a:ln>
        </p:spPr>
        <p:txBody>
          <a:bodyPr/>
          <a:lstStyle/>
          <a:p>
            <a:endParaRPr lang="en-IN"/>
          </a:p>
        </p:txBody>
      </p:sp>
      <p:sp>
        <p:nvSpPr>
          <p:cNvPr id="20" name="Text 18"/>
          <p:cNvSpPr/>
          <p:nvPr/>
        </p:nvSpPr>
        <p:spPr>
          <a:xfrm>
            <a:off x="8191500" y="3667423"/>
            <a:ext cx="306095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Teaching notes throughout</a:t>
            </a:r>
            <a:endParaRPr lang="en-US" sz="1600" dirty="0"/>
          </a:p>
        </p:txBody>
      </p:sp>
      <p:sp>
        <p:nvSpPr>
          <p:cNvPr id="21" name="Text 19"/>
          <p:cNvSpPr/>
          <p:nvPr/>
        </p:nvSpPr>
        <p:spPr>
          <a:xfrm>
            <a:off x="8191500" y="3987403"/>
            <a:ext cx="306095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Each module closes with what to demo live, what is self-study, and what is examinable.</a:t>
            </a:r>
            <a:endParaRPr lang="en-US" sz="13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1080"/>
          </a:xfrm>
          <a:prstGeom prst="rect">
            <a:avLst/>
          </a:prstGeom>
          <a:noFill/>
          <a:ln/>
        </p:spPr>
        <p:txBody>
          <a:bodyPr wrap="square" lIns="0" tIns="0" rIns="0" bIns="0" rtlCol="0" anchor="t">
            <a:normAutofit/>
          </a:bodyPr>
          <a:lstStyle/>
          <a:p>
            <a:pPr marL="0" indent="0" algn="l">
              <a:lnSpc>
                <a:spcPts val="1622"/>
              </a:lnSpc>
              <a:buNone/>
            </a:pPr>
            <a:r>
              <a:rPr lang="en-US" sz="1159" kern="0" spc="150" dirty="0">
                <a:solidFill>
                  <a:srgbClr val="0E6F6D"/>
                </a:solidFill>
                <a:latin typeface="JetBrains Mono" pitchFamily="34" charset="0"/>
                <a:ea typeface="JetBrains Mono" pitchFamily="34" charset="-122"/>
                <a:cs typeface="JetBrains Mono" pitchFamily="34" charset="-120"/>
              </a:rPr>
              <a:t>CLINIC 2 · WHERE STUDENTS STUMBLE</a:t>
            </a:r>
            <a:endParaRPr lang="en-US" sz="1159" dirty="0"/>
          </a:p>
        </p:txBody>
      </p:sp>
      <p:sp>
        <p:nvSpPr>
          <p:cNvPr id="3" name="Text 1"/>
          <p:cNvSpPr/>
          <p:nvPr/>
        </p:nvSpPr>
        <p:spPr>
          <a:xfrm>
            <a:off x="812800" y="1120080"/>
            <a:ext cx="10883392" cy="456307"/>
          </a:xfrm>
          <a:prstGeom prst="rect">
            <a:avLst/>
          </a:prstGeom>
          <a:noFill/>
          <a:ln/>
        </p:spPr>
        <p:txBody>
          <a:bodyPr wrap="square" lIns="0" tIns="0" rIns="0" bIns="0" rtlCol="0" anchor="t">
            <a:normAutofit/>
          </a:bodyPr>
          <a:lstStyle/>
          <a:p>
            <a:pPr marL="0" indent="0" algn="l">
              <a:lnSpc>
                <a:spcPts val="3421"/>
              </a:lnSpc>
              <a:buNone/>
            </a:pPr>
            <a:r>
              <a:rPr lang="en-US" sz="3110" b="1" dirty="0">
                <a:solidFill>
                  <a:srgbClr val="16232E"/>
                </a:solidFill>
                <a:latin typeface="IBM Plex Sans" pitchFamily="34" charset="0"/>
                <a:ea typeface="IBM Plex Sans" pitchFamily="34" charset="-122"/>
                <a:cs typeface="IBM Plex Sans" pitchFamily="34" charset="-120"/>
              </a:rPr>
              <a:t>The predictable failure in each lab, and what to do</a:t>
            </a:r>
            <a:endParaRPr lang="en-US" sz="3110" dirty="0"/>
          </a:p>
        </p:txBody>
      </p:sp>
      <p:sp>
        <p:nvSpPr>
          <p:cNvPr id="4" name="Shape 2"/>
          <p:cNvSpPr/>
          <p:nvPr/>
        </p:nvSpPr>
        <p:spPr>
          <a:xfrm>
            <a:off x="812800" y="1760538"/>
            <a:ext cx="10566400" cy="0"/>
          </a:xfrm>
          <a:prstGeom prst="line">
            <a:avLst/>
          </a:prstGeom>
          <a:noFill/>
          <a:ln w="12700">
            <a:solidFill>
              <a:srgbClr val="141413">
                <a:alpha val="22000"/>
              </a:srgbClr>
            </a:solidFill>
            <a:prstDash val="solid"/>
          </a:ln>
        </p:spPr>
        <p:txBody>
          <a:bodyPr/>
          <a:lstStyle/>
          <a:p>
            <a:endParaRPr lang="en-IN"/>
          </a:p>
        </p:txBody>
      </p:sp>
      <p:sp>
        <p:nvSpPr>
          <p:cNvPr id="5" name="Shape 3"/>
          <p:cNvSpPr/>
          <p:nvPr/>
        </p:nvSpPr>
        <p:spPr>
          <a:xfrm>
            <a:off x="819150" y="1754188"/>
            <a:ext cx="0" cy="4087812"/>
          </a:xfrm>
          <a:prstGeom prst="line">
            <a:avLst/>
          </a:prstGeom>
          <a:noFill/>
          <a:ln w="12700">
            <a:solidFill>
              <a:srgbClr val="141413">
                <a:alpha val="22000"/>
              </a:srgbClr>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1843088"/>
          <a:ext cx="10299700" cy="3922713"/>
        </p:xfrm>
        <a:graphic>
          <a:graphicData uri="http://schemas.openxmlformats.org/drawingml/2006/table">
            <a:tbl>
              <a:tblPr/>
              <a:tblGrid>
                <a:gridCol w="1235964">
                  <a:extLst>
                    <a:ext uri="{9D8B030D-6E8A-4147-A177-3AD203B41FA5}">
                      <a16:colId xmlns:a16="http://schemas.microsoft.com/office/drawing/2014/main" val="20000"/>
                    </a:ext>
                  </a:extLst>
                </a:gridCol>
                <a:gridCol w="4531868">
                  <a:extLst>
                    <a:ext uri="{9D8B030D-6E8A-4147-A177-3AD203B41FA5}">
                      <a16:colId xmlns:a16="http://schemas.microsoft.com/office/drawing/2014/main" val="20001"/>
                    </a:ext>
                  </a:extLst>
                </a:gridCol>
                <a:gridCol w="4531868">
                  <a:extLst>
                    <a:ext uri="{9D8B030D-6E8A-4147-A177-3AD203B41FA5}">
                      <a16:colId xmlns:a16="http://schemas.microsoft.com/office/drawing/2014/main" val="20002"/>
                    </a:ext>
                  </a:extLst>
                </a:gridCol>
              </a:tblGrid>
              <a:tr h="361255">
                <a:tc>
                  <a:txBody>
                    <a:bodyPr/>
                    <a:lstStyle/>
                    <a:p>
                      <a:pPr marL="0" indent="0">
                        <a:lnSpc>
                          <a:spcPts val="1831"/>
                        </a:lnSpc>
                        <a:buNone/>
                      </a:pPr>
                      <a:r>
                        <a:rPr lang="en-US" sz="1308" b="1" dirty="0">
                          <a:solidFill>
                            <a:srgbClr val="16232E"/>
                          </a:solidFill>
                          <a:latin typeface="IBM Plex Sans" pitchFamily="34" charset="0"/>
                          <a:ea typeface="IBM Plex Sans" pitchFamily="34" charset="-122"/>
                          <a:cs typeface="IBM Plex Sans" pitchFamily="34" charset="-120"/>
                        </a:rPr>
                        <a:t>Lab</a:t>
                      </a:r>
                      <a:endParaRPr lang="en-US" sz="1308" dirty="0">
                        <a:latin typeface="IBM Plex Sans" charset="0"/>
                        <a:ea typeface="IBM Plex Sans" charset="0"/>
                        <a:cs typeface="IBM Plex Sans" charset="0"/>
                      </a:endParaRPr>
                    </a:p>
                  </a:txBody>
                  <a:tcPr marL="58132" marR="58132" marT="58132" marB="58132">
                    <a:lnL w="0" cap="flat" cmpd="sng" algn="ctr">
                      <a:noFill/>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31"/>
                        </a:lnSpc>
                        <a:buNone/>
                      </a:pPr>
                      <a:r>
                        <a:rPr lang="en-US" sz="1308" b="1" dirty="0">
                          <a:solidFill>
                            <a:srgbClr val="16232E"/>
                          </a:solidFill>
                          <a:latin typeface="IBM Plex Sans" pitchFamily="34" charset="0"/>
                          <a:ea typeface="IBM Plex Sans" pitchFamily="34" charset="-122"/>
                          <a:cs typeface="IBM Plex Sans" pitchFamily="34" charset="-120"/>
                        </a:rPr>
                        <a:t>Where they stumble</a:t>
                      </a:r>
                      <a:endParaRPr lang="en-US" sz="1308" dirty="0">
                        <a:latin typeface="IBM Plex Sans" charset="0"/>
                        <a:ea typeface="IBM Plex Sans" charset="0"/>
                        <a:cs typeface="IBM Plex Sans" charset="0"/>
                      </a:endParaRPr>
                    </a:p>
                  </a:txBody>
                  <a:tcPr marL="58132" marR="58132" marT="58132" marB="58132">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31"/>
                        </a:lnSpc>
                        <a:buNone/>
                      </a:pPr>
                      <a:r>
                        <a:rPr lang="en-US" sz="1308" b="1" dirty="0">
                          <a:solidFill>
                            <a:srgbClr val="16232E"/>
                          </a:solidFill>
                          <a:latin typeface="IBM Plex Sans" pitchFamily="34" charset="0"/>
                          <a:ea typeface="IBM Plex Sans" pitchFamily="34" charset="-122"/>
                          <a:cs typeface="IBM Plex Sans" pitchFamily="34" charset="-120"/>
                        </a:rPr>
                        <a:t>What helps</a:t>
                      </a:r>
                      <a:endParaRPr lang="en-US" sz="1308" dirty="0">
                        <a:latin typeface="IBM Plex Sans" charset="0"/>
                        <a:ea typeface="IBM Plex Sans" charset="0"/>
                        <a:cs typeface="IBM Plex Sans" charset="0"/>
                      </a:endParaRPr>
                    </a:p>
                  </a:txBody>
                  <a:tcPr marL="58132" marR="58132" marT="58132" marB="58132">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593527">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Setup</a:t>
                      </a:r>
                      <a:endParaRPr lang="en-US" sz="1308" dirty="0">
                        <a:latin typeface="IBM Plex Sans" charset="0"/>
                        <a:ea typeface="IBM Plex Sans" charset="0"/>
                        <a:cs typeface="IBM Plex Sans" charset="0"/>
                      </a:endParaRPr>
                    </a:p>
                  </a:txBody>
                  <a:tcPr marL="58132" marR="58132" marT="58132" marB="58132">
                    <a:lnL w="0" cap="flat" cmpd="sng" algn="ctr">
                      <a:noFill/>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Environment failures on locked-down office laptops</a:t>
                      </a:r>
                      <a:endParaRPr lang="en-US" sz="1308" dirty="0">
                        <a:latin typeface="IBM Plex Sans" charset="0"/>
                        <a:ea typeface="IBM Plex Sans" charset="0"/>
                        <a:cs typeface="IBM Plex Sans" charset="0"/>
                      </a:endParaRPr>
                    </a:p>
                  </a:txBody>
                  <a:tcPr marL="58132" marR="58132" marT="58132" marB="58132">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The pre-programme clinic, the setup check script, and a checkpoint repo they can rejoin from</a:t>
                      </a:r>
                      <a:endParaRPr lang="en-US" sz="1308" dirty="0">
                        <a:latin typeface="IBM Plex Sans" charset="0"/>
                        <a:ea typeface="IBM Plex Sans" charset="0"/>
                        <a:cs typeface="IBM Plex Sans" charset="0"/>
                      </a:endParaRPr>
                    </a:p>
                  </a:txBody>
                  <a:tcPr marL="58132" marR="58132" marT="58132" marB="58132">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593527">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Lab 1</a:t>
                      </a:r>
                      <a:endParaRPr lang="en-US" sz="1308" dirty="0">
                        <a:latin typeface="IBM Plex Sans" charset="0"/>
                        <a:ea typeface="IBM Plex Sans" charset="0"/>
                        <a:cs typeface="IBM Plex Sans" charset="0"/>
                      </a:endParaRPr>
                    </a:p>
                  </a:txBody>
                  <a:tcPr marL="58132" marR="58132" marT="58132" marB="58132">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Running scripts in order and calling it a pipeline; git init forgotten, so DVC refuses</a:t>
                      </a:r>
                      <a:endParaRPr lang="en-US" sz="1308" dirty="0">
                        <a:latin typeface="IBM Plex Sans" charset="0"/>
                        <a:ea typeface="IBM Plex Sans" charset="0"/>
                        <a:cs typeface="IBM Plex Sans" charset="0"/>
                      </a:endParaRPr>
                    </a:p>
                  </a:txBody>
                  <a:tcPr marL="58132" marR="58132" marT="58132" marB="58132">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Make them predict what re-runs before dvc repro; the prediction is the lesson</a:t>
                      </a:r>
                      <a:endParaRPr lang="en-US" sz="1308" dirty="0">
                        <a:latin typeface="IBM Plex Sans" charset="0"/>
                        <a:ea typeface="IBM Plex Sans" charset="0"/>
                        <a:cs typeface="IBM Plex Sans" charset="0"/>
                      </a:endParaRPr>
                    </a:p>
                  </a:txBody>
                  <a:tcPr marL="58132" marR="58132" marT="58132" marB="58132">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593527">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Lab 2</a:t>
                      </a:r>
                      <a:endParaRPr lang="en-US" sz="1308" dirty="0">
                        <a:latin typeface="IBM Plex Sans" charset="0"/>
                        <a:ea typeface="IBM Plex Sans" charset="0"/>
                        <a:cs typeface="IBM Plex Sans" charset="0"/>
                      </a:endParaRPr>
                    </a:p>
                  </a:txBody>
                  <a:tcPr marL="58132" marR="58132" marT="58132" marB="58132">
                    <a:lnL w="0" cap="flat" cmpd="sng" algn="ctr">
                      <a:noFill/>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Reading AUC as the answer; panic at an F1 near zero</a:t>
                      </a:r>
                      <a:endParaRPr lang="en-US" sz="1308" dirty="0">
                        <a:latin typeface="IBM Plex Sans" charset="0"/>
                        <a:ea typeface="IBM Plex Sans" charset="0"/>
                        <a:cs typeface="IBM Plex Sans" charset="0"/>
                      </a:endParaRPr>
                    </a:p>
                  </a:txBody>
                  <a:tcPr marL="58132" marR="58132" marT="58132" marB="58132">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Separate ranking from the operating point early, and price the errors in rupees</a:t>
                      </a:r>
                      <a:endParaRPr lang="en-US" sz="1308" dirty="0">
                        <a:latin typeface="IBM Plex Sans" charset="0"/>
                        <a:ea typeface="IBM Plex Sans" charset="0"/>
                        <a:cs typeface="IBM Plex Sans" charset="0"/>
                      </a:endParaRPr>
                    </a:p>
                  </a:txBody>
                  <a:tcPr marL="58132" marR="58132" marT="58132" marB="58132">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593626">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Lab 3</a:t>
                      </a:r>
                      <a:endParaRPr lang="en-US" sz="1308" dirty="0">
                        <a:latin typeface="IBM Plex Sans" charset="0"/>
                        <a:ea typeface="IBM Plex Sans" charset="0"/>
                        <a:cs typeface="IBM Plex Sans" charset="0"/>
                      </a:endParaRPr>
                    </a:p>
                  </a:txBody>
                  <a:tcPr marL="58132" marR="58132" marT="58132" marB="58132">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Loading the model in the app because it is one import; 404s read as bugs</a:t>
                      </a:r>
                      <a:endParaRPr lang="en-US" sz="1308" dirty="0">
                        <a:latin typeface="IBM Plex Sans" charset="0"/>
                        <a:ea typeface="IBM Plex Sans" charset="0"/>
                        <a:cs typeface="IBM Plex Sans" charset="0"/>
                      </a:endParaRPr>
                    </a:p>
                  </a:txBody>
                  <a:tcPr marL="58132" marR="58132" marT="58132" marB="58132">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Ask what has to restart when the alias moves; walk the unknown-key path once</a:t>
                      </a:r>
                      <a:endParaRPr lang="en-US" sz="1308" dirty="0">
                        <a:latin typeface="IBM Plex Sans" charset="0"/>
                        <a:ea typeface="IBM Plex Sans" charset="0"/>
                        <a:cs typeface="IBM Plex Sans" charset="0"/>
                      </a:endParaRPr>
                    </a:p>
                  </a:txBody>
                  <a:tcPr marL="58132" marR="58132" marT="58132" marB="58132">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593626">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Lab 4</a:t>
                      </a:r>
                      <a:endParaRPr lang="en-US" sz="1308" dirty="0">
                        <a:latin typeface="IBM Plex Sans" charset="0"/>
                        <a:ea typeface="IBM Plex Sans" charset="0"/>
                        <a:cs typeface="IBM Plex Sans" charset="0"/>
                      </a:endParaRPr>
                    </a:p>
                  </a:txBody>
                  <a:tcPr marL="58132" marR="58132" marT="58132" marB="58132">
                    <a:lnL w="0" cap="flat" cmpd="sng" algn="ctr">
                      <a:noFill/>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Alerting on KS p-values, and retraining on the first spike</a:t>
                      </a:r>
                      <a:endParaRPr lang="en-US" sz="1308" dirty="0">
                        <a:latin typeface="IBM Plex Sans" charset="0"/>
                        <a:ea typeface="IBM Plex Sans" charset="0"/>
                        <a:cs typeface="IBM Plex Sans" charset="0"/>
                      </a:endParaRPr>
                    </a:p>
                  </a:txBody>
                  <a:tcPr marL="58132" marR="58132" marT="58132" marB="58132">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Show the PSI/KS disagreement table, then make them set a hysteresis rule</a:t>
                      </a:r>
                      <a:endParaRPr lang="en-US" sz="1308" dirty="0">
                        <a:latin typeface="IBM Plex Sans" charset="0"/>
                        <a:ea typeface="IBM Plex Sans" charset="0"/>
                        <a:cs typeface="IBM Plex Sans" charset="0"/>
                      </a:endParaRPr>
                    </a:p>
                  </a:txBody>
                  <a:tcPr marL="58132" marR="58132" marT="58132" marB="58132">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5"/>
                  </a:ext>
                </a:extLst>
              </a:tr>
              <a:tr h="593626">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Lab 5</a:t>
                      </a:r>
                      <a:endParaRPr lang="en-US" sz="1308" dirty="0">
                        <a:latin typeface="IBM Plex Sans" charset="0"/>
                        <a:ea typeface="IBM Plex Sans" charset="0"/>
                        <a:cs typeface="IBM Plex Sans" charset="0"/>
                      </a:endParaRPr>
                    </a:p>
                  </a:txBody>
                  <a:tcPr marL="58132" marR="58132" marT="58132" marB="58132">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Acting on canary round 1; “rollback is 13 ms” without the restart clause</a:t>
                      </a:r>
                      <a:endParaRPr lang="en-US" sz="1308" dirty="0">
                        <a:latin typeface="IBM Plex Sans" charset="0"/>
                        <a:ea typeface="IBM Plex Sans" charset="0"/>
                        <a:cs typeface="IBM Plex Sans" charset="0"/>
                      </a:endParaRPr>
                    </a:p>
                  </a:txBody>
                  <a:tcPr marL="58132" marR="58132" marT="58132" marB="58132">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31"/>
                        </a:lnSpc>
                        <a:buNone/>
                      </a:pPr>
                      <a:r>
                        <a:rPr lang="en-US" sz="1308" dirty="0">
                          <a:solidFill>
                            <a:srgbClr val="16232E"/>
                          </a:solidFill>
                          <a:latin typeface="IBM Plex Sans" pitchFamily="34" charset="0"/>
                          <a:ea typeface="IBM Plex Sans" pitchFamily="34" charset="-122"/>
                          <a:cs typeface="IBM Plex Sans" pitchFamily="34" charset="-120"/>
                        </a:rPr>
                        <a:t>Insist the write-up says what is instant and what waits</a:t>
                      </a:r>
                      <a:endParaRPr lang="en-US" sz="1308" dirty="0">
                        <a:latin typeface="IBM Plex Sans" charset="0"/>
                        <a:ea typeface="IBM Plex Sans" charset="0"/>
                        <a:cs typeface="IBM Plex Sans" charset="0"/>
                      </a:endParaRPr>
                    </a:p>
                  </a:txBody>
                  <a:tcPr marL="58132" marR="58132" marT="58132" marB="58132">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CLINIC 3 · ASSESSMENT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The coded challenge is the assessment instrument</a:t>
            </a:r>
            <a:endParaRPr lang="en-US" sz="3200" dirty="0"/>
          </a:p>
        </p:txBody>
      </p:sp>
      <p:sp>
        <p:nvSpPr>
          <p:cNvPr id="4" name="Shape 2"/>
          <p:cNvSpPr/>
          <p:nvPr/>
        </p:nvSpPr>
        <p:spPr>
          <a:xfrm>
            <a:off x="819150" y="1809651"/>
            <a:ext cx="5168900" cy="2677914"/>
          </a:xfrm>
          <a:prstGeom prst="roundRect">
            <a:avLst>
              <a:gd name="adj" fmla="val 3557"/>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54100" y="20446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What each one assesses</a:t>
            </a:r>
            <a:endParaRPr lang="en-US" sz="1800" dirty="0"/>
          </a:p>
        </p:txBody>
      </p:sp>
      <p:sp>
        <p:nvSpPr>
          <p:cNvPr id="6" name="Text 4"/>
          <p:cNvSpPr/>
          <p:nvPr/>
        </p:nvSpPr>
        <p:spPr>
          <a:xfrm>
            <a:off x="1054100" y="2420441"/>
            <a:ext cx="4839970"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E5B63"/>
                </a:solidFill>
                <a:latin typeface="IBM Plex Sans" pitchFamily="34" charset="0"/>
                <a:ea typeface="IBM Plex Sans" pitchFamily="34" charset="-122"/>
                <a:cs typeface="IBM Plex Sans" pitchFamily="34" charset="-120"/>
              </a:rPr>
              <a:t>Every challenge maps to one learning outcome, with stated evidence of mastery — not "the code runs" but the judgement it demonstrates.</a:t>
            </a:r>
            <a:endParaRPr lang="en-US" sz="1400" dirty="0"/>
          </a:p>
        </p:txBody>
      </p:sp>
      <p:sp>
        <p:nvSpPr>
          <p:cNvPr id="7" name="Text 5"/>
          <p:cNvSpPr/>
          <p:nvPr/>
        </p:nvSpPr>
        <p:spPr>
          <a:xfrm>
            <a:off x="1054100" y="3295352"/>
            <a:ext cx="4839970" cy="982662"/>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16232E"/>
                </a:solidFill>
                <a:latin typeface="IBM Plex Sans" pitchFamily="34" charset="0"/>
                <a:ea typeface="IBM Plex Sans" pitchFamily="34" charset="-122"/>
                <a:cs typeface="IBM Plex Sans" pitchFamily="34" charset="-120"/>
              </a:rPr>
              <a:t>Lab 5, Mission 5:</a:t>
            </a:r>
            <a:r>
              <a:rPr lang="en-US" sz="1300" dirty="0">
                <a:solidFill>
                  <a:srgbClr val="16232E"/>
                </a:solidFill>
                <a:latin typeface="IBM Plex Sans" pitchFamily="34" charset="0"/>
                <a:ea typeface="IBM Plex Sans" pitchFamily="34" charset="-122"/>
                <a:cs typeface="IBM Plex Sans" pitchFamily="34" charset="-120"/>
              </a:rPr>
              <a:t> refuses to decide on 50 exposures, and explains why round 1 looked catastrophic.</a:t>
            </a:r>
            <a:endParaRPr lang="en-US" sz="1300" dirty="0"/>
          </a:p>
          <a:p>
            <a:pPr marL="0" indent="0" algn="l">
              <a:lnSpc>
                <a:spcPts val="1885"/>
              </a:lnSpc>
              <a:buNone/>
            </a:pPr>
            <a:r>
              <a:rPr lang="en-US" sz="1300" b="1" dirty="0">
                <a:solidFill>
                  <a:srgbClr val="16232E"/>
                </a:solidFill>
                <a:latin typeface="IBM Plex Sans" pitchFamily="34" charset="0"/>
                <a:ea typeface="IBM Plex Sans" pitchFamily="34" charset="-122"/>
                <a:cs typeface="IBM Plex Sans" pitchFamily="34" charset="-120"/>
              </a:rPr>
              <a:t>Lab 5, Mission 6:</a:t>
            </a:r>
            <a:r>
              <a:rPr lang="en-US" sz="1300" dirty="0">
                <a:solidFill>
                  <a:srgbClr val="16232E"/>
                </a:solidFill>
                <a:latin typeface="IBM Plex Sans" pitchFamily="34" charset="0"/>
                <a:ea typeface="IBM Plex Sans" pitchFamily="34" charset="-122"/>
                <a:cs typeface="IBM Plex Sans" pitchFamily="34" charset="-120"/>
              </a:rPr>
              <a:t> moves real aliases, and states what is instant and what waits for a restart.</a:t>
            </a:r>
            <a:endParaRPr lang="en-US" sz="1300" dirty="0"/>
          </a:p>
        </p:txBody>
      </p:sp>
      <p:sp>
        <p:nvSpPr>
          <p:cNvPr id="8" name="Shape 6"/>
          <p:cNvSpPr/>
          <p:nvPr/>
        </p:nvSpPr>
        <p:spPr>
          <a:xfrm>
            <a:off x="6203950" y="1809651"/>
            <a:ext cx="5168900" cy="2677914"/>
          </a:xfrm>
          <a:prstGeom prst="roundRect">
            <a:avLst>
              <a:gd name="adj" fmla="val 3557"/>
            </a:avLst>
          </a:prstGeom>
          <a:solidFill>
            <a:srgbClr val="E2EEEC"/>
          </a:solidFill>
          <a:ln w="12700">
            <a:solidFill>
              <a:srgbClr val="0E6F6D"/>
            </a:solidFill>
            <a:prstDash val="solid"/>
          </a:ln>
        </p:spPr>
        <p:txBody>
          <a:bodyPr/>
          <a:lstStyle/>
          <a:p>
            <a:endParaRPr lang="en-IN"/>
          </a:p>
        </p:txBody>
      </p:sp>
      <p:sp>
        <p:nvSpPr>
          <p:cNvPr id="9" name="Text 7"/>
          <p:cNvSpPr/>
          <p:nvPr/>
        </p:nvSpPr>
        <p:spPr>
          <a:xfrm>
            <a:off x="6438900" y="20446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Three ways to use them</a:t>
            </a:r>
            <a:endParaRPr lang="en-US" sz="1800" dirty="0"/>
          </a:p>
        </p:txBody>
      </p:sp>
      <p:sp>
        <p:nvSpPr>
          <p:cNvPr id="10" name="Text 8"/>
          <p:cNvSpPr/>
          <p:nvPr/>
        </p:nvSpPr>
        <p:spPr>
          <a:xfrm>
            <a:off x="6438900" y="2420441"/>
            <a:ext cx="4839970" cy="1314252"/>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4E5B63"/>
                </a:solidFill>
                <a:latin typeface="IBM Plex Sans" pitchFamily="34" charset="0"/>
                <a:ea typeface="IBM Plex Sans" pitchFamily="34" charset="-122"/>
                <a:cs typeface="IBM Plex Sans" pitchFamily="34" charset="-120"/>
              </a:rPr>
              <a:t>In the lab:</a:t>
            </a:r>
            <a:r>
              <a:rPr lang="en-US" sz="1400" dirty="0">
                <a:solidFill>
                  <a:srgbClr val="4E5B63"/>
                </a:solidFill>
                <a:latin typeface="IBM Plex Sans" pitchFamily="34" charset="0"/>
                <a:ea typeface="IBM Plex Sans" pitchFamily="34" charset="-122"/>
                <a:cs typeface="IBM Plex Sans" pitchFamily="34" charset="-120"/>
              </a:rPr>
              <a:t> a graded artefact with its solution withheld.</a:t>
            </a:r>
            <a:endParaRPr lang="en-US" sz="1400" dirty="0"/>
          </a:p>
          <a:p>
            <a:pPr marL="0" indent="0" algn="l">
              <a:lnSpc>
                <a:spcPts val="2030"/>
              </a:lnSpc>
              <a:buNone/>
            </a:pPr>
            <a:r>
              <a:rPr lang="en-US" sz="1400" b="1" dirty="0">
                <a:solidFill>
                  <a:srgbClr val="4E5B63"/>
                </a:solidFill>
                <a:latin typeface="IBM Plex Sans" pitchFamily="34" charset="0"/>
                <a:ea typeface="IBM Plex Sans" pitchFamily="34" charset="-122"/>
                <a:cs typeface="IBM Plex Sans" pitchFamily="34" charset="-120"/>
              </a:rPr>
              <a:t>In the viva:</a:t>
            </a:r>
            <a:r>
              <a:rPr lang="en-US" sz="1400" dirty="0">
                <a:solidFill>
                  <a:srgbClr val="4E5B63"/>
                </a:solidFill>
                <a:latin typeface="IBM Plex Sans" pitchFamily="34" charset="0"/>
                <a:ea typeface="IBM Plex Sans" pitchFamily="34" charset="-122"/>
                <a:cs typeface="IBM Plex Sans" pitchFamily="34" charset="-120"/>
              </a:rPr>
              <a:t> the model answers give the examiner a floor and a ceiling.</a:t>
            </a:r>
            <a:endParaRPr lang="en-US" sz="1400" dirty="0"/>
          </a:p>
          <a:p>
            <a:pPr marL="0" indent="0" algn="l">
              <a:lnSpc>
                <a:spcPts val="2030"/>
              </a:lnSpc>
              <a:buNone/>
            </a:pPr>
            <a:r>
              <a:rPr lang="en-US" sz="1400" b="1" dirty="0">
                <a:solidFill>
                  <a:srgbClr val="4E5B63"/>
                </a:solidFill>
                <a:latin typeface="IBM Plex Sans" pitchFamily="34" charset="0"/>
                <a:ea typeface="IBM Plex Sans" pitchFamily="34" charset="-122"/>
                <a:cs typeface="IBM Plex Sans" pitchFamily="34" charset="-120"/>
              </a:rPr>
              <a:t>In the exam:</a:t>
            </a:r>
            <a:r>
              <a:rPr lang="en-US" sz="1400" dirty="0">
                <a:solidFill>
                  <a:srgbClr val="4E5B63"/>
                </a:solidFill>
                <a:latin typeface="IBM Plex Sans" pitchFamily="34" charset="0"/>
                <a:ea typeface="IBM Plex Sans" pitchFamily="34" charset="-122"/>
                <a:cs typeface="IBM Plex Sans" pitchFamily="34" charset="-120"/>
              </a:rPr>
              <a:t> the capture becomes a stimulus — show the canary table, ask for the decision and the reason.</a:t>
            </a:r>
            <a:endParaRPr lang="en-US" sz="1400" dirty="0"/>
          </a:p>
        </p:txBody>
      </p:sp>
      <p:sp>
        <p:nvSpPr>
          <p:cNvPr id="11" name="Shape 9"/>
          <p:cNvSpPr/>
          <p:nvPr/>
        </p:nvSpPr>
        <p:spPr>
          <a:xfrm>
            <a:off x="812800" y="4722515"/>
            <a:ext cx="10566400" cy="908050"/>
          </a:xfrm>
          <a:prstGeom prst="roundRect">
            <a:avLst>
              <a:gd name="adj" fmla="val 11189"/>
            </a:avLst>
          </a:prstGeom>
          <a:solidFill>
            <a:srgbClr val="16232E"/>
          </a:solidFill>
          <a:ln/>
        </p:spPr>
        <p:txBody>
          <a:bodyPr/>
          <a:lstStyle/>
          <a:p>
            <a:endParaRPr lang="en-IN"/>
          </a:p>
        </p:txBody>
      </p:sp>
      <p:sp>
        <p:nvSpPr>
          <p:cNvPr id="12" name="Text 10"/>
          <p:cNvSpPr/>
          <p:nvPr/>
        </p:nvSpPr>
        <p:spPr>
          <a:xfrm>
            <a:off x="1041400" y="4900315"/>
            <a:ext cx="10412476"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6F4EE"/>
                </a:solidFill>
                <a:latin typeface="IBM Plex Sans" pitchFamily="34" charset="0"/>
                <a:ea typeface="IBM Plex Sans" pitchFamily="34" charset="-122"/>
                <a:cs typeface="IBM Plex Sans" pitchFamily="34" charset="-120"/>
              </a:rPr>
              <a:t>Every capture in these labs is a ready-made exam stimulus: a printed output plus “what would you do, and why?” assesses judgement in a way a coding question cannot.</a:t>
            </a:r>
            <a:endParaRPr lang="en-US" sz="15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8898"/>
          </a:xfrm>
          <a:prstGeom prst="rect">
            <a:avLst/>
          </a:prstGeom>
          <a:noFill/>
          <a:ln/>
        </p:spPr>
        <p:txBody>
          <a:bodyPr wrap="square" lIns="0" tIns="0" rIns="0" bIns="0" rtlCol="0" anchor="t">
            <a:normAutofit/>
          </a:bodyPr>
          <a:lstStyle/>
          <a:p>
            <a:pPr marL="0" indent="0" algn="l">
              <a:lnSpc>
                <a:spcPts val="1622"/>
              </a:lnSpc>
              <a:buNone/>
            </a:pPr>
            <a:r>
              <a:rPr lang="en-US" sz="1159" kern="0" spc="150" dirty="0">
                <a:solidFill>
                  <a:srgbClr val="0E6F6D"/>
                </a:solidFill>
                <a:latin typeface="JetBrains Mono" pitchFamily="34" charset="0"/>
                <a:ea typeface="JetBrains Mono" pitchFamily="34" charset="-122"/>
                <a:cs typeface="JetBrains Mono" pitchFamily="34" charset="-120"/>
              </a:rPr>
              <a:t>CLINIC 4 · ALIGNMENT WITH THE PORTFOLIO</a:t>
            </a:r>
            <a:endParaRPr lang="en-US" sz="1159" dirty="0"/>
          </a:p>
        </p:txBody>
      </p:sp>
      <p:sp>
        <p:nvSpPr>
          <p:cNvPr id="3" name="Text 1"/>
          <p:cNvSpPr/>
          <p:nvPr/>
        </p:nvSpPr>
        <p:spPr>
          <a:xfrm>
            <a:off x="812800" y="1117898"/>
            <a:ext cx="10883392" cy="451842"/>
          </a:xfrm>
          <a:prstGeom prst="rect">
            <a:avLst/>
          </a:prstGeom>
          <a:noFill/>
          <a:ln/>
        </p:spPr>
        <p:txBody>
          <a:bodyPr wrap="square" lIns="0" tIns="0" rIns="0" bIns="0" rtlCol="0" anchor="t">
            <a:normAutofit/>
          </a:bodyPr>
          <a:lstStyle/>
          <a:p>
            <a:pPr marL="0" indent="0" algn="l">
              <a:lnSpc>
                <a:spcPts val="3366"/>
              </a:lnSpc>
              <a:buNone/>
            </a:pPr>
            <a:r>
              <a:rPr lang="en-US" sz="3060" b="1" dirty="0">
                <a:solidFill>
                  <a:srgbClr val="16232E"/>
                </a:solidFill>
                <a:latin typeface="IBM Plex Sans" pitchFamily="34" charset="0"/>
                <a:ea typeface="IBM Plex Sans" pitchFamily="34" charset="-122"/>
                <a:cs typeface="IBM Plex Sans" pitchFamily="34" charset="-120"/>
              </a:rPr>
              <a:t>Which of your modules each component belongs to</a:t>
            </a:r>
            <a:endParaRPr lang="en-US" sz="3060" dirty="0"/>
          </a:p>
        </p:txBody>
      </p:sp>
      <p:sp>
        <p:nvSpPr>
          <p:cNvPr id="4" name="Shape 2"/>
          <p:cNvSpPr/>
          <p:nvPr/>
        </p:nvSpPr>
        <p:spPr>
          <a:xfrm>
            <a:off x="812800" y="1753890"/>
            <a:ext cx="10566400" cy="0"/>
          </a:xfrm>
          <a:prstGeom prst="line">
            <a:avLst/>
          </a:prstGeom>
          <a:noFill/>
          <a:ln w="12700">
            <a:solidFill>
              <a:srgbClr val="141413">
                <a:alpha val="22000"/>
              </a:srgbClr>
            </a:solidFill>
            <a:prstDash val="solid"/>
          </a:ln>
        </p:spPr>
        <p:txBody>
          <a:bodyPr/>
          <a:lstStyle/>
          <a:p>
            <a:endParaRPr lang="en-IN"/>
          </a:p>
        </p:txBody>
      </p:sp>
      <p:sp>
        <p:nvSpPr>
          <p:cNvPr id="5" name="Shape 3"/>
          <p:cNvSpPr/>
          <p:nvPr/>
        </p:nvSpPr>
        <p:spPr>
          <a:xfrm>
            <a:off x="819150" y="1747540"/>
            <a:ext cx="0" cy="3360738"/>
          </a:xfrm>
          <a:prstGeom prst="line">
            <a:avLst/>
          </a:prstGeom>
          <a:noFill/>
          <a:ln w="12700">
            <a:solidFill>
              <a:srgbClr val="141413">
                <a:alpha val="22000"/>
              </a:srgbClr>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1836440"/>
          <a:ext cx="10299700" cy="3195638"/>
        </p:xfrm>
        <a:graphic>
          <a:graphicData uri="http://schemas.openxmlformats.org/drawingml/2006/table">
            <a:tbl>
              <a:tblPr/>
              <a:tblGrid>
                <a:gridCol w="2265934">
                  <a:extLst>
                    <a:ext uri="{9D8B030D-6E8A-4147-A177-3AD203B41FA5}">
                      <a16:colId xmlns:a16="http://schemas.microsoft.com/office/drawing/2014/main" val="20000"/>
                    </a:ext>
                  </a:extLst>
                </a:gridCol>
                <a:gridCol w="3089910">
                  <a:extLst>
                    <a:ext uri="{9D8B030D-6E8A-4147-A177-3AD203B41FA5}">
                      <a16:colId xmlns:a16="http://schemas.microsoft.com/office/drawing/2014/main" val="20001"/>
                    </a:ext>
                  </a:extLst>
                </a:gridCol>
                <a:gridCol w="2471928">
                  <a:extLst>
                    <a:ext uri="{9D8B030D-6E8A-4147-A177-3AD203B41FA5}">
                      <a16:colId xmlns:a16="http://schemas.microsoft.com/office/drawing/2014/main" val="20002"/>
                    </a:ext>
                  </a:extLst>
                </a:gridCol>
                <a:gridCol w="2471928">
                  <a:extLst>
                    <a:ext uri="{9D8B030D-6E8A-4147-A177-3AD203B41FA5}">
                      <a16:colId xmlns:a16="http://schemas.microsoft.com/office/drawing/2014/main" val="20003"/>
                    </a:ext>
                  </a:extLst>
                </a:gridCol>
              </a:tblGrid>
              <a:tr h="389434">
                <a:tc>
                  <a:txBody>
                    <a:bodyPr/>
                    <a:lstStyle/>
                    <a:p>
                      <a:pPr marL="0" indent="0">
                        <a:lnSpc>
                          <a:spcPts val="1849"/>
                        </a:lnSpc>
                        <a:buNone/>
                      </a:pPr>
                      <a:r>
                        <a:rPr lang="en-US" sz="1320" b="1" dirty="0">
                          <a:solidFill>
                            <a:srgbClr val="16232E"/>
                          </a:solidFill>
                          <a:latin typeface="IBM Plex Sans" pitchFamily="34" charset="0"/>
                          <a:ea typeface="IBM Plex Sans" pitchFamily="34" charset="-122"/>
                          <a:cs typeface="IBM Plex Sans" pitchFamily="34" charset="-120"/>
                        </a:rPr>
                        <a:t>FDP component</a:t>
                      </a:r>
                      <a:endParaRPr lang="en-US" sz="1320" dirty="0">
                        <a:latin typeface="IBM Plex Sans" charset="0"/>
                        <a:ea typeface="IBM Plex Sans" charset="0"/>
                        <a:cs typeface="IBM Plex Sans" charset="0"/>
                      </a:endParaRPr>
                    </a:p>
                  </a:txBody>
                  <a:tcPr marL="58695" marR="58695" marT="58695" marB="58695">
                    <a:lnL w="0" cap="flat" cmpd="sng" algn="ctr">
                      <a:noFill/>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49"/>
                        </a:lnSpc>
                        <a:buNone/>
                      </a:pPr>
                      <a:r>
                        <a:rPr lang="en-US" sz="1320" b="1" dirty="0">
                          <a:solidFill>
                            <a:srgbClr val="16232E"/>
                          </a:solidFill>
                          <a:latin typeface="IBM Plex Sans" pitchFamily="34" charset="0"/>
                          <a:ea typeface="IBM Plex Sans" pitchFamily="34" charset="-122"/>
                          <a:cs typeface="IBM Plex Sans" pitchFamily="34" charset="-120"/>
                        </a:rPr>
                        <a:t>DSE / AIML ZG529</a:t>
                      </a:r>
                      <a:endParaRPr lang="en-US" sz="1320" dirty="0">
                        <a:latin typeface="IBM Plex Sans" charset="0"/>
                        <a:ea typeface="IBM Plex Sans" charset="0"/>
                        <a:cs typeface="IBM Plex Sans" charset="0"/>
                      </a:endParaRPr>
                    </a:p>
                  </a:txBody>
                  <a:tcPr marL="58695" marR="58695" marT="58695" marB="5869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49"/>
                        </a:lnSpc>
                        <a:buNone/>
                      </a:pPr>
                      <a:r>
                        <a:rPr lang="en-US" sz="1320" b="1" dirty="0">
                          <a:solidFill>
                            <a:srgbClr val="16232E"/>
                          </a:solidFill>
                          <a:latin typeface="IBM Plex Sans" pitchFamily="34" charset="0"/>
                          <a:ea typeface="IBM Plex Sans" pitchFamily="34" charset="-122"/>
                          <a:cs typeface="IBM Plex Sans" pitchFamily="34" charset="-120"/>
                        </a:rPr>
                        <a:t>PCAM ZC412</a:t>
                      </a:r>
                      <a:endParaRPr lang="en-US" sz="1320" dirty="0">
                        <a:latin typeface="IBM Plex Sans" charset="0"/>
                        <a:ea typeface="IBM Plex Sans" charset="0"/>
                        <a:cs typeface="IBM Plex Sans" charset="0"/>
                      </a:endParaRPr>
                    </a:p>
                  </a:txBody>
                  <a:tcPr marL="58695" marR="58695" marT="58695" marB="5869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49"/>
                        </a:lnSpc>
                        <a:buNone/>
                      </a:pPr>
                      <a:r>
                        <a:rPr lang="en-US" sz="1320" b="1" dirty="0">
                          <a:solidFill>
                            <a:srgbClr val="16232E"/>
                          </a:solidFill>
                          <a:latin typeface="IBM Plex Sans" pitchFamily="34" charset="0"/>
                          <a:ea typeface="IBM Plex Sans" pitchFamily="34" charset="-122"/>
                          <a:cs typeface="IBM Plex Sans" pitchFamily="34" charset="-120"/>
                        </a:rPr>
                        <a:t>AIML ZG523</a:t>
                      </a:r>
                      <a:endParaRPr lang="en-US" sz="1320" dirty="0">
                        <a:latin typeface="IBM Plex Sans" charset="0"/>
                        <a:ea typeface="IBM Plex Sans" charset="0"/>
                        <a:cs typeface="IBM Plex Sans" charset="0"/>
                      </a:endParaRPr>
                    </a:p>
                  </a:txBody>
                  <a:tcPr marL="58695" marR="58695" marT="58695" marB="5869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0" cap="flat" cmpd="sng" algn="ctr">
                      <a:noFill/>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624185">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M1 + Lab 1</a:t>
                      </a:r>
                      <a:endParaRPr lang="en-US" sz="1320" dirty="0">
                        <a:latin typeface="IBM Plex Sans" charset="0"/>
                        <a:ea typeface="IBM Plex Sans" charset="0"/>
                        <a:cs typeface="IBM Plex Sans" charset="0"/>
                      </a:endParaRPr>
                    </a:p>
                  </a:txBody>
                  <a:tcPr marL="58695" marR="58695" marT="58695" marB="58695">
                    <a:lnL w="0" cap="flat" cmpd="sng" algn="ctr">
                      <a:noFill/>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M1, M2, M3 — DataOps, pipelines, validation, contracts</a:t>
                      </a:r>
                      <a:endParaRPr lang="en-US" sz="1320" dirty="0">
                        <a:latin typeface="IBM Plex Sans" charset="0"/>
                        <a:ea typeface="IBM Plex Sans" charset="0"/>
                        <a:cs typeface="IBM Plex Sans" charset="0"/>
                      </a:endParaRPr>
                    </a:p>
                  </a:txBody>
                  <a:tcPr marL="58695" marR="58695" marT="58695" marB="586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M2 — reliable data pipelines</a:t>
                      </a:r>
                      <a:endParaRPr lang="en-US" sz="1320" dirty="0">
                        <a:latin typeface="IBM Plex Sans" charset="0"/>
                        <a:ea typeface="IBM Plex Sans" charset="0"/>
                        <a:cs typeface="IBM Plex Sans" charset="0"/>
                      </a:endParaRPr>
                    </a:p>
                  </a:txBody>
                  <a:tcPr marL="58695" marR="58695" marT="58695" marB="586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M1 — lifecycle and process</a:t>
                      </a:r>
                      <a:endParaRPr lang="en-US" sz="1320" dirty="0">
                        <a:latin typeface="IBM Plex Sans" charset="0"/>
                        <a:ea typeface="IBM Plex Sans" charset="0"/>
                        <a:cs typeface="IBM Plex Sans" charset="0"/>
                      </a:endParaRPr>
                    </a:p>
                  </a:txBody>
                  <a:tcPr marL="58695" marR="58695" marT="58695" marB="586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89434">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DA anchor + Lab 2</a:t>
                      </a:r>
                      <a:endParaRPr lang="en-US" sz="1320" dirty="0">
                        <a:latin typeface="IBM Plex Sans" charset="0"/>
                        <a:ea typeface="IBM Plex Sans" charset="0"/>
                        <a:cs typeface="IBM Plex Sans" charset="0"/>
                      </a:endParaRPr>
                    </a:p>
                  </a:txBody>
                  <a:tcPr marL="58695" marR="58695" marT="58695" marB="58695">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M3 — data understanding</a:t>
                      </a:r>
                      <a:endParaRPr lang="en-US" sz="1320" dirty="0">
                        <a:latin typeface="IBM Plex Sans" charset="0"/>
                        <a:ea typeface="IBM Plex Sans" charset="0"/>
                        <a:cs typeface="IBM Plex Sans" charset="0"/>
                      </a:endParaRPr>
                    </a:p>
                  </a:txBody>
                  <a:tcPr marL="58695" marR="58695" marT="58695" marB="586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M3 — experimentation</a:t>
                      </a:r>
                      <a:endParaRPr lang="en-US" sz="1320" dirty="0">
                        <a:latin typeface="IBM Plex Sans" charset="0"/>
                        <a:ea typeface="IBM Plex Sans" charset="0"/>
                        <a:cs typeface="IBM Plex Sans" charset="0"/>
                      </a:endParaRPr>
                    </a:p>
                  </a:txBody>
                  <a:tcPr marL="58695" marR="58695" marT="58695" marB="586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M2 — experimentation</a:t>
                      </a:r>
                      <a:endParaRPr lang="en-US" sz="1320" dirty="0">
                        <a:latin typeface="IBM Plex Sans" charset="0"/>
                        <a:ea typeface="IBM Plex Sans" charset="0"/>
                        <a:cs typeface="IBM Plex Sans" charset="0"/>
                      </a:endParaRPr>
                    </a:p>
                  </a:txBody>
                  <a:tcPr marL="58695" marR="58695" marT="58695" marB="586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389434">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M4 + Lab 3a / 3b</a:t>
                      </a:r>
                      <a:endParaRPr lang="en-US" sz="1320" dirty="0">
                        <a:latin typeface="IBM Plex Sans" charset="0"/>
                        <a:ea typeface="IBM Plex Sans" charset="0"/>
                        <a:cs typeface="IBM Plex Sans" charset="0"/>
                      </a:endParaRPr>
                    </a:p>
                  </a:txBody>
                  <a:tcPr marL="58695" marR="58695" marT="58695" marB="58695">
                    <a:lnL w="0" cap="flat" cmpd="sng" algn="ctr">
                      <a:noFill/>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a:t>
                      </a:r>
                      <a:endParaRPr lang="en-US" sz="1320" dirty="0">
                        <a:latin typeface="IBM Plex Sans" charset="0"/>
                        <a:ea typeface="IBM Plex Sans" charset="0"/>
                        <a:cs typeface="IBM Plex Sans" charset="0"/>
                      </a:endParaRPr>
                    </a:p>
                  </a:txBody>
                  <a:tcPr marL="58695" marR="58695" marT="58695" marB="586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M4 — deployment and serving</a:t>
                      </a:r>
                      <a:endParaRPr lang="en-US" sz="1320" dirty="0">
                        <a:latin typeface="IBM Plex Sans" charset="0"/>
                        <a:ea typeface="IBM Plex Sans" charset="0"/>
                        <a:cs typeface="IBM Plex Sans" charset="0"/>
                      </a:endParaRPr>
                    </a:p>
                  </a:txBody>
                  <a:tcPr marL="58695" marR="58695" marT="58695" marB="586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M3 — deployment and serving</a:t>
                      </a:r>
                      <a:endParaRPr lang="en-US" sz="1320" dirty="0">
                        <a:latin typeface="IBM Plex Sans" charset="0"/>
                        <a:ea typeface="IBM Plex Sans" charset="0"/>
                        <a:cs typeface="IBM Plex Sans" charset="0"/>
                      </a:endParaRPr>
                    </a:p>
                  </a:txBody>
                  <a:tcPr marL="58695" marR="58695" marT="58695" marB="5869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89434">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M5 + Lab 4</a:t>
                      </a:r>
                      <a:endParaRPr lang="en-US" sz="1320" dirty="0">
                        <a:latin typeface="IBM Plex Sans" charset="0"/>
                        <a:ea typeface="IBM Plex Sans" charset="0"/>
                        <a:cs typeface="IBM Plex Sans" charset="0"/>
                      </a:endParaRPr>
                    </a:p>
                  </a:txBody>
                  <a:tcPr marL="58695" marR="58695" marT="58695" marB="58695">
                    <a:lnL w="0" cap="flat" cmpd="sng" algn="ctr">
                      <a:noFill/>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M4 — observability</a:t>
                      </a:r>
                      <a:endParaRPr lang="en-US" sz="1320" dirty="0">
                        <a:latin typeface="IBM Plex Sans" charset="0"/>
                        <a:ea typeface="IBM Plex Sans" charset="0"/>
                        <a:cs typeface="IBM Plex Sans" charset="0"/>
                      </a:endParaRPr>
                    </a:p>
                  </a:txBody>
                  <a:tcPr marL="58695" marR="58695" marT="58695" marB="586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M5 — monitoring, retraining</a:t>
                      </a:r>
                      <a:endParaRPr lang="en-US" sz="1320" dirty="0">
                        <a:latin typeface="IBM Plex Sans" charset="0"/>
                        <a:ea typeface="IBM Plex Sans" charset="0"/>
                        <a:cs typeface="IBM Plex Sans" charset="0"/>
                      </a:endParaRPr>
                    </a:p>
                  </a:txBody>
                  <a:tcPr marL="58695" marR="58695" marT="58695" marB="586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M4 — continual learning</a:t>
                      </a:r>
                      <a:endParaRPr lang="en-US" sz="1320" dirty="0">
                        <a:latin typeface="IBM Plex Sans" charset="0"/>
                        <a:ea typeface="IBM Plex Sans" charset="0"/>
                        <a:cs typeface="IBM Plex Sans" charset="0"/>
                      </a:endParaRPr>
                    </a:p>
                  </a:txBody>
                  <a:tcPr marL="58695" marR="58695" marT="58695" marB="586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389434">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Lab 5 (guided)</a:t>
                      </a:r>
                      <a:endParaRPr lang="en-US" sz="1320" dirty="0">
                        <a:latin typeface="IBM Plex Sans" charset="0"/>
                        <a:ea typeface="IBM Plex Sans" charset="0"/>
                        <a:cs typeface="IBM Plex Sans" charset="0"/>
                      </a:endParaRPr>
                    </a:p>
                  </a:txBody>
                  <a:tcPr marL="58695" marR="58695" marT="58695" marB="58695">
                    <a:lnL w="0" cap="flat" cmpd="sng" algn="ctr">
                      <a:noFill/>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M2 — cloud infrastructure</a:t>
                      </a:r>
                      <a:endParaRPr lang="en-US" sz="1320" dirty="0">
                        <a:latin typeface="IBM Plex Sans" charset="0"/>
                        <a:ea typeface="IBM Plex Sans" charset="0"/>
                        <a:cs typeface="IBM Plex Sans" charset="0"/>
                      </a:endParaRPr>
                    </a:p>
                  </a:txBody>
                  <a:tcPr marL="58695" marR="58695" marT="58695" marB="58695">
                    <a:lnL w="12700" cap="flat" cmpd="sng" algn="ctr">
                      <a:solidFill>
                        <a:srgbClr val="B5BEBC"/>
                      </a:solidFill>
                      <a:prstDash val="solid"/>
                      <a:round/>
                      <a:headEnd type="none" w="med" len="med"/>
                      <a:tailEnd type="none" w="med" len="med"/>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M6 — lifecycle at scale</a:t>
                      </a:r>
                      <a:endParaRPr lang="en-US" sz="1320" dirty="0">
                        <a:latin typeface="IBM Plex Sans" charset="0"/>
                        <a:ea typeface="IBM Plex Sans" charset="0"/>
                        <a:cs typeface="IBM Plex Sans" charset="0"/>
                      </a:endParaRPr>
                    </a:p>
                  </a:txBody>
                  <a:tcPr marL="58695" marR="58695" marT="58695" marB="58695">
                    <a:lnL w="12700" cap="flat" cmpd="sng" algn="ctr">
                      <a:solidFill>
                        <a:srgbClr val="B5BEBC"/>
                      </a:solidFill>
                      <a:prstDash val="solid"/>
                      <a:round/>
                      <a:headEnd type="none" w="med" len="med"/>
                      <a:tailEnd type="none" w="med" len="med"/>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M5 — cloud MLOps</a:t>
                      </a:r>
                      <a:endParaRPr lang="en-US" sz="1320" dirty="0">
                        <a:latin typeface="IBM Plex Sans" charset="0"/>
                        <a:ea typeface="IBM Plex Sans" charset="0"/>
                        <a:cs typeface="IBM Plex Sans" charset="0"/>
                      </a:endParaRPr>
                    </a:p>
                  </a:txBody>
                  <a:tcPr marL="58695" marR="58695" marT="58695" marB="58695">
                    <a:lnL w="12700" cap="flat" cmpd="sng" algn="ctr">
                      <a:solidFill>
                        <a:srgbClr val="B5BEBC"/>
                      </a:solidFill>
                      <a:prstDash val="solid"/>
                      <a:round/>
                      <a:headEnd type="none" w="med" len="med"/>
                      <a:tailEnd type="none" w="med" len="med"/>
                    </a:lnL>
                    <a:lnR w="12700" cap="flat" cmpd="sng" algn="ctr">
                      <a:solidFill>
                        <a:srgbClr val="B5BEBC"/>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EBC"/>
                      </a:solidFill>
                      <a:prstDash val="solid"/>
                      <a:round/>
                      <a:headEnd type="none" w="med" len="med"/>
                      <a:tailEnd type="none" w="med" len="med"/>
                    </a:lnB>
                    <a:solidFill>
                      <a:srgbClr val="E2EEEC"/>
                    </a:solidFill>
                  </a:tcPr>
                </a:tc>
                <a:extLst>
                  <a:ext uri="{0D108BD9-81ED-4DB2-BD59-A6C34878D82A}">
                    <a16:rowId xmlns:a16="http://schemas.microsoft.com/office/drawing/2014/main" val="10005"/>
                  </a:ext>
                </a:extLst>
              </a:tr>
              <a:tr h="624284">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M6–M8 + Labs 6–8</a:t>
                      </a:r>
                      <a:endParaRPr lang="en-US" sz="1320" dirty="0">
                        <a:latin typeface="IBM Plex Sans" charset="0"/>
                        <a:ea typeface="IBM Plex Sans" charset="0"/>
                        <a:cs typeface="IBM Plex Sans" charset="0"/>
                      </a:endParaRPr>
                    </a:p>
                  </a:txBody>
                  <a:tcPr marL="58695" marR="58695" marT="58695" marB="58695">
                    <a:lnL w="0" cap="flat" cmpd="sng" algn="ctr">
                      <a:noFill/>
                    </a:lnL>
                    <a:lnR w="12700" cap="flat" cmpd="sng" algn="ctr">
                      <a:solidFill>
                        <a:srgbClr val="C4C3BE"/>
                      </a:solidFill>
                      <a:prstDash val="solid"/>
                      <a:round/>
                      <a:headEnd type="none" w="med" len="med"/>
                      <a:tailEnd type="none" w="med" len="med"/>
                    </a:lnR>
                    <a:lnT w="12700" cap="flat" cmpd="sng" algn="ctr">
                      <a:solidFill>
                        <a:srgbClr val="B5BEBC"/>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M4 — LLM data pipelines and evaluation</a:t>
                      </a:r>
                      <a:endParaRPr lang="en-US" sz="1320" dirty="0">
                        <a:latin typeface="IBM Plex Sans" charset="0"/>
                        <a:ea typeface="IBM Plex Sans" charset="0"/>
                        <a:cs typeface="IBM Plex Sans" charset="0"/>
                      </a:endParaRPr>
                    </a:p>
                  </a:txBody>
                  <a:tcPr marL="58695" marR="58695" marT="58695" marB="586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EBC"/>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a:t>
                      </a:r>
                      <a:endParaRPr lang="en-US" sz="1320" dirty="0">
                        <a:latin typeface="IBM Plex Sans" charset="0"/>
                        <a:ea typeface="IBM Plex Sans" charset="0"/>
                        <a:cs typeface="IBM Plex Sans" charset="0"/>
                      </a:endParaRPr>
                    </a:p>
                  </a:txBody>
                  <a:tcPr marL="58695" marR="58695" marT="58695" marB="586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EBC"/>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49"/>
                        </a:lnSpc>
                        <a:buNone/>
                      </a:pPr>
                      <a:r>
                        <a:rPr lang="en-US" sz="1320" dirty="0">
                          <a:solidFill>
                            <a:srgbClr val="16232E"/>
                          </a:solidFill>
                          <a:latin typeface="IBM Plex Sans" pitchFamily="34" charset="0"/>
                          <a:ea typeface="IBM Plex Sans" pitchFamily="34" charset="-122"/>
                          <a:cs typeface="IBM Plex Sans" pitchFamily="34" charset="-120"/>
                        </a:rPr>
                        <a:t>M6–M7 — LLMOps, AgentOps</a:t>
                      </a:r>
                      <a:endParaRPr lang="en-US" sz="1320" dirty="0">
                        <a:latin typeface="IBM Plex Sans" charset="0"/>
                        <a:ea typeface="IBM Plex Sans" charset="0"/>
                        <a:cs typeface="IBM Plex Sans" charset="0"/>
                      </a:endParaRPr>
                    </a:p>
                  </a:txBody>
                  <a:tcPr marL="58695" marR="58695" marT="58695" marB="5869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EBC"/>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4"/>
          <p:cNvSpPr/>
          <p:nvPr/>
        </p:nvSpPr>
        <p:spPr>
          <a:xfrm>
            <a:off x="812800" y="5311477"/>
            <a:ext cx="10883392" cy="555923"/>
          </a:xfrm>
          <a:prstGeom prst="rect">
            <a:avLst/>
          </a:prstGeom>
          <a:noFill/>
          <a:ln/>
        </p:spPr>
        <p:txBody>
          <a:bodyPr wrap="square" lIns="0" tIns="0" rIns="0" bIns="0" rtlCol="0" anchor="t">
            <a:normAutofit/>
          </a:bodyPr>
          <a:lstStyle/>
          <a:p>
            <a:pPr marL="0" indent="0" algn="l">
              <a:lnSpc>
                <a:spcPts val="2107"/>
              </a:lnSpc>
              <a:buNone/>
            </a:pPr>
            <a:r>
              <a:rPr lang="en-US" sz="1453" dirty="0">
                <a:solidFill>
                  <a:srgbClr val="4E5B63"/>
                </a:solidFill>
                <a:latin typeface="IBM Plex Sans" pitchFamily="34" charset="0"/>
                <a:ea typeface="IBM Plex Sans" pitchFamily="34" charset="-122"/>
                <a:cs typeface="IBM Plex Sans" pitchFamily="34" charset="-120"/>
              </a:rPr>
              <a:t>The analysis and dashboard strand additionally serves the analytics and data-app courses. </a:t>
            </a:r>
            <a:r>
              <a:rPr lang="en-US" sz="1453" b="1" dirty="0">
                <a:solidFill>
                  <a:srgbClr val="16232E"/>
                </a:solidFill>
                <a:latin typeface="IBM Plex Sans" pitchFamily="34" charset="0"/>
                <a:ea typeface="IBM Plex Sans" pitchFamily="34" charset="-122"/>
                <a:cs typeface="IBM Plex Sans" pitchFamily="34" charset="-120"/>
              </a:rPr>
              <a:t>Take five minutes now</a:t>
            </a:r>
            <a:r>
              <a:rPr lang="en-US" sz="1453" dirty="0">
                <a:solidFill>
                  <a:srgbClr val="4E5B63"/>
                </a:solidFill>
                <a:latin typeface="IBM Plex Sans" pitchFamily="34" charset="0"/>
                <a:ea typeface="IBM Plex Sans" pitchFamily="34" charset="-122"/>
                <a:cs typeface="IBM Plex Sans" pitchFamily="34" charset="-120"/>
              </a:rPr>
              <a:t>: mark the rows that belong to a module you teach this semester.</a:t>
            </a:r>
            <a:endParaRPr lang="en-US" sz="1453"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411387"/>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RELEASE → THE GENERATIVE SYSTEM</a:t>
            </a:r>
            <a:endParaRPr lang="en-US" sz="1200" dirty="0"/>
          </a:p>
        </p:txBody>
      </p:sp>
      <p:sp>
        <p:nvSpPr>
          <p:cNvPr id="3" name="Text 1"/>
          <p:cNvSpPr/>
          <p:nvPr/>
        </p:nvSpPr>
        <p:spPr>
          <a:xfrm>
            <a:off x="812800" y="1929507"/>
            <a:ext cx="10883392" cy="1135261"/>
          </a:xfrm>
          <a:prstGeom prst="rect">
            <a:avLst/>
          </a:prstGeom>
          <a:noFill/>
          <a:ln/>
        </p:spPr>
        <p:txBody>
          <a:bodyPr wrap="square" lIns="0" tIns="0" rIns="0" bIns="0" rtlCol="0" anchor="t">
            <a:normAutofit/>
          </a:bodyPr>
          <a:lstStyle/>
          <a:p>
            <a:pPr marL="0" indent="0" algn="l">
              <a:lnSpc>
                <a:spcPts val="4370"/>
              </a:lnSpc>
              <a:buNone/>
            </a:pPr>
            <a:r>
              <a:rPr lang="en-US" sz="3800" b="1" dirty="0">
                <a:solidFill>
                  <a:srgbClr val="F6F4EE"/>
                </a:solidFill>
                <a:latin typeface="IBM Plex Sans" pitchFamily="34" charset="0"/>
                <a:ea typeface="IBM Plex Sans" pitchFamily="34" charset="-122"/>
                <a:cs typeface="IBM Plex Sans" pitchFamily="34" charset="-120"/>
              </a:rPr>
              <a:t>System A is complete. Tomorrow you build System B by the same method.</a:t>
            </a:r>
            <a:endParaRPr lang="en-US" sz="3800" dirty="0"/>
          </a:p>
        </p:txBody>
      </p:sp>
      <p:sp>
        <p:nvSpPr>
          <p:cNvPr id="4" name="Text 2"/>
          <p:cNvSpPr/>
          <p:nvPr/>
        </p:nvSpPr>
        <p:spPr>
          <a:xfrm>
            <a:off x="812800" y="3344168"/>
            <a:ext cx="9810750" cy="96450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B8C5CB"/>
                </a:solidFill>
                <a:latin typeface="IBM Plex Sans" pitchFamily="34" charset="0"/>
                <a:ea typeface="IBM Plex Sans" pitchFamily="34" charset="-122"/>
                <a:cs typeface="IBM Plex Sans" pitchFamily="34" charset="-120"/>
              </a:rPr>
              <a:t>Contracts become chunking rules, the feature store becomes a vector store, drift becomes drift of meaning, and metrics become traces. On Day 3, Lab 8's agent calls the reorder API you deployed today — and the two systems join.</a:t>
            </a:r>
            <a:endParaRPr lang="en-US" sz="1700" dirty="0"/>
          </a:p>
        </p:txBody>
      </p:sp>
      <p:sp>
        <p:nvSpPr>
          <p:cNvPr id="5" name="Text 3"/>
          <p:cNvSpPr/>
          <p:nvPr/>
        </p:nvSpPr>
        <p:spPr>
          <a:xfrm>
            <a:off x="812800" y="4588073"/>
            <a:ext cx="724575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3A63B"/>
                </a:solidFill>
                <a:latin typeface="JetBrains Mono" pitchFamily="34" charset="0"/>
                <a:ea typeface="JetBrains Mono" pitchFamily="34" charset="-122"/>
                <a:cs typeface="JetBrains Mono" pitchFamily="34" charset="-120"/>
              </a:rPr>
              <a:t>Before tomorrow</a:t>
            </a:r>
            <a:endParaRPr lang="en-US" sz="2000" dirty="0"/>
          </a:p>
        </p:txBody>
      </p:sp>
      <p:sp>
        <p:nvSpPr>
          <p:cNvPr id="6" name="Text 4"/>
          <p:cNvSpPr/>
          <p:nvPr/>
        </p:nvSpPr>
        <p:spPr>
          <a:xfrm>
            <a:off x="812800" y="4994473"/>
            <a:ext cx="724575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IBM Plex Sans" pitchFamily="34" charset="0"/>
                <a:ea typeface="IBM Plex Sans" pitchFamily="34" charset="-122"/>
                <a:cs typeface="IBM Plex Sans" pitchFamily="34" charset="-120"/>
              </a:rPr>
              <a:t>Leave ~/freshmart intact · pull the Ollama and embedding models tonight if you have not</a:t>
            </a:r>
            <a:endParaRPr lang="en-US" sz="14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2 · Lab 5 + Clinic</a:t>
            </a:r>
            <a:endParaRPr lang="en-US" sz="1200" dirty="0"/>
          </a:p>
        </p:txBody>
      </p:sp>
      <p:sp>
        <p:nvSpPr>
          <p:cNvPr id="8"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22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4463</Words>
  <Application>Microsoft Office PowerPoint</Application>
  <PresentationFormat>Widescreen</PresentationFormat>
  <Paragraphs>432</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IBM Plex Sans</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FDP Day 2 · 15:30 — Lab 5 + Clinic: Cloud, CI/CD and the Pedagogy Clinic</dc:title>
  <dc:subject>PptxGenJS Presentation</dc:subject>
  <dc:creator>PptxGenJS</dc:creator>
  <cp:lastModifiedBy>Pravin Yashwant Pawar .</cp:lastModifiedBy>
  <cp:revision>2</cp:revision>
  <dcterms:created xsi:type="dcterms:W3CDTF">2026-09-27T04:18:10Z</dcterms:created>
  <dcterms:modified xsi:type="dcterms:W3CDTF">2026-09-28T13:12:01Z</dcterms:modified>
</cp:coreProperties>
</file>