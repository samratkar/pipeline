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33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295" r:id="rId29"/>
    <p:sldId id="296" r:id="rId30"/>
    <p:sldId id="298" r:id="rId31"/>
    <p:sldId id="26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Machine Learning Lifecycle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0" y="51816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Extracted from AWS Well-Architected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Lifecycle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6071553" cy="52577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Cyclic iterative process with instructions, and best practices to use across defined phases while developing an ML workload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adds clarity and structure for making a machine learning project successful</a:t>
            </a:r>
          </a:p>
          <a:p>
            <a:endParaRPr lang="en-US" dirty="0"/>
          </a:p>
          <a:p>
            <a:r>
              <a:rPr lang="en-US" dirty="0"/>
              <a:t>The end-to-end machine learning lifecycle process includes the following phases: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Business goal identification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ML problem framing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processing (data collection, data preprocessing, feature engineering)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development (training, tuning, evaluation)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deployment (inference, prediction)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monitoring</a:t>
            </a:r>
          </a:p>
          <a:p>
            <a:endParaRPr lang="en-US" dirty="0"/>
          </a:p>
          <a:p>
            <a:r>
              <a:rPr lang="en-US" dirty="0"/>
              <a:t>The phases of the ML lifecycle are not necessarily sequential in nature and can have feedback loops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 interrupt the cycle across the lifecycle phases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056" y="1569518"/>
            <a:ext cx="50292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Lifecycle(2)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0688492" cy="510539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Business goal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should have a clear idea of the problem, and the business value to be gained by solving that problem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must be able to measure business value against specific business objectives and success criteria</a:t>
            </a:r>
          </a:p>
          <a:p>
            <a:endParaRPr lang="en-US" dirty="0"/>
          </a:p>
          <a:p>
            <a:r>
              <a:rPr lang="en-US" dirty="0"/>
              <a:t>ML problem framing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business problem is framed as a machine learning problem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what is observed and what should be predicted (known as a label or target variable)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Determining what to predict and how performance and error metrics must be optimized is a key step in this phase</a:t>
            </a:r>
          </a:p>
          <a:p>
            <a:endParaRPr lang="en-US" dirty="0"/>
          </a:p>
          <a:p>
            <a:r>
              <a:rPr lang="en-US" dirty="0"/>
              <a:t>Data processing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Training an accurate ML model requires data processing to convert data into a usable format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includes collecting data, preparing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and feature engineering that is the process of creating, transforming, extracting, and selecting variables from data</a:t>
            </a:r>
          </a:p>
          <a:p>
            <a:endParaRPr lang="en-US" dirty="0"/>
          </a:p>
          <a:p>
            <a:r>
              <a:rPr lang="en-US" dirty="0"/>
              <a:t>Model development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consists of model building, training, tuning, and evaluation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includes creating a CI/CD pipeline that automates the build, train and release to staging and production environments</a:t>
            </a:r>
          </a:p>
          <a:p>
            <a:endParaRPr lang="en-US" dirty="0"/>
          </a:p>
          <a:p>
            <a:r>
              <a:rPr lang="en-US" dirty="0"/>
              <a:t>Deployment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After a model is trained, tuned, evaluated and validated, one can deploy the model into production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then make predictions and inferences against the model</a:t>
            </a:r>
          </a:p>
          <a:p>
            <a:endParaRPr lang="en-US" dirty="0"/>
          </a:p>
          <a:p>
            <a:r>
              <a:rPr lang="en-US" dirty="0"/>
              <a:t>Monitoring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ensures model is maintaining a desired level of performance through early detection and mitigation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Phases</a:t>
            </a:r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— Business goal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5181599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The most important phase particularly challenging when considering ML solutions because ML is a constantly evolving technology!</a:t>
            </a:r>
          </a:p>
          <a:p>
            <a:endParaRPr lang="en-US" dirty="0"/>
          </a:p>
          <a:p>
            <a:r>
              <a:rPr lang="en-US" dirty="0"/>
              <a:t>After success criteria is defined, evaluate organization's ability to move toward that target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target should be </a:t>
            </a:r>
            <a:r>
              <a:rPr lang="en-US" dirty="0">
                <a:solidFill>
                  <a:srgbClr val="FF0000"/>
                </a:solidFill>
              </a:rPr>
              <a:t>achievable</a:t>
            </a:r>
            <a:r>
              <a:rPr lang="en-US" dirty="0"/>
              <a:t> and provide a clear path to production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Involve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all relevant stakeholders from the beginning to align them to this target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any new business processes that will result from this initiative</a:t>
            </a:r>
          </a:p>
          <a:p>
            <a:pPr lvl="1"/>
            <a:endParaRPr lang="en-US" dirty="0"/>
          </a:p>
          <a:p>
            <a:r>
              <a:rPr lang="en-US" dirty="0"/>
              <a:t>Steps in this phase: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Understand business requirements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Form a business question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Review a project’s ML feasibility and data requirements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Evaluate the cost of data acquisition, training, inference, and wrong predictions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Review proven or published work in similar domains, if available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Determine key performance metrics, including acceptable errors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Deﬁne the machine learning task based on the business question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Identify critical, must have features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Design small, focused POCs to validate all of the preceding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Evaluate if bringing in external data sources will improve model performance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Establish pathways to production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Consider new business processes that may come out of this implementation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Align relevant stakeholders with this initiative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— ML problem framing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Business problem is framed as a machine learning problem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what is observed and what should be predicted (known as a label or target variable)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Determining what to predict and how performance must be optimized is a key step in ML</a:t>
            </a:r>
          </a:p>
          <a:p>
            <a:endParaRPr lang="en-US" dirty="0"/>
          </a:p>
          <a:p>
            <a:r>
              <a:rPr lang="en-US" dirty="0"/>
              <a:t>Steps in this phase: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Deﬁne criteria for a successful outcome of the project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Establish an observable and quantiﬁable performance metric for the project, such as accuracy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Help ensure business stakeholders understand and agree with the defined performance metrics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Formulate the ML question in terms of inputs, desired outputs, and the performance metric to be optimized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Evaluate whether ML is the right approach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Some business problems don’t need ML, simple business rules can do a much better job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other business problems, there might not be sufficient data to apply ML as a solution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Create a strategy to achieve the data sourcing and data annotation objective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Start with a simple model that is easy to interpret, and which makes debugging more manageable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lifecycle architecture diagram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ML lifecycle with data processing sub-phases included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2362200"/>
            <a:ext cx="95345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lifecycle architecture diagram(2)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37039"/>
            <a:ext cx="8483600" cy="501616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505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ML lifecycle with detailed phases and expanded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lifecycle architecture diagram(3)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Online/Offline feature store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reduces duplication and rerun of feature engineering code across teams and projects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Online store with low-latency retrieval capabilities is ideal for real-time inference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Offline store should maintain a history of feature values and is suited for training and batch scoring</a:t>
            </a:r>
          </a:p>
          <a:p>
            <a:endParaRPr lang="en-US" dirty="0"/>
          </a:p>
          <a:p>
            <a:r>
              <a:rPr lang="en-US" dirty="0"/>
              <a:t>Model registry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repository for storing ML model artifacts including trained model and related metadata (data, code, model)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enables lineage for ML models as it can act as a version control system</a:t>
            </a:r>
          </a:p>
          <a:p>
            <a:endParaRPr lang="en-US" dirty="0"/>
          </a:p>
          <a:p>
            <a:r>
              <a:rPr lang="en-US" dirty="0"/>
              <a:t>Performance feedback loop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Automates model performance evaluation tasks initiated from the model development to data processing phase</a:t>
            </a:r>
          </a:p>
          <a:p>
            <a:endParaRPr lang="en-US" dirty="0"/>
          </a:p>
          <a:p>
            <a:r>
              <a:rPr lang="en-US" dirty="0"/>
              <a:t>Model drift feedback loop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Automates model update re-training tasks initiated from the production deployment to data processing phase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531672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lifecycle architecture diagram(4)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Alarm manager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receives the alerts from the model monitoring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runs actions by publishing notifications to services that can deliver alerts to target applications to handle them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model update re-training pipeline is one such target application</a:t>
            </a:r>
          </a:p>
          <a:p>
            <a:endParaRPr lang="en-US" dirty="0"/>
          </a:p>
          <a:p>
            <a:r>
              <a:rPr lang="en-US" dirty="0"/>
              <a:t>Scheduler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scheduler can initiate a re-training at business defined intervals</a:t>
            </a:r>
          </a:p>
          <a:p>
            <a:endParaRPr lang="en-US" dirty="0"/>
          </a:p>
          <a:p>
            <a:r>
              <a:rPr lang="en-US" dirty="0"/>
              <a:t>Lineage tracker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enables reproducible machine learning experiences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enables re-creating the ML environment at a specific point-in-time, reflecting the versions of all resources and environments at that 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collects references to traceable data, model and infrastructure resource changes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2260381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- Data processing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ML workloads, the data (inputs and corresponding desired output) serves important functions including: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Deﬁning the goal of the system: the output representation and the relationship of each output to each input, by means of input/output pairs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Training the algorithm that associates inputs to outputs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Measuring the performance of the trained model, and evaluating whether the performance target was met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Building baselines to monitor the performance of the models deployed to production</a:t>
            </a:r>
          </a:p>
          <a:p>
            <a:endParaRPr lang="en-US" dirty="0"/>
          </a:p>
          <a:p>
            <a:r>
              <a:rPr lang="en-US" dirty="0"/>
              <a:t>Data processing includes data collection and data preparation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preparation includes data preprocessing and feature engineering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wrangling is data preparation during the interactive data analysis and model development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Visualization can help with exploratory data analysis (EDA)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EDA can help with understanding data, sanity checks, and validating the quality of the data</a:t>
            </a:r>
          </a:p>
          <a:p>
            <a:endParaRPr lang="en-US" dirty="0"/>
          </a:p>
          <a:p>
            <a:r>
              <a:rPr lang="en-US" dirty="0"/>
              <a:t>The same sequence of data processing steps that you apply to the training data is also applied to the inference requests.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Need</a:t>
            </a:r>
          </a:p>
        </p:txBody>
      </p:sp>
    </p:spTree>
    <p:extLst>
      <p:ext uri="{BB962C8B-B14F-4D97-AF65-F5344CB8AC3E}">
        <p14:creationId xmlns:p14="http://schemas.microsoft.com/office/powerpoint/2010/main" val="2868238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- Data processing(2)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processing components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626" y="1538288"/>
            <a:ext cx="942022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28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- Data processing(3)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6528754" cy="48005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One of the first steps in the ML lifecycle is to identify what data is needed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Then evaluate the various means available for collecting that data to train model</a:t>
            </a:r>
          </a:p>
          <a:p>
            <a:endParaRPr lang="en-US" dirty="0"/>
          </a:p>
          <a:p>
            <a:r>
              <a:rPr lang="en-US" dirty="0"/>
              <a:t>Activities in the data collection phase: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Label — Data for which already know the target answer is called labeled data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labels are missing, then some effort is required to label it (manual or automated)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Ingest &amp; Aggregate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Data collection includes ingesting and aggregating data from multiple data sources</a:t>
            </a:r>
          </a:p>
          <a:p>
            <a:pPr lvl="1"/>
            <a:endParaRPr lang="en-US" dirty="0"/>
          </a:p>
          <a:p>
            <a:r>
              <a:rPr lang="en-US" dirty="0"/>
              <a:t>Some components of the ingest and aggregate: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sources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include time-series, events, sensors, IoT devices, and social networks, depending on the nature of the use case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ingestion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processes and technologies capture and store data on storage media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can occur in real-time using streaming technologies or historical mode using batch technologies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technologies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Data storage technologies vary from transactional (SQL) databases, to data lakes and data warehouses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ETL pipeline technology automates and orchestrates the data movement and transformations across cloud services and resources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 data lake technology enables storing and analyzing structured and unstructured data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collection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929930"/>
            <a:ext cx="2311400" cy="17629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971800"/>
            <a:ext cx="2356710" cy="364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69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- Data processing(4)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648199"/>
          </a:xfrm>
        </p:spPr>
        <p:txBody>
          <a:bodyPr>
            <a:normAutofit/>
          </a:bodyPr>
          <a:lstStyle/>
          <a:p>
            <a:r>
              <a:rPr lang="en-US" dirty="0"/>
              <a:t>ML models are only as good as the data that is used to train them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Ensure that suitable training data is available and is optimized for learning and generalization</a:t>
            </a:r>
          </a:p>
          <a:p>
            <a:endParaRPr lang="en-US" dirty="0"/>
          </a:p>
          <a:p>
            <a:r>
              <a:rPr lang="en-US" dirty="0"/>
              <a:t>Data preparation includes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preprocessing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 engineering</a:t>
            </a:r>
          </a:p>
          <a:p>
            <a:endParaRPr lang="en-US" dirty="0"/>
          </a:p>
          <a:p>
            <a:r>
              <a:rPr lang="en-US" dirty="0"/>
              <a:t>A key aspect to understanding data is to identify patterns which are often not evident with data in tables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Exploratory data analysis (EDA) with visualization tools can help quickly gain a deeper understanding of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Prepare data using wrangler tools for interactive data analysis and model building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no-code/low-code, automation, and visual capabilities improve the productivity and reduces the cost for interactive analysis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1225918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- Data processing(5)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600201"/>
            <a:ext cx="8229600" cy="5105399"/>
          </a:xfrm>
        </p:spPr>
        <p:txBody>
          <a:bodyPr>
            <a:normAutofit/>
          </a:bodyPr>
          <a:lstStyle/>
          <a:p>
            <a:r>
              <a:rPr lang="en-US" dirty="0"/>
              <a:t>Data preprocessing puts data into the right shape and quality for training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Many strategies: data cleaning, balancing, replacing, imputing, partitioning, scaling, augmenting and </a:t>
            </a:r>
            <a:r>
              <a:rPr lang="en-US" dirty="0" err="1"/>
              <a:t>unbiasing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Clean (replace, impute, remove outliers and duplicates) </a:t>
            </a:r>
          </a:p>
          <a:p>
            <a:pPr lvl="1"/>
            <a:r>
              <a:rPr lang="en-US" dirty="0"/>
              <a:t>Remove outliers and duplicates, replace inaccurate or irrelevant data</a:t>
            </a:r>
          </a:p>
          <a:p>
            <a:pPr lvl="1"/>
            <a:r>
              <a:rPr lang="en-US" dirty="0"/>
              <a:t>Correct missing data using imputation techniques that will minimize bias as part of data cleaning</a:t>
            </a:r>
          </a:p>
          <a:p>
            <a:endParaRPr lang="en-US" dirty="0"/>
          </a:p>
          <a:p>
            <a:r>
              <a:rPr lang="en-US" dirty="0"/>
              <a:t>Partition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 prevent ML models from overfitting and evaluate trained model accurately, randomly split data into train, validate, and test sets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Care is needed to avoid data leakage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leakage happens when information from hold-out test dataset leaks into the training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One way to avoid data leakage is to remove duplicates before splitting of the data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preprocessing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555" y="2133600"/>
            <a:ext cx="2981910" cy="29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52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- Data processing(6)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8052753" cy="49529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Scale (normalize, standardize)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Having features on a similar scale close to normally distributed will ensure that each feature is equally important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make it easier for most ML algorithms including K-Means, KNN, PCA, gradient descent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Standardization better handles the outliers</a:t>
            </a:r>
          </a:p>
          <a:p>
            <a:endParaRPr lang="en-US" dirty="0"/>
          </a:p>
          <a:p>
            <a:r>
              <a:rPr lang="en-US" dirty="0" err="1"/>
              <a:t>Unbias</a:t>
            </a:r>
            <a:r>
              <a:rPr lang="en-US" dirty="0"/>
              <a:t>, balance (detection &amp; mitigation)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Detecting and mitigating bias will help avoiding inaccurate model results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Biases are imbalances in the accuracy of predictions across different groups, such as age or income bracket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Biases can come from the data or algorithm used to train your model</a:t>
            </a:r>
          </a:p>
          <a:p>
            <a:endParaRPr lang="en-US" dirty="0"/>
          </a:p>
          <a:p>
            <a:r>
              <a:rPr lang="en-US" dirty="0"/>
              <a:t>Augment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increases the amount of data artificially by synthesizing new data from existing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help regularize and reduce overfitting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preprocessing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555" y="2133600"/>
            <a:ext cx="2981910" cy="29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59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- Data processing(7)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8586153" cy="51053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Every unique attribute of the data is considered a feature</a:t>
            </a:r>
          </a:p>
          <a:p>
            <a:endParaRPr lang="en-US" dirty="0"/>
          </a:p>
          <a:p>
            <a:r>
              <a:rPr lang="en-US" dirty="0"/>
              <a:t>Feature engineering is a process to select and transform variables when creating a predictive model using machine learning or statistical modeling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includes feature creation, feature transformation, feature extraction, and feature selection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With deep learning, the feature engineering is automated as part of the algorithm learning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Feature creation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is creating new features from existing data to help with better predictions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Examples of feature creation techniques include: one-hot-encoding, binning, splitting, and calculated features</a:t>
            </a:r>
          </a:p>
          <a:p>
            <a:r>
              <a:rPr lang="en-US" dirty="0"/>
              <a:t>Feature transformation and imputation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manage replacing missing features or features that are not valid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Some techniques include: forming Cartesian products of features, non-linear transformations (such as binning numeric variables into categories), and creating domain-speciﬁc features</a:t>
            </a:r>
          </a:p>
          <a:p>
            <a:r>
              <a:rPr lang="en-US" dirty="0"/>
              <a:t>Feature extraction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involves reducing the amount of data to be processed using dimensionality reduction techniques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reduces the amount of memory and computing power required, while still accurately maintaining original data characteristics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Techniques include: PCA, ICA, and LDA</a:t>
            </a:r>
          </a:p>
          <a:p>
            <a:r>
              <a:rPr lang="en-US" dirty="0"/>
              <a:t>Feature selection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process of selecting subset of extracted features which is relevant and contributes to minimizing the error rate of a trained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 importance score and correlation matrix can be factors in selecting the most relevant features for model training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0"/>
            <a:ext cx="2640494" cy="253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44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– Model development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3785553" cy="4648199"/>
          </a:xfrm>
        </p:spPr>
        <p:txBody>
          <a:bodyPr/>
          <a:lstStyle/>
          <a:p>
            <a:r>
              <a:rPr lang="en-US" dirty="0"/>
              <a:t>In this phase, select a machine learning algorithm that is appropriate for problem and then train the ML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provide the algorithm with the training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set an objective metric for the ML model to optimize 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and set the </a:t>
            </a:r>
            <a:r>
              <a:rPr lang="en-US" dirty="0" err="1"/>
              <a:t>hyperparameters</a:t>
            </a:r>
            <a:r>
              <a:rPr lang="en-US" dirty="0"/>
              <a:t> to optimize the training process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Model building, training, tuning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100" y="1143001"/>
            <a:ext cx="460057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27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– Model development(2)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1196956" cy="51053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Model training, tuning, and evaluation require prepared data and engineered features</a:t>
            </a:r>
          </a:p>
          <a:p>
            <a:endParaRPr lang="en-US" dirty="0"/>
          </a:p>
          <a:p>
            <a:r>
              <a:rPr lang="en-US" dirty="0"/>
              <a:t>Features selection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Features are selected as part of the data processing after a bias strategy is implemented</a:t>
            </a:r>
          </a:p>
          <a:p>
            <a:endParaRPr lang="en-US" dirty="0"/>
          </a:p>
          <a:p>
            <a:r>
              <a:rPr lang="en-US" dirty="0"/>
              <a:t>Building code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development includes building the algorithm and its supporting code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should support version control, and continuous build, test, and integration through a pipeline</a:t>
            </a:r>
          </a:p>
          <a:p>
            <a:endParaRPr lang="en-US" dirty="0"/>
          </a:p>
          <a:p>
            <a:r>
              <a:rPr lang="en-US" dirty="0"/>
              <a:t>Algorithm selection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Selecting the right algorithm involves running many experiments with parameter tunings across available options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Factors to consider when evaluating each option can include </a:t>
            </a:r>
            <a:r>
              <a:rPr lang="en-US" dirty="0">
                <a:solidFill>
                  <a:srgbClr val="FF0000"/>
                </a:solidFill>
              </a:rPr>
              <a:t>accuracy, </a:t>
            </a:r>
            <a:r>
              <a:rPr lang="en-US" dirty="0" err="1">
                <a:solidFill>
                  <a:srgbClr val="FF0000"/>
                </a:solidFill>
              </a:rPr>
              <a:t>explainability</a:t>
            </a:r>
            <a:r>
              <a:rPr lang="en-US" dirty="0">
                <a:solidFill>
                  <a:srgbClr val="FF0000"/>
                </a:solidFill>
              </a:rPr>
              <a:t>, training/prediction time, memory requirements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Model training (data training parallel, model training parallel)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training an ML model involves providing an ML algorithm with training data to learn from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Distributed training enables splitting large models and training datasets across computing instances to reduce runtime to fraction of it takes to do manually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parallelism is the process of splitting a model up between multiple devices or nodes.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parallelism is the process of splitting the training set in mini-batches evenly distributed across nodes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each node only trains the model on a fraction of the total dataset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Model training, tuning activities</a:t>
            </a:r>
          </a:p>
        </p:txBody>
      </p:sp>
    </p:spTree>
    <p:extLst>
      <p:ext uri="{BB962C8B-B14F-4D97-AF65-F5344CB8AC3E}">
        <p14:creationId xmlns:p14="http://schemas.microsoft.com/office/powerpoint/2010/main" val="2403345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– Model development(3)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5105399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Debugging/profiling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machine learning training job can have problems including: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system bottlenecks, overfitting, saturated activation functions, and vanishing gradients. These problems can compromise model performance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debugger provides visibility into the ML training process through monitoring, recording, and analyzing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captures the state of a training job at periodic intervals</a:t>
            </a:r>
          </a:p>
          <a:p>
            <a:endParaRPr lang="en-US" dirty="0"/>
          </a:p>
          <a:p>
            <a:r>
              <a:rPr lang="en-US" dirty="0"/>
              <a:t>Validation metrics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Typically, a training algorithm computes several metrics, such as loss and prediction accuracy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determine if the model is learning and generalizing well for making predictions on unseen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Metrics reported by the algorithm depend on the business problem and the ML technique used</a:t>
            </a:r>
          </a:p>
          <a:p>
            <a:endParaRPr lang="en-US" dirty="0"/>
          </a:p>
          <a:p>
            <a:r>
              <a:rPr lang="en-US" dirty="0" err="1"/>
              <a:t>Hyperparameter</a:t>
            </a:r>
            <a:r>
              <a:rPr lang="en-US" dirty="0"/>
              <a:t> tuning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Settings that can be tuned to control the behavior of the ML algorithm are referred to as </a:t>
            </a:r>
            <a:r>
              <a:rPr lang="en-US" dirty="0" err="1"/>
              <a:t>hyperparameters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number and type of </a:t>
            </a:r>
            <a:r>
              <a:rPr lang="en-US" dirty="0" err="1"/>
              <a:t>hyperparameters</a:t>
            </a:r>
            <a:r>
              <a:rPr lang="en-US" dirty="0"/>
              <a:t> in ML algorithms are specific to each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Examples of commonly used </a:t>
            </a:r>
            <a:r>
              <a:rPr lang="en-US" dirty="0" err="1"/>
              <a:t>hyperparameters</a:t>
            </a:r>
            <a:r>
              <a:rPr lang="en-US" dirty="0"/>
              <a:t> include: learning rate, number of epochs, hidden layers, hidden units, and activation functions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Hyperparameter</a:t>
            </a:r>
            <a:r>
              <a:rPr lang="en-US" dirty="0"/>
              <a:t> tuning, or optimization, is the process of choosing the optimal </a:t>
            </a:r>
            <a:r>
              <a:rPr lang="en-US" dirty="0" err="1"/>
              <a:t>hyperparameters</a:t>
            </a:r>
            <a:r>
              <a:rPr lang="en-US" dirty="0"/>
              <a:t> for a learning algorithm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Training code container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Create container images with training code and its entire dependency stack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will enable training machine learning algorithms and deploy models quickly and reliably at any scale</a:t>
            </a:r>
          </a:p>
          <a:p>
            <a:endParaRPr lang="en-US" dirty="0"/>
          </a:p>
          <a:p>
            <a:r>
              <a:rPr lang="en-US" dirty="0"/>
              <a:t>Model artifacts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artifacts are the output that results from training a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typically consist of trained parameters, a model definition that describes how to compute inferences, and other metadata.</a:t>
            </a:r>
          </a:p>
          <a:p>
            <a:endParaRPr lang="en-US" dirty="0"/>
          </a:p>
          <a:p>
            <a:r>
              <a:rPr lang="en-US" dirty="0"/>
              <a:t>Visualization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Enables exploring and understanding data during metrics validation, debugging, profiling, and </a:t>
            </a:r>
            <a:r>
              <a:rPr lang="en-US" dirty="0" err="1"/>
              <a:t>hyperparameter</a:t>
            </a:r>
            <a:r>
              <a:rPr lang="en-US" dirty="0"/>
              <a:t> tuning.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Model training, tuning activities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962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– Model development(4)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6" y="1600201"/>
            <a:ext cx="11710353" cy="4648199"/>
          </a:xfrm>
        </p:spPr>
        <p:txBody>
          <a:bodyPr/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data prepare pipeline automates data preparation tasks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feature pipeline automates the storing, fetching, and copying of the features into and from online/offline store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CI/CD/CT pipeline automates the build, train, and release to staging and production environments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ML lifecycle with pre-production pipelines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505320"/>
            <a:ext cx="6507641" cy="435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16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– Model development(5)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After the model has been trained, evaluate it for its performance and accuracy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generate multiple models using different methods and evaluate the effectiveness of each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multiclass models, determine error rates for each class separately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Can evaluate model using historical data (offline evaluation) or live data (online evaluation)</a:t>
            </a:r>
          </a:p>
          <a:p>
            <a:endParaRPr lang="en-US" dirty="0"/>
          </a:p>
          <a:p>
            <a:r>
              <a:rPr lang="en-US" dirty="0"/>
              <a:t>Offline evaluation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trained model is evaluated with a portion of the dataset that has been set aside as a holdout set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never used for model training or validation—it’s only used to evaluate errors in the final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holdout data annotations must have high accuracy for the evaluation to make sense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Allocate additional resources to verify the accuracy of the holdout data</a:t>
            </a:r>
          </a:p>
          <a:p>
            <a:endParaRPr lang="en-US" dirty="0"/>
          </a:p>
          <a:p>
            <a:r>
              <a:rPr lang="en-US" dirty="0"/>
              <a:t>Based on the evaluation results, might fine-tune the data, the algorithm, or both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may apply the concepts of data cleansing, preparation, and feature engineering again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1181477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 phase – Model development(6)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ML lifecycle with performance evaluation pipeline added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730122"/>
            <a:ext cx="8382000" cy="451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34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lifecycle phase - Deployment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5085861" cy="4648199"/>
          </a:xfrm>
        </p:spPr>
        <p:txBody>
          <a:bodyPr/>
          <a:lstStyle/>
          <a:p>
            <a:r>
              <a:rPr lang="en-US" dirty="0"/>
              <a:t>After model have been trained, tuned, and evaluated, then can deploy the model into production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make predictions and inferences against the deployed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 a manual governance process - ensures the model has fully been tested and evaluated before it’s released to production</a:t>
            </a:r>
          </a:p>
          <a:p>
            <a:endParaRPr lang="en-US" dirty="0"/>
          </a:p>
          <a:p>
            <a:r>
              <a:rPr lang="en-US" dirty="0"/>
              <a:t>Deploy production phase of the ML lifecycle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Features are retrieved from the feature store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Artifacts are taken from the model registry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Inference code used container from the container repository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756356"/>
            <a:ext cx="324802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lifecycle phase – Deployment(2)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64819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Blue/green, canary, A/B, shadow deployment/testing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Deployment and testing strategies that reduce downtime and risks when releasing a new or updated version</a:t>
            </a:r>
          </a:p>
          <a:p>
            <a:endParaRPr lang="en-US" dirty="0"/>
          </a:p>
          <a:p>
            <a:r>
              <a:rPr lang="en-US" dirty="0"/>
              <a:t>The blue/green deployment technique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provides two identical production environments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use this technique when need to deploy a new version of the model to production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Once testing is done on the green environment, live application traffic is directed to the green environment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Blue environment is maintained as backup</a:t>
            </a:r>
          </a:p>
          <a:p>
            <a:endParaRPr lang="en-US" dirty="0"/>
          </a:p>
          <a:p>
            <a:r>
              <a:rPr lang="en-US" dirty="0"/>
              <a:t>A canary deployment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first deploy the new release to a small group of users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Other users continue to use the previous version until satisfied with the new release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Then, can gradually roll the new release out to all users</a:t>
            </a:r>
          </a:p>
          <a:p>
            <a:endParaRPr lang="en-US" dirty="0"/>
          </a:p>
          <a:p>
            <a:r>
              <a:rPr lang="en-US" dirty="0"/>
              <a:t>A/B testing strategy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enables deploying changes to a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Direct a deﬁned portion of traﬃc to the new model. Direct the remaining traﬃc to the old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similar to canary testing, but has larger user groups and a longer time scale, typically days or even weeks</a:t>
            </a:r>
          </a:p>
          <a:p>
            <a:endParaRPr lang="en-US" dirty="0"/>
          </a:p>
          <a:p>
            <a:r>
              <a:rPr lang="en-US" dirty="0"/>
              <a:t>Shadow deployment strategy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New version is available alongside the old version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input data is run through both versions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older version is used for servicing the production and the new one is used for testing and analysis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Deployment main components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628" y="2667000"/>
            <a:ext cx="42195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56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lifecycle phase – Deployment(3)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3099754" cy="5105399"/>
          </a:xfrm>
        </p:spPr>
        <p:txBody>
          <a:bodyPr>
            <a:noAutofit/>
          </a:bodyPr>
          <a:lstStyle/>
          <a:p>
            <a:r>
              <a:rPr lang="en-US" dirty="0"/>
              <a:t>Inference pipeline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automates capturing of the prepared data, performing predictions and post-processing for real-time or batch inferences</a:t>
            </a:r>
          </a:p>
          <a:p>
            <a:r>
              <a:rPr lang="en-US" dirty="0"/>
              <a:t>Scheduler pipeline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Deployed model is representative of the latest data patterns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Re-training at intervals can minimize the risk of data and concept drifts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A scheduler can initiate a re-training at business defined intervals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Data prepare, CI/CD/CT, and feature pipelines will also be active during this process</a:t>
            </a:r>
            <a:endParaRPr lang="en-IN" sz="1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ML lifecycle with scheduler re-train, and batch/real-time Inference pipelines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64521"/>
            <a:ext cx="7162800" cy="474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70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lifecycle phase – Monitoring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0688492" cy="5029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model monitoring system must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capture data,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compare that data to the training set, define rules to detect issues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and send alerts</a:t>
            </a:r>
          </a:p>
          <a:p>
            <a:endParaRPr lang="en-US" dirty="0"/>
          </a:p>
          <a:p>
            <a:r>
              <a:rPr lang="en-US" dirty="0"/>
              <a:t>Process repeats on a defined schedule, when initiated by an event, or when initiated by human intervention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issues detected in the monitoring phase include: data quality, model quality, bias drift, and feature attribution drift</a:t>
            </a:r>
          </a:p>
          <a:p>
            <a:endParaRPr lang="en-US" dirty="0"/>
          </a:p>
          <a:p>
            <a:r>
              <a:rPr lang="en-US" dirty="0"/>
              <a:t>Key components of monitoring including: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</a:t>
            </a:r>
            <a:r>
              <a:rPr lang="en-US" dirty="0" err="1"/>
              <a:t>explainability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uses </a:t>
            </a:r>
            <a:r>
              <a:rPr lang="en-US" dirty="0" err="1"/>
              <a:t>explainability</a:t>
            </a:r>
            <a:r>
              <a:rPr lang="en-US" dirty="0"/>
              <a:t> to evaluate the soundness of the model and if the predictions can be trusted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Detect drift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detects data and concept drifts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Data drift is the significant changes to data distribution compared to data used for training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Concept drift is when the properties of target variables change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Any kind of drift will result in model performance degradation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will initiate an alert and send it to alarm manager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update pipeline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alarm manager identifies any violations, it launches the model update pipeline for a re-train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Data prepare, CI/CD/CT, and feature pipelines will also be active during this process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Post deployment monitor main components</a:t>
            </a:r>
          </a:p>
        </p:txBody>
      </p:sp>
    </p:spTree>
    <p:extLst>
      <p:ext uri="{BB962C8B-B14F-4D97-AF65-F5344CB8AC3E}">
        <p14:creationId xmlns:p14="http://schemas.microsoft.com/office/powerpoint/2010/main" val="4081566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lifecycle phase – Monitoring(2)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ML lifecycle with model update re-train and batch/real-time Inference pipelines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538288"/>
            <a:ext cx="7700963" cy="509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411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Additional - Lineage tracker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Requirement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enables reproducible machine learning experiences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enables re-creating the ML environment at a specific point-in-time, reflecting the versions of all resources and environments at that 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collects references to traceable data, model and infrastructure resource changes</a:t>
            </a:r>
          </a:p>
          <a:p>
            <a:endParaRPr lang="en-US" dirty="0"/>
          </a:p>
          <a:p>
            <a:r>
              <a:rPr lang="en-US" dirty="0"/>
              <a:t>Components: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System architecture (infrastructure as code to address environment drift)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(metadata, values, and features)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(algorithm, features, parameters, and </a:t>
            </a:r>
            <a:r>
              <a:rPr lang="en-US" dirty="0" err="1"/>
              <a:t>hyperparameters</a:t>
            </a:r>
            <a:r>
              <a:rPr lang="en-US" dirty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Code (implementation, modeling, and pipeline)</a:t>
            </a:r>
          </a:p>
          <a:p>
            <a:endParaRPr lang="en-US" dirty="0"/>
          </a:p>
          <a:p>
            <a:r>
              <a:rPr lang="en-US" dirty="0"/>
              <a:t>Working: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Collects changed references through alternative iterations of ML lifecycle phases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Alternative algorithms and feature lists are evaluated as experiments for final production deployment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collected information enables going back to a specific point-in-time release and recreate it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Lineage tracker</a:t>
            </a:r>
          </a:p>
        </p:txBody>
      </p:sp>
    </p:spTree>
    <p:extLst>
      <p:ext uri="{BB962C8B-B14F-4D97-AF65-F5344CB8AC3E}">
        <p14:creationId xmlns:p14="http://schemas.microsoft.com/office/powerpoint/2010/main" val="228107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Lineage tracker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56356"/>
            <a:ext cx="93726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97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Lineage tracker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9529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Infrastructure as code (</a:t>
            </a:r>
            <a:r>
              <a:rPr lang="en-US" dirty="0" err="1"/>
              <a:t>IaC</a:t>
            </a:r>
            <a:r>
              <a:rPr lang="en-US" dirty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Modeling, provisioning, and managing cloud computing resources (compute, storage, network, and application services) can be automated using </a:t>
            </a:r>
            <a:r>
              <a:rPr lang="en-US" dirty="0" err="1"/>
              <a:t>IaC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eliminates configuration drift through automation, while increasing the speed and agility of infrastructure deployments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IaC</a:t>
            </a:r>
            <a:r>
              <a:rPr lang="en-US" dirty="0"/>
              <a:t> code changes are committed to version-controlled repository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Store data schemes and metadata in version control systems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Store the data in a storage media like a data lake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location or link to the data can be in a configuration file and stored in code version control media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Implementation code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Changes to any implementation code at any point-in-time can be stored in version control media</a:t>
            </a:r>
          </a:p>
          <a:p>
            <a:endParaRPr lang="en-US" dirty="0"/>
          </a:p>
          <a:p>
            <a:r>
              <a:rPr lang="en-US" dirty="0"/>
              <a:t>Model feature list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 store technology referenced in the scenario architecture diagrams stores features as well as their versions for any point-in-time changes</a:t>
            </a:r>
          </a:p>
          <a:p>
            <a:endParaRPr lang="en-US" dirty="0"/>
          </a:p>
          <a:p>
            <a:r>
              <a:rPr lang="en-US" dirty="0"/>
              <a:t>Model algorithm code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Changes to any model algorithm code at any point-in-time can be stored in version control media</a:t>
            </a:r>
          </a:p>
          <a:p>
            <a:endParaRPr lang="en-US" dirty="0"/>
          </a:p>
          <a:p>
            <a:r>
              <a:rPr lang="en-US" dirty="0"/>
              <a:t>Model container image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Versions of model container images for any point-in-time changes can be stored in container repositories managed by container registry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249986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3264</TotalTime>
  <Words>3607</Words>
  <Application>Microsoft Office PowerPoint</Application>
  <PresentationFormat>Widescreen</PresentationFormat>
  <Paragraphs>405</Paragraphs>
  <Slides>31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Machine Learning Lifecycle</vt:lpstr>
      <vt:lpstr>Machine Learning Lifecycle</vt:lpstr>
      <vt:lpstr>Machine Learning Lifecycle(2)</vt:lpstr>
      <vt:lpstr>ML lifecycle phase — Business goal</vt:lpstr>
      <vt:lpstr>ML lifecycle phase — ML problem framing</vt:lpstr>
      <vt:lpstr>ML lifecycle architecture diagram</vt:lpstr>
      <vt:lpstr>ML lifecycle architecture diagram(2)</vt:lpstr>
      <vt:lpstr>ML lifecycle architecture diagram(3)</vt:lpstr>
      <vt:lpstr>ML lifecycle architecture diagram(4)</vt:lpstr>
      <vt:lpstr>ML lifecycle phase - Data processing</vt:lpstr>
      <vt:lpstr>ML lifecycle phase - Data processing(2)</vt:lpstr>
      <vt:lpstr>ML lifecycle phase - Data processing(3)</vt:lpstr>
      <vt:lpstr>ML lifecycle phase - Data processing(4)</vt:lpstr>
      <vt:lpstr>ML lifecycle phase - Data processing(5)</vt:lpstr>
      <vt:lpstr>ML lifecycle phase - Data processing(6)</vt:lpstr>
      <vt:lpstr>ML lifecycle phase - Data processing(7)</vt:lpstr>
      <vt:lpstr>ML lifecycle phase – Model development</vt:lpstr>
      <vt:lpstr>ML lifecycle phase – Model development(2)</vt:lpstr>
      <vt:lpstr>ML lifecycle phase – Model development(3)</vt:lpstr>
      <vt:lpstr>ML lifecycle phase – Model development(4)</vt:lpstr>
      <vt:lpstr>ML lifecycle phase – Model development(5)</vt:lpstr>
      <vt:lpstr>ML lifecycle phase – Model development(6)</vt:lpstr>
      <vt:lpstr>ML lifecycle phase - Deployment</vt:lpstr>
      <vt:lpstr>ML lifecycle phase – Deployment(2)</vt:lpstr>
      <vt:lpstr>ML lifecycle phase – Deployment(3)</vt:lpstr>
      <vt:lpstr>ML lifecycle phase – Monitoring</vt:lpstr>
      <vt:lpstr>ML lifecycle phase – Monitoring(2)</vt:lpstr>
      <vt:lpstr>Additional - Lineage tracker</vt:lpstr>
      <vt:lpstr>Lineage tracker</vt:lpstr>
      <vt:lpstr>Lineage tracker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275</cp:revision>
  <dcterms:created xsi:type="dcterms:W3CDTF">2018-10-16T06:13:57Z</dcterms:created>
  <dcterms:modified xsi:type="dcterms:W3CDTF">2023-12-03T02:10:07Z</dcterms:modified>
</cp:coreProperties>
</file>