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591" r:id="rId4"/>
    <p:sldId id="377" r:id="rId5"/>
    <p:sldId id="394" r:id="rId6"/>
    <p:sldId id="396" r:id="rId7"/>
    <p:sldId id="378" r:id="rId8"/>
    <p:sldId id="413" r:id="rId9"/>
    <p:sldId id="541" r:id="rId10"/>
    <p:sldId id="398" r:id="rId11"/>
    <p:sldId id="560" r:id="rId12"/>
    <p:sldId id="561" r:id="rId13"/>
    <p:sldId id="570" r:id="rId14"/>
    <p:sldId id="571" r:id="rId15"/>
    <p:sldId id="562" r:id="rId16"/>
    <p:sldId id="572" r:id="rId17"/>
    <p:sldId id="563" r:id="rId18"/>
    <p:sldId id="581" r:id="rId19"/>
    <p:sldId id="589" r:id="rId20"/>
    <p:sldId id="583" r:id="rId21"/>
    <p:sldId id="582" r:id="rId22"/>
    <p:sldId id="584" r:id="rId23"/>
    <p:sldId id="585" r:id="rId24"/>
    <p:sldId id="586" r:id="rId25"/>
    <p:sldId id="587" r:id="rId26"/>
    <p:sldId id="564" r:id="rId27"/>
    <p:sldId id="590" r:id="rId28"/>
    <p:sldId id="393" r:id="rId29"/>
    <p:sldId id="573" r:id="rId30"/>
    <p:sldId id="574" r:id="rId31"/>
    <p:sldId id="575" r:id="rId32"/>
    <p:sldId id="576" r:id="rId33"/>
    <p:sldId id="577" r:id="rId34"/>
    <p:sldId id="578" r:id="rId35"/>
    <p:sldId id="579" r:id="rId36"/>
    <p:sldId id="580" r:id="rId3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p:restoredTop sz="94667"/>
  </p:normalViewPr>
  <p:slideViewPr>
    <p:cSldViewPr snapToGrid="0">
      <p:cViewPr varScale="1">
        <p:scale>
          <a:sx n="64" d="100"/>
          <a:sy n="64" d="100"/>
        </p:scale>
        <p:origin x="16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27" name="Rectangle 3"/>
          <p:cNvSpPr/>
          <p:nvPr/>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28" name="Rectangle 4"/>
          <p:cNvSpPr/>
          <p:nvPr/>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29" name="Rectangle 5"/>
          <p:cNvSpPr/>
          <p:nvPr/>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30" name="Picture 10" descr="Picture 10"/>
          <p:cNvPicPr>
            <a:picLocks noChangeAspect="1"/>
          </p:cNvPicPr>
          <p:nvPr/>
        </p:nvPicPr>
        <p:blipFill>
          <a:blip r:embed="rId3"/>
          <a:srcRect t="2" b="28592"/>
          <a:stretch>
            <a:fillRect/>
          </a:stretch>
        </p:blipFill>
        <p:spPr>
          <a:xfrm>
            <a:off x="76200" y="3352800"/>
            <a:ext cx="2057400" cy="1979614"/>
          </a:xfrm>
          <a:prstGeom prst="rect">
            <a:avLst/>
          </a:prstGeom>
          <a:ln w="12700">
            <a:miter lim="400000"/>
          </a:ln>
        </p:spPr>
      </p:pic>
      <p:sp>
        <p:nvSpPr>
          <p:cNvPr id="31" name="TextBox 8"/>
          <p:cNvSpPr txBox="1"/>
          <p:nvPr/>
        </p:nvSpPr>
        <p:spPr>
          <a:xfrm>
            <a:off x="-30481"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4" name="Picture 8" descr="Picture 8"/>
          <p:cNvPicPr>
            <a:picLocks noChangeAspect="1"/>
          </p:cNvPicPr>
          <p:nvPr/>
        </p:nvPicPr>
        <p:blipFill>
          <a:blip r:embed="rId3"/>
          <a:srcRect t="2677" b="2677"/>
          <a:stretch>
            <a:fillRect/>
          </a:stretch>
        </p:blipFill>
        <p:spPr>
          <a:xfrm>
            <a:off x="6629400" y="0"/>
            <a:ext cx="2193925" cy="692150"/>
          </a:xfrm>
          <a:prstGeom prst="rect">
            <a:avLst/>
          </a:prstGeom>
          <a:ln w="12700">
            <a:miter lim="400000"/>
          </a:ln>
        </p:spPr>
      </p:pic>
      <p:sp>
        <p:nvSpPr>
          <p:cNvPr id="45" name="Rectangle 4"/>
          <p:cNvSpPr/>
          <p:nvPr/>
        </p:nvSpPr>
        <p:spPr>
          <a:xfrm>
            <a:off x="2882900" y="677545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46" name="Rectangle 5"/>
          <p:cNvSpPr/>
          <p:nvPr/>
        </p:nvSpPr>
        <p:spPr>
          <a:xfrm>
            <a:off x="-12700" y="677545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47" name="Rectangle 6"/>
          <p:cNvSpPr/>
          <p:nvPr/>
        </p:nvSpPr>
        <p:spPr>
          <a:xfrm>
            <a:off x="5778500" y="677545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sp>
        <p:nvSpPr>
          <p:cNvPr id="48" name="TextBox 7"/>
          <p:cNvSpPr txBox="1"/>
          <p:nvPr/>
        </p:nvSpPr>
        <p:spPr>
          <a:xfrm>
            <a:off x="6903719" y="7620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t>BITS</a:t>
            </a:r>
            <a:r>
              <a:rPr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0"/>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199" y="1600200"/>
            <a:ext cx="3008315" cy="4525963"/>
          </a:xfrm>
          <a:prstGeom prst="rect">
            <a:avLst/>
          </a:prstGeom>
        </p:spPr>
        <p:txBody>
          <a:bodyPr>
            <a:normAutofit/>
          </a:body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641099"/>
            <a:ext cx="9267429" cy="8253818"/>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57673"/>
              <a:chOff x="0" y="0"/>
              <a:chExt cx="9144001" cy="6857673"/>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641099"/>
            <a:ext cx="9267429" cy="8253818"/>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normAutofit fontScale="90000"/>
          </a:bodyPr>
          <a:lstStyle>
            <a:lvl1pPr>
              <a:defRPr spc="-200"/>
            </a:lvl1pPr>
          </a:lstStyle>
          <a:p>
            <a:pPr algn="ctr"/>
            <a:r>
              <a:rPr lang="en-US" dirty="0"/>
              <a:t>FDP </a:t>
            </a:r>
            <a:br>
              <a:rPr lang="en-US" dirty="0"/>
            </a:br>
            <a:r>
              <a:rPr lang="en-US" dirty="0"/>
              <a:t>From Pipelines to Production</a:t>
            </a:r>
            <a:endParaRPr dirty="0"/>
          </a:p>
        </p:txBody>
      </p:sp>
      <p:sp>
        <p:nvSpPr>
          <p:cNvPr id="351" name="Content Placeholder 5"/>
          <p:cNvSpPr txBox="1">
            <a:spLocks noGrp="1"/>
          </p:cNvSpPr>
          <p:nvPr>
            <p:ph type="body" sz="quarter" idx="1"/>
          </p:nvPr>
        </p:nvSpPr>
        <p:spPr>
          <a:prstGeom prst="rect">
            <a:avLst/>
          </a:prstGeom>
        </p:spPr>
        <p:txBody>
          <a:bodyPr>
            <a:noAutofit/>
          </a:bodyPr>
          <a:lstStyle/>
          <a:p>
            <a:pPr defTabSz="886968">
              <a:lnSpc>
                <a:spcPct val="150000"/>
              </a:lnSpc>
              <a:defRPr sz="1746"/>
            </a:pPr>
            <a:r>
              <a:rPr lang="en-US" sz="1600" dirty="0"/>
              <a:t>Dr. Shreyas Rao</a:t>
            </a:r>
          </a:p>
          <a:p>
            <a:pPr defTabSz="886968">
              <a:lnSpc>
                <a:spcPct val="150000"/>
              </a:lnSpc>
              <a:defRPr sz="1746"/>
            </a:pPr>
            <a:r>
              <a:rPr lang="en-US" sz="1600" dirty="0"/>
              <a:t>Professor, Dept. of CSIS, BITS-Pilani</a:t>
            </a:r>
            <a:endParaRPr sz="16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prstGeom prst="rect">
            <a:avLst/>
          </a:prstGeom>
        </p:spPr>
        <p:txBody>
          <a:bodyPr>
            <a:normAutofit fontScale="70000" lnSpcReduction="20000"/>
          </a:bodyPr>
          <a:lstStyle/>
          <a:p>
            <a:pPr algn="ctr" eaLnBrk="1" hangingPunct="1">
              <a:spcBef>
                <a:spcPct val="0"/>
              </a:spcBef>
              <a:defRPr/>
            </a:pPr>
            <a:r>
              <a:rPr lang="en-US" dirty="0"/>
              <a:t>Day 3</a:t>
            </a:r>
          </a:p>
          <a:p>
            <a:pPr algn="ctr" eaLnBrk="1" hangingPunct="1">
              <a:spcBef>
                <a:spcPct val="0"/>
              </a:spcBef>
              <a:defRPr/>
            </a:pPr>
            <a:r>
              <a:rPr lang="en-US" dirty="0">
                <a:latin typeface="Arial" charset="0"/>
                <a:cs typeface="Arial" charset="0"/>
              </a:rPr>
              <a:t>The Generative System: RAG, </a:t>
            </a:r>
            <a:r>
              <a:rPr lang="en-US" dirty="0" err="1">
                <a:latin typeface="Arial" charset="0"/>
                <a:cs typeface="Arial" charset="0"/>
              </a:rPr>
              <a:t>LLMOps</a:t>
            </a:r>
            <a:r>
              <a:rPr lang="en-US" dirty="0">
                <a:latin typeface="Arial" charset="0"/>
                <a:cs typeface="Arial" charset="0"/>
              </a:rPr>
              <a:t> and </a:t>
            </a:r>
            <a:r>
              <a:rPr lang="en-US" dirty="0" err="1">
                <a:latin typeface="Arial" charset="0"/>
                <a:cs typeface="Arial" charset="0"/>
              </a:rPr>
              <a:t>AgentOps</a:t>
            </a:r>
            <a:endParaRPr lang="en-US" dirty="0">
              <a:latin typeface="Arial" charset="0"/>
              <a:cs typeface="Arial"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04607-8F50-2DFB-B195-5A6E7BC4AE0A}"/>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B9EB5743-7349-12B3-C611-F9A3D017B40F}"/>
              </a:ext>
            </a:extLst>
          </p:cNvPr>
          <p:cNvSpPr txBox="1">
            <a:spLocks noGrp="1"/>
          </p:cNvSpPr>
          <p:nvPr>
            <p:ph type="body" idx="1"/>
          </p:nvPr>
        </p:nvSpPr>
        <p:spPr>
          <a:xfrm>
            <a:off x="250021" y="1400331"/>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457200" indent="-457200" algn="just">
              <a:lnSpc>
                <a:spcPct val="150000"/>
              </a:lnSpc>
              <a:spcBef>
                <a:spcPct val="0"/>
              </a:spcBef>
              <a:buFont typeface="+mj-lt"/>
              <a:buAutoNum type="arabicPeriod"/>
            </a:pPr>
            <a:r>
              <a:rPr lang="en-US" altLang="en-US" sz="2000" dirty="0">
                <a:solidFill>
                  <a:srgbClr val="002060"/>
                </a:solidFill>
                <a:latin typeface="Microsoft Sans Serif" panose="020B0604020202020204" pitchFamily="34" charset="0"/>
                <a:cs typeface="Microsoft Sans Serif" panose="020B0604020202020204" pitchFamily="34" charset="0"/>
              </a:rPr>
              <a:t>Build a Generative AI Application using RAG</a:t>
            </a:r>
          </a:p>
          <a:p>
            <a:pPr marL="457200" indent="-457200" algn="just">
              <a:lnSpc>
                <a:spcPct val="150000"/>
              </a:lnSpc>
              <a:spcBef>
                <a:spcPct val="0"/>
              </a:spcBef>
              <a:buFont typeface="+mj-lt"/>
              <a:buAutoNum type="arabicPeriod"/>
            </a:pPr>
            <a:r>
              <a:rPr lang="en-US" altLang="en-US" sz="2000" dirty="0">
                <a:solidFill>
                  <a:srgbClr val="FF0000"/>
                </a:solidFill>
                <a:latin typeface="Microsoft Sans Serif" panose="020B0604020202020204" pitchFamily="34" charset="0"/>
                <a:cs typeface="Microsoft Sans Serif" panose="020B0604020202020204" pitchFamily="34" charset="0"/>
              </a:rPr>
              <a:t>Implement </a:t>
            </a:r>
            <a:r>
              <a:rPr lang="en-US" altLang="en-US" sz="2000" dirty="0" err="1">
                <a:solidFill>
                  <a:srgbClr val="FF0000"/>
                </a:solidFill>
                <a:latin typeface="Microsoft Sans Serif" panose="020B0604020202020204" pitchFamily="34" charset="0"/>
                <a:cs typeface="Microsoft Sans Serif" panose="020B0604020202020204" pitchFamily="34" charset="0"/>
              </a:rPr>
              <a:t>LLMOps</a:t>
            </a:r>
            <a:r>
              <a:rPr lang="en-US" altLang="en-US" sz="2000" dirty="0">
                <a:solidFill>
                  <a:srgbClr val="FF0000"/>
                </a:solidFill>
                <a:latin typeface="Microsoft Sans Serif" panose="020B0604020202020204" pitchFamily="34" charset="0"/>
                <a:cs typeface="Microsoft Sans Serif" panose="020B0604020202020204" pitchFamily="34" charset="0"/>
              </a:rPr>
              <a:t> for the RAG application and analyze </a:t>
            </a:r>
            <a:r>
              <a:rPr lang="en-US" altLang="en-US" sz="2000">
                <a:solidFill>
                  <a:srgbClr val="FF0000"/>
                </a:solidFill>
                <a:latin typeface="Microsoft Sans Serif" panose="020B0604020202020204" pitchFamily="34" charset="0"/>
                <a:cs typeface="Microsoft Sans Serif" panose="020B0604020202020204" pitchFamily="34" charset="0"/>
              </a:rPr>
              <a:t>the metrics</a:t>
            </a:r>
            <a:endParaRPr lang="en-US" altLang="en-US" sz="2000" dirty="0">
              <a:solidFill>
                <a:srgbClr val="FF0000"/>
              </a:solidFill>
              <a:latin typeface="Microsoft Sans Serif" panose="020B0604020202020204" pitchFamily="34" charset="0"/>
              <a:cs typeface="Microsoft Sans Serif" panose="020B0604020202020204" pitchFamily="34" charset="0"/>
            </a:endParaRPr>
          </a:p>
          <a:p>
            <a:pPr marL="457200" indent="-457200" algn="just">
              <a:lnSpc>
                <a:spcPct val="150000"/>
              </a:lnSpc>
              <a:spcBef>
                <a:spcPct val="0"/>
              </a:spcBef>
              <a:buFont typeface="+mj-lt"/>
              <a:buAutoNum type="arabicPeriod"/>
            </a:pPr>
            <a:r>
              <a:rPr lang="en-US" altLang="en-US" sz="2000" dirty="0">
                <a:solidFill>
                  <a:srgbClr val="00B050"/>
                </a:solidFill>
                <a:latin typeface="Microsoft Sans Serif" panose="020B0604020202020204" pitchFamily="34" charset="0"/>
                <a:cs typeface="Microsoft Sans Serif" panose="020B0604020202020204" pitchFamily="34" charset="0"/>
              </a:rPr>
              <a:t>Implement </a:t>
            </a:r>
            <a:r>
              <a:rPr lang="en-US" altLang="en-US" sz="2000" dirty="0" err="1">
                <a:solidFill>
                  <a:srgbClr val="00B050"/>
                </a:solidFill>
                <a:latin typeface="Microsoft Sans Serif" panose="020B0604020202020204" pitchFamily="34" charset="0"/>
                <a:cs typeface="Microsoft Sans Serif" panose="020B0604020202020204" pitchFamily="34" charset="0"/>
              </a:rPr>
              <a:t>AgentOps</a:t>
            </a:r>
            <a:r>
              <a:rPr lang="en-US" altLang="en-US" sz="2000" dirty="0">
                <a:solidFill>
                  <a:srgbClr val="00B050"/>
                </a:solidFill>
                <a:latin typeface="Microsoft Sans Serif" panose="020B0604020202020204" pitchFamily="34" charset="0"/>
                <a:cs typeface="Microsoft Sans Serif" panose="020B0604020202020204" pitchFamily="34" charset="0"/>
              </a:rPr>
              <a:t> for AI Agents</a:t>
            </a:r>
          </a:p>
        </p:txBody>
      </p:sp>
      <p:sp>
        <p:nvSpPr>
          <p:cNvPr id="356" name="Content Placeholder 4">
            <a:extLst>
              <a:ext uri="{FF2B5EF4-FFF2-40B4-BE49-F238E27FC236}">
                <a16:creationId xmlns:a16="http://schemas.microsoft.com/office/drawing/2014/main" id="{64DEC834-F624-4BA9-52CF-42905E8EC136}"/>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Objectives</a:t>
            </a:r>
          </a:p>
        </p:txBody>
      </p:sp>
    </p:spTree>
    <p:extLst>
      <p:ext uri="{BB962C8B-B14F-4D97-AF65-F5344CB8AC3E}">
        <p14:creationId xmlns:p14="http://schemas.microsoft.com/office/powerpoint/2010/main" val="427163345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F242-EF0D-F6D6-6A32-73AB013226F2}"/>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5FE84E80-C3D7-ADE1-83B1-AE74D0619BC6}"/>
              </a:ext>
            </a:extLst>
          </p:cNvPr>
          <p:cNvSpPr txBox="1">
            <a:spLocks noGrp="1"/>
          </p:cNvSpPr>
          <p:nvPr>
            <p:ph type="body" sz="half" idx="1"/>
          </p:nvPr>
        </p:nvSpPr>
        <p:spPr>
          <a:prstGeom prst="rect">
            <a:avLst/>
          </a:prstGeom>
        </p:spPr>
        <p:txBody>
          <a:bodyPr>
            <a:normAutofit/>
          </a:bodyPr>
          <a:lstStyle/>
          <a:p>
            <a:pPr lvl="0" algn="ctr"/>
            <a:r>
              <a:rPr lang="en-US" sz="2800" u="sng" dirty="0"/>
              <a:t>Basics</a:t>
            </a:r>
          </a:p>
          <a:p>
            <a:pPr lvl="0" algn="ctr"/>
            <a:r>
              <a:rPr lang="en-US" sz="2800" dirty="0"/>
              <a:t>AI Paradigms: Predictive, Generative, and Agentic AI</a:t>
            </a:r>
          </a:p>
        </p:txBody>
      </p:sp>
      <p:sp>
        <p:nvSpPr>
          <p:cNvPr id="3" name="TextBox 2">
            <a:extLst>
              <a:ext uri="{FF2B5EF4-FFF2-40B4-BE49-F238E27FC236}">
                <a16:creationId xmlns:a16="http://schemas.microsoft.com/office/drawing/2014/main" id="{584D25DF-0199-722E-3607-2C95276259F3}"/>
              </a:ext>
            </a:extLst>
          </p:cNvPr>
          <p:cNvSpPr txBox="1"/>
          <p:nvPr/>
        </p:nvSpPr>
        <p:spPr>
          <a:xfrm>
            <a:off x="557841" y="5793357"/>
            <a:ext cx="7952117"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J. Schneider, "Generative to agentic AI: Survey, conceptualization, and challenges," </a:t>
            </a:r>
            <a:r>
              <a:rPr lang="en-US" dirty="0" err="1"/>
              <a:t>arXiv</a:t>
            </a:r>
            <a:r>
              <a:rPr lang="en-US" dirty="0"/>
              <a:t> preprint, arXiv:2504.18875, 2025. </a:t>
            </a:r>
            <a:r>
              <a:rPr lang="en-US" dirty="0" err="1"/>
              <a:t>doi</a:t>
            </a:r>
            <a:r>
              <a:rPr lang="en-US" dirty="0"/>
              <a:t>: 10.48550/arXiv.2504.18875</a:t>
            </a:r>
          </a:p>
        </p:txBody>
      </p:sp>
    </p:spTree>
    <p:extLst>
      <p:ext uri="{BB962C8B-B14F-4D97-AF65-F5344CB8AC3E}">
        <p14:creationId xmlns:p14="http://schemas.microsoft.com/office/powerpoint/2010/main" val="262611463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0806-9BDA-C230-8603-041DFE5FF046}"/>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9D46452-228C-692D-16C4-E33D2F74D6D7}"/>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Predictive AI</a:t>
            </a:r>
            <a:r>
              <a:rPr lang="en-US" altLang="en-US" sz="2000" dirty="0">
                <a:latin typeface="Microsoft Sans Serif" panose="020B0604020202020204" pitchFamily="34" charset="0"/>
                <a:cs typeface="Microsoft Sans Serif" panose="020B0604020202020204" pitchFamily="34" charset="0"/>
              </a:rPr>
              <a:t>: Uses past data to predict future outcomes.</a:t>
            </a:r>
          </a:p>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Generative AI</a:t>
            </a:r>
            <a:r>
              <a:rPr lang="en-US" altLang="en-US" sz="2000" dirty="0">
                <a:latin typeface="Microsoft Sans Serif" panose="020B0604020202020204" pitchFamily="34" charset="0"/>
                <a:cs typeface="Microsoft Sans Serif" panose="020B0604020202020204" pitchFamily="34" charset="0"/>
              </a:rPr>
              <a:t>: Creates new content based on learned patterns.</a:t>
            </a:r>
          </a:p>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Agentic AI</a:t>
            </a:r>
            <a:r>
              <a:rPr lang="en-US" altLang="en-US" sz="2000" dirty="0">
                <a:latin typeface="Microsoft Sans Serif" panose="020B0604020202020204" pitchFamily="34" charset="0"/>
                <a:cs typeface="Microsoft Sans Serif" panose="020B0604020202020204" pitchFamily="34" charset="0"/>
              </a:rPr>
              <a:t>: Acts autonomously to achieve goals using reasoning and tools.</a:t>
            </a:r>
          </a:p>
        </p:txBody>
      </p:sp>
      <p:sp>
        <p:nvSpPr>
          <p:cNvPr id="356" name="Content Placeholder 4">
            <a:extLst>
              <a:ext uri="{FF2B5EF4-FFF2-40B4-BE49-F238E27FC236}">
                <a16:creationId xmlns:a16="http://schemas.microsoft.com/office/drawing/2014/main" id="{FA6E120C-BA76-B7D1-EF6F-BBCCD9E245A7}"/>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Differences</a:t>
            </a:r>
          </a:p>
        </p:txBody>
      </p:sp>
    </p:spTree>
    <p:extLst>
      <p:ext uri="{BB962C8B-B14F-4D97-AF65-F5344CB8AC3E}">
        <p14:creationId xmlns:p14="http://schemas.microsoft.com/office/powerpoint/2010/main" val="306993491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E019C-071A-694A-FCCE-17D204437EE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20373009-FE6A-A69C-D725-A75B527909CC}"/>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2000" b="1" dirty="0">
                <a:latin typeface="Microsoft Sans Serif" panose="020B0604020202020204" pitchFamily="34" charset="0"/>
                <a:cs typeface="Microsoft Sans Serif" panose="020B0604020202020204" pitchFamily="34" charset="0"/>
              </a:rPr>
              <a:t>Definition</a:t>
            </a:r>
          </a:p>
          <a:p>
            <a:pPr marL="0" indent="0" algn="just">
              <a:lnSpc>
                <a:spcPct val="150000"/>
              </a:lnSpc>
              <a:spcBef>
                <a:spcPct val="0"/>
              </a:spcBef>
            </a:pPr>
            <a:r>
              <a:rPr lang="en-US" altLang="en-US" sz="2000" b="1" dirty="0">
                <a:solidFill>
                  <a:srgbClr val="002060"/>
                </a:solidFill>
                <a:latin typeface="Microsoft Sans Serif" panose="020B0604020202020204" pitchFamily="34" charset="0"/>
                <a:cs typeface="Microsoft Sans Serif" panose="020B0604020202020204" pitchFamily="34" charset="0"/>
              </a:rPr>
              <a:t>A system based on a foundation model that generates digital artifacts based on natural user instructions.</a:t>
            </a:r>
          </a:p>
          <a:p>
            <a:pPr marL="0" indent="0" algn="just">
              <a:lnSpc>
                <a:spcPct val="150000"/>
              </a:lnSpc>
              <a:spcBef>
                <a:spcPct val="0"/>
              </a:spcBef>
            </a:pPr>
            <a:r>
              <a:rPr lang="en-US" altLang="en-US" sz="2000" dirty="0">
                <a:latin typeface="Microsoft Sans Serif" panose="020B0604020202020204" pitchFamily="34" charset="0"/>
                <a:cs typeface="Microsoft Sans Serif" panose="020B0604020202020204" pitchFamily="34" charset="0"/>
              </a:rPr>
              <a:t>Digital artifacts can range from simple binary outputs to complex forms like text, images, and videos. </a:t>
            </a:r>
          </a:p>
          <a:p>
            <a:pPr marL="0" indent="0" algn="just">
              <a:lnSpc>
                <a:spcPct val="150000"/>
              </a:lnSpc>
              <a:spcBef>
                <a:spcPct val="0"/>
              </a:spcBef>
            </a:pPr>
            <a:r>
              <a:rPr lang="en-US" altLang="en-US" sz="2000" dirty="0">
                <a:latin typeface="Microsoft Sans Serif" panose="020B0604020202020204" pitchFamily="34" charset="0"/>
                <a:cs typeface="Microsoft Sans Serif" panose="020B0604020202020204" pitchFamily="34" charset="0"/>
              </a:rPr>
              <a:t>Natural user instructions are easy for humans to understand and do not require technical knowledge, such as everyday language or visual inputs like photos or sketches.</a:t>
            </a:r>
          </a:p>
        </p:txBody>
      </p:sp>
      <p:sp>
        <p:nvSpPr>
          <p:cNvPr id="356" name="Content Placeholder 4">
            <a:extLst>
              <a:ext uri="{FF2B5EF4-FFF2-40B4-BE49-F238E27FC236}">
                <a16:creationId xmlns:a16="http://schemas.microsoft.com/office/drawing/2014/main" id="{15C4136A-CA0C-C403-2C86-B09224FDB977}"/>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AI</a:t>
            </a:r>
          </a:p>
        </p:txBody>
      </p:sp>
    </p:spTree>
    <p:extLst>
      <p:ext uri="{BB962C8B-B14F-4D97-AF65-F5344CB8AC3E}">
        <p14:creationId xmlns:p14="http://schemas.microsoft.com/office/powerpoint/2010/main" val="40253475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CFBD8-D6CE-F9A8-1816-8672F3C333D8}"/>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3F262E9-AAFA-BACB-4604-C3E3706D105F}"/>
              </a:ext>
            </a:extLst>
          </p:cNvPr>
          <p:cNvSpPr txBox="1"/>
          <p:nvPr/>
        </p:nvSpPr>
        <p:spPr>
          <a:xfrm>
            <a:off x="350519" y="15240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AI Architecture</a:t>
            </a:r>
          </a:p>
        </p:txBody>
      </p:sp>
      <p:pic>
        <p:nvPicPr>
          <p:cNvPr id="4" name="Picture 2" descr="https://media.licdn.com/dms/image/v2/D5612AQHv3C4Uckfc0g/article-cover_image-shrink_720_1280/article-cover_image-shrink_720_1280/0/1710287868667?e=1746057600&amp;v=beta&amp;t=Ey6NLwwTsfl6tuffvs1wKFpFhyZ1le36XfkDkEnHIq0">
            <a:extLst>
              <a:ext uri="{FF2B5EF4-FFF2-40B4-BE49-F238E27FC236}">
                <a16:creationId xmlns:a16="http://schemas.microsoft.com/office/drawing/2014/main" id="{1264548B-921C-FC39-F6CF-528FCE38A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266" y="1526875"/>
            <a:ext cx="6233162" cy="481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487515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C6B0-84CC-B2A5-31A6-BE295C8621F6}"/>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2D6CC6B-4103-233B-E204-8D1663217F9B}"/>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vs Predictive AI</a:t>
            </a:r>
          </a:p>
        </p:txBody>
      </p:sp>
      <p:pic>
        <p:nvPicPr>
          <p:cNvPr id="3" name="Picture 2">
            <a:extLst>
              <a:ext uri="{FF2B5EF4-FFF2-40B4-BE49-F238E27FC236}">
                <a16:creationId xmlns:a16="http://schemas.microsoft.com/office/drawing/2014/main" id="{62C8F44C-1DD4-E42D-5E30-F1F8BE187AC8}"/>
              </a:ext>
            </a:extLst>
          </p:cNvPr>
          <p:cNvPicPr>
            <a:picLocks noChangeAspect="1"/>
          </p:cNvPicPr>
          <p:nvPr/>
        </p:nvPicPr>
        <p:blipFill>
          <a:blip r:embed="rId2"/>
          <a:stretch>
            <a:fillRect/>
          </a:stretch>
        </p:blipFill>
        <p:spPr>
          <a:xfrm>
            <a:off x="299480" y="1477927"/>
            <a:ext cx="5460249" cy="4593089"/>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63434227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F14CB-40E6-4928-9F5B-3400A64558D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6A1747E6-7E72-2A04-E419-7C752F651799}"/>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1 [Nvidia]</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uses sophisticated reasoning and iterative planning to autonomously solve complex, multi-step problems.“</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2 [OpenAI]</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systems are AI systems that can pursue complex goals with limited direct supervision" </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3</a:t>
            </a:r>
            <a:endParaRPr lang="en-US" altLang="en-US" sz="1800" dirty="0">
              <a:latin typeface="Microsoft Sans Serif" panose="020B0604020202020204" pitchFamily="34" charset="0"/>
              <a:cs typeface="Microsoft Sans Serif" panose="020B0604020202020204" pitchFamily="34" charset="0"/>
            </a:endParaRP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 system based on a foundation model that performs tasks potentially yielding artifacts based on natural user instructions, where the system is able to conduct and express complex reasoning including planning and reflection to solve tasks that require interaction with an environment or elaborate tool use”</a:t>
            </a:r>
          </a:p>
        </p:txBody>
      </p:sp>
      <p:sp>
        <p:nvSpPr>
          <p:cNvPr id="356" name="Content Placeholder 4">
            <a:extLst>
              <a:ext uri="{FF2B5EF4-FFF2-40B4-BE49-F238E27FC236}">
                <a16:creationId xmlns:a16="http://schemas.microsoft.com/office/drawing/2014/main" id="{60EEFA40-5136-82F6-172C-609D455BFE13}"/>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Agentic AI</a:t>
            </a:r>
          </a:p>
        </p:txBody>
      </p:sp>
    </p:spTree>
    <p:extLst>
      <p:ext uri="{BB962C8B-B14F-4D97-AF65-F5344CB8AC3E}">
        <p14:creationId xmlns:p14="http://schemas.microsoft.com/office/powerpoint/2010/main" val="19725149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F7BF-F859-3137-6300-53B47D4BEC5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B957BCA-1BD8-C7B6-3C46-277098F29AB4}"/>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vs Agentic AI</a:t>
            </a:r>
          </a:p>
        </p:txBody>
      </p:sp>
      <p:pic>
        <p:nvPicPr>
          <p:cNvPr id="5" name="Picture 4">
            <a:extLst>
              <a:ext uri="{FF2B5EF4-FFF2-40B4-BE49-F238E27FC236}">
                <a16:creationId xmlns:a16="http://schemas.microsoft.com/office/drawing/2014/main" id="{B373C8A2-61A2-5533-CCED-0B6453FDF33B}"/>
              </a:ext>
            </a:extLst>
          </p:cNvPr>
          <p:cNvPicPr>
            <a:picLocks noChangeAspect="1"/>
          </p:cNvPicPr>
          <p:nvPr/>
        </p:nvPicPr>
        <p:blipFill>
          <a:blip r:embed="rId2"/>
          <a:stretch>
            <a:fillRect/>
          </a:stretch>
        </p:blipFill>
        <p:spPr>
          <a:xfrm>
            <a:off x="138023" y="1418675"/>
            <a:ext cx="7409666" cy="4188493"/>
          </a:xfrm>
          <a:prstGeom prst="rect">
            <a:avLst/>
          </a:prstGeom>
        </p:spPr>
      </p:pic>
      <p:sp>
        <p:nvSpPr>
          <p:cNvPr id="6" name="TextBox 5">
            <a:extLst>
              <a:ext uri="{FF2B5EF4-FFF2-40B4-BE49-F238E27FC236}">
                <a16:creationId xmlns:a16="http://schemas.microsoft.com/office/drawing/2014/main" id="{C27CDB60-2570-5EC0-633C-9206B0B742D5}"/>
              </a:ext>
            </a:extLst>
          </p:cNvPr>
          <p:cNvSpPr txBox="1"/>
          <p:nvPr/>
        </p:nvSpPr>
        <p:spPr>
          <a:xfrm>
            <a:off x="517586" y="5607169"/>
            <a:ext cx="841319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solidFill>
                  <a:srgbClr val="002060"/>
                </a:solidFill>
                <a:latin typeface="Microsoft Sans Serif" panose="020B0604020202020204" pitchFamily="34" charset="0"/>
                <a:ea typeface="Open Sans"/>
                <a:cs typeface="Microsoft Sans Serif" panose="020B0604020202020204" pitchFamily="34" charset="0"/>
                <a:sym typeface="Open Sans"/>
              </a:rPr>
              <a:t>Generative AI: "Tell me what to do, I’ll generate an answer"</a:t>
            </a:r>
          </a:p>
          <a:p>
            <a:r>
              <a:rPr lang="en-US" sz="1600" dirty="0">
                <a:solidFill>
                  <a:srgbClr val="00B050"/>
                </a:solidFill>
                <a:latin typeface="Microsoft Sans Serif" panose="020B0604020202020204" pitchFamily="34" charset="0"/>
                <a:ea typeface="Open Sans"/>
                <a:cs typeface="Microsoft Sans Serif" panose="020B0604020202020204" pitchFamily="34" charset="0"/>
                <a:sym typeface="Open Sans"/>
              </a:rPr>
              <a:t>Agentic AI: "Give me a goal, I’ll figure out the steps, act, and improve until it’s done"</a:t>
            </a:r>
          </a:p>
          <a:p>
            <a:r>
              <a:rPr lang="en-US" sz="1600" dirty="0">
                <a:solidFill>
                  <a:srgbClr val="FF0000"/>
                </a:solidFill>
                <a:latin typeface="Microsoft Sans Serif" panose="020B0604020202020204" pitchFamily="34" charset="0"/>
                <a:ea typeface="Open Sans"/>
                <a:cs typeface="Microsoft Sans Serif" panose="020B0604020202020204" pitchFamily="34" charset="0"/>
                <a:sym typeface="Open Sans"/>
              </a:rPr>
              <a:t>Generative AI + Reasoning + Tools + Feedback Loops → Agentic AI</a:t>
            </a:r>
          </a:p>
        </p:txBody>
      </p:sp>
    </p:spTree>
    <p:extLst>
      <p:ext uri="{BB962C8B-B14F-4D97-AF65-F5344CB8AC3E}">
        <p14:creationId xmlns:p14="http://schemas.microsoft.com/office/powerpoint/2010/main" val="11914462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D2AD-E84F-96A0-A045-815C9598A382}"/>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270431EA-56E9-A31D-7A9D-31A292AAE8DA}"/>
              </a:ext>
            </a:extLst>
          </p:cNvPr>
          <p:cNvSpPr txBox="1">
            <a:spLocks noGrp="1"/>
          </p:cNvSpPr>
          <p:nvPr>
            <p:ph type="body" sz="half" idx="1"/>
          </p:nvPr>
        </p:nvSpPr>
        <p:spPr>
          <a:prstGeom prst="rect">
            <a:avLst/>
          </a:prstGeom>
        </p:spPr>
        <p:txBody>
          <a:bodyPr/>
          <a:lstStyle/>
          <a:p>
            <a:pPr algn="ctr">
              <a:spcBef>
                <a:spcPct val="0"/>
              </a:spcBef>
              <a:defRPr/>
            </a:pPr>
            <a:r>
              <a:rPr lang="en-US" dirty="0"/>
              <a:t>Accessing LLMs through APIs</a:t>
            </a:r>
          </a:p>
        </p:txBody>
      </p:sp>
    </p:spTree>
    <p:extLst>
      <p:ext uri="{BB962C8B-B14F-4D97-AF65-F5344CB8AC3E}">
        <p14:creationId xmlns:p14="http://schemas.microsoft.com/office/powerpoint/2010/main" val="6729733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A676-8534-6BEE-F100-652B80385D2C}"/>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BE5F17D5-6232-C847-E207-5D9483091CFD}"/>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API</a:t>
            </a:r>
          </a:p>
        </p:txBody>
      </p:sp>
      <p:sp>
        <p:nvSpPr>
          <p:cNvPr id="5" name="TextBox 4">
            <a:extLst>
              <a:ext uri="{FF2B5EF4-FFF2-40B4-BE49-F238E27FC236}">
                <a16:creationId xmlns:a16="http://schemas.microsoft.com/office/drawing/2014/main" id="{93EE0FCF-47DB-2443-3246-C2F2ED8AFB03}"/>
              </a:ext>
            </a:extLst>
          </p:cNvPr>
          <p:cNvSpPr txBox="1"/>
          <p:nvPr/>
        </p:nvSpPr>
        <p:spPr>
          <a:xfrm>
            <a:off x="299479" y="1750501"/>
            <a:ext cx="3627944" cy="17018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71450" lvl="0" indent="-171450">
              <a:lnSpc>
                <a:spcPct val="150000"/>
              </a:lnSpc>
              <a:buFont typeface="Arial" panose="020B0604020202020204" pitchFamily="34" charset="0"/>
              <a:buChar char="•"/>
            </a:pPr>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APIs are a standard way for applications to communicate over the web</a:t>
            </a:r>
          </a:p>
          <a:p>
            <a:pPr marL="171450" lvl="0" indent="-171450">
              <a:lnSpc>
                <a:spcPct val="150000"/>
              </a:lnSpc>
              <a:buFont typeface="Arial" panose="020B0604020202020204" pitchFamily="34" charset="0"/>
              <a:buChar char="•"/>
            </a:pPr>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Use HTTP Protocol</a:t>
            </a:r>
          </a:p>
        </p:txBody>
      </p:sp>
      <p:pic>
        <p:nvPicPr>
          <p:cNvPr id="7" name="Picture 2" descr="What Is an API Endpoint? (And Why Are They So Important?)">
            <a:extLst>
              <a:ext uri="{FF2B5EF4-FFF2-40B4-BE49-F238E27FC236}">
                <a16:creationId xmlns:a16="http://schemas.microsoft.com/office/drawing/2014/main" id="{9575CA0C-39BF-B016-F560-20060E70B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2217" y="1630579"/>
            <a:ext cx="4493351" cy="22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D7E48651-C168-E3BB-9546-E7A3C91E33E3}"/>
              </a:ext>
            </a:extLst>
          </p:cNvPr>
          <p:cNvPicPr>
            <a:picLocks noChangeAspect="1"/>
          </p:cNvPicPr>
          <p:nvPr/>
        </p:nvPicPr>
        <p:blipFill>
          <a:blip r:embed="rId3"/>
          <a:stretch>
            <a:fillRect/>
          </a:stretch>
        </p:blipFill>
        <p:spPr>
          <a:xfrm>
            <a:off x="296410" y="4519934"/>
            <a:ext cx="8343230" cy="1575658"/>
          </a:xfrm>
          <a:prstGeom prst="rect">
            <a:avLst/>
          </a:prstGeom>
        </p:spPr>
      </p:pic>
    </p:spTree>
    <p:extLst>
      <p:ext uri="{BB962C8B-B14F-4D97-AF65-F5344CB8AC3E}">
        <p14:creationId xmlns:p14="http://schemas.microsoft.com/office/powerpoint/2010/main" val="117478615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FAB39-423F-499E-ACD5-78989EB24719}"/>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83FC45BE-3058-2813-32A7-0F7B49611E14}"/>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API - Request, Endpoint, &amp; Response</a:t>
            </a:r>
          </a:p>
        </p:txBody>
      </p:sp>
      <p:pic>
        <p:nvPicPr>
          <p:cNvPr id="4" name="Picture 3">
            <a:extLst>
              <a:ext uri="{FF2B5EF4-FFF2-40B4-BE49-F238E27FC236}">
                <a16:creationId xmlns:a16="http://schemas.microsoft.com/office/drawing/2014/main" id="{C820D1D9-BC49-9CF4-5010-A272779ADA5E}"/>
              </a:ext>
            </a:extLst>
          </p:cNvPr>
          <p:cNvPicPr>
            <a:picLocks noChangeAspect="1"/>
          </p:cNvPicPr>
          <p:nvPr/>
        </p:nvPicPr>
        <p:blipFill>
          <a:blip r:embed="rId2"/>
          <a:stretch>
            <a:fillRect/>
          </a:stretch>
        </p:blipFill>
        <p:spPr>
          <a:xfrm>
            <a:off x="472810" y="1562462"/>
            <a:ext cx="7100111" cy="4733407"/>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99853492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9EF2-1283-B389-CCF5-C1DFCFDF956E}"/>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07490A5-BA9A-D44A-4B16-825DF634D46F}"/>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Some Examples</a:t>
            </a:r>
          </a:p>
        </p:txBody>
      </p:sp>
      <p:sp>
        <p:nvSpPr>
          <p:cNvPr id="3" name="TextBox 2">
            <a:extLst>
              <a:ext uri="{FF2B5EF4-FFF2-40B4-BE49-F238E27FC236}">
                <a16:creationId xmlns:a16="http://schemas.microsoft.com/office/drawing/2014/main" id="{FDF9FCC5-319A-1844-1324-5AD8BA1384AA}"/>
              </a:ext>
            </a:extLst>
          </p:cNvPr>
          <p:cNvSpPr txBox="1"/>
          <p:nvPr/>
        </p:nvSpPr>
        <p:spPr>
          <a:xfrm>
            <a:off x="172387" y="1502688"/>
            <a:ext cx="8551888"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Hugging Face -&gt; https://router.huggingface.co/v1/chat/completions</a:t>
            </a: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AWS Bedrock -&gt; </a:t>
            </a:r>
            <a:r>
              <a:rPr lang="en-US" altLang="en-US" dirty="0">
                <a:latin typeface="Microsoft Sans Serif" panose="020B0604020202020204" pitchFamily="34" charset="0"/>
                <a:ea typeface="Microsoft Sans Serif" panose="020B0604020202020204" pitchFamily="34" charset="0"/>
                <a:cs typeface="Microsoft Sans Serif" panose="020B0604020202020204" pitchFamily="34" charset="0"/>
              </a:rPr>
              <a:t>https://bedrock.us-east-1.amazonaws.com/models [Returns list of models]</a:t>
            </a:r>
          </a:p>
          <a:p>
            <a:pPr mar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AWS Bedrock -&gt; </a:t>
            </a:r>
            <a:r>
              <a:rPr lang="en-US" altLang="en-US" dirty="0">
                <a:latin typeface="Microsoft Sans Serif" panose="020B0604020202020204" pitchFamily="34" charset="0"/>
                <a:ea typeface="Microsoft Sans Serif" panose="020B0604020202020204" pitchFamily="34" charset="0"/>
                <a:cs typeface="Microsoft Sans Serif" panose="020B0604020202020204" pitchFamily="34" charset="0"/>
              </a:rPr>
              <a:t>https://bedrock.us-east-1.amazonaws.com/models/{model-id}/invoke [Inference]</a:t>
            </a:r>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Google Gemini -&gt; https://generativelanguage.googleapis.com/v1beta/{model}</a:t>
            </a: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OpenAI -&gt; https://api.openai.com/v1/responses</a:t>
            </a: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Cohere -&gt; https://api.cohere.ai/v2/chat</a:t>
            </a: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Mistral -&gt; https://api.mistral.ai/v1/chat/completions</a:t>
            </a:r>
          </a:p>
          <a:p>
            <a:pPr marL="0" lvl="0" indent="0"/>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gn="ctr"/>
            <a:r>
              <a:rPr lang="en-US"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All are REST / OpenAI-compatible APIs, with “POST” as the HTTP method</a:t>
            </a:r>
          </a:p>
        </p:txBody>
      </p:sp>
    </p:spTree>
    <p:extLst>
      <p:ext uri="{BB962C8B-B14F-4D97-AF65-F5344CB8AC3E}">
        <p14:creationId xmlns:p14="http://schemas.microsoft.com/office/powerpoint/2010/main" val="322006487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8770-95CF-5251-FCB3-9FA35F2974A7}"/>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421B0B4-5371-E801-19F0-E3997E399291}"/>
              </a:ext>
            </a:extLst>
          </p:cNvPr>
          <p:cNvSpPr txBox="1"/>
          <p:nvPr/>
        </p:nvSpPr>
        <p:spPr>
          <a:xfrm>
            <a:off x="149523" y="13741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Approach to Access LLMs: Through APIs</a:t>
            </a:r>
          </a:p>
        </p:txBody>
      </p:sp>
      <p:pic>
        <p:nvPicPr>
          <p:cNvPr id="7" name="Picture 6">
            <a:extLst>
              <a:ext uri="{FF2B5EF4-FFF2-40B4-BE49-F238E27FC236}">
                <a16:creationId xmlns:a16="http://schemas.microsoft.com/office/drawing/2014/main" id="{3CE0DCDE-D02F-7A53-881E-830197B5FE14}"/>
              </a:ext>
            </a:extLst>
          </p:cNvPr>
          <p:cNvPicPr>
            <a:picLocks noChangeAspect="1"/>
          </p:cNvPicPr>
          <p:nvPr/>
        </p:nvPicPr>
        <p:blipFill>
          <a:blip r:embed="rId2"/>
          <a:stretch>
            <a:fillRect/>
          </a:stretch>
        </p:blipFill>
        <p:spPr>
          <a:xfrm>
            <a:off x="305162" y="1589364"/>
            <a:ext cx="7104727" cy="4736485"/>
          </a:xfrm>
          <a:prstGeom prst="rect">
            <a:avLst/>
          </a:prstGeom>
        </p:spPr>
      </p:pic>
    </p:spTree>
    <p:extLst>
      <p:ext uri="{BB962C8B-B14F-4D97-AF65-F5344CB8AC3E}">
        <p14:creationId xmlns:p14="http://schemas.microsoft.com/office/powerpoint/2010/main" val="122835693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7B56-153E-2F52-D4ED-CB0D12E7A8B2}"/>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FE20E3F-07CC-258A-E49D-159F66105BBB}"/>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LLMs can be accessed by applications through APIs exposed by model providers such as OpenAI, Google Gemini, AWS Bedrock, Hugging Face, Cohere, and Mistral AI</a:t>
            </a:r>
          </a:p>
        </p:txBody>
      </p:sp>
      <p:sp>
        <p:nvSpPr>
          <p:cNvPr id="356" name="Content Placeholder 4">
            <a:extLst>
              <a:ext uri="{FF2B5EF4-FFF2-40B4-BE49-F238E27FC236}">
                <a16:creationId xmlns:a16="http://schemas.microsoft.com/office/drawing/2014/main" id="{89B00056-EB0D-B780-D472-CAEB0B39F1F3}"/>
              </a:ext>
            </a:extLst>
          </p:cNvPr>
          <p:cNvSpPr txBox="1"/>
          <p:nvPr/>
        </p:nvSpPr>
        <p:spPr>
          <a:xfrm>
            <a:off x="299479" y="0"/>
            <a:ext cx="6940769"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Text, Image &amp; Multi-modal Models</a:t>
            </a:r>
          </a:p>
        </p:txBody>
      </p:sp>
      <p:pic>
        <p:nvPicPr>
          <p:cNvPr id="3" name="Picture 2">
            <a:extLst>
              <a:ext uri="{FF2B5EF4-FFF2-40B4-BE49-F238E27FC236}">
                <a16:creationId xmlns:a16="http://schemas.microsoft.com/office/drawing/2014/main" id="{E1922169-ECB9-85C8-8A36-F05D501BB436}"/>
              </a:ext>
            </a:extLst>
          </p:cNvPr>
          <p:cNvPicPr>
            <a:picLocks noChangeAspect="1"/>
          </p:cNvPicPr>
          <p:nvPr/>
        </p:nvPicPr>
        <p:blipFill>
          <a:blip r:embed="rId2"/>
          <a:stretch>
            <a:fillRect/>
          </a:stretch>
        </p:blipFill>
        <p:spPr>
          <a:xfrm>
            <a:off x="350520" y="2684758"/>
            <a:ext cx="5062798" cy="3375199"/>
          </a:xfrm>
          <a:prstGeom prst="rect">
            <a:avLst/>
          </a:prstGeom>
        </p:spPr>
      </p:pic>
    </p:spTree>
    <p:extLst>
      <p:ext uri="{BB962C8B-B14F-4D97-AF65-F5344CB8AC3E}">
        <p14:creationId xmlns:p14="http://schemas.microsoft.com/office/powerpoint/2010/main" val="94371881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5C04A-95AE-926F-0A28-63851349EC00}"/>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CC56AACF-B64B-ED1D-803C-85ABC47716BA}"/>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Local</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Hosted Open-Source API</a:t>
            </a:r>
          </a:p>
          <a:p>
            <a:pPr lvl="0">
              <a:lnSpc>
                <a:spcPct val="150000"/>
              </a:lnSpc>
              <a:spcBef>
                <a:spcPts val="0"/>
              </a:spcBef>
              <a:buFont typeface="+mj-lt"/>
              <a:buAutoNum type="arabicPeriod"/>
            </a:pPr>
            <a:r>
              <a:rPr lang="en-US" sz="2200"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Managed API / Managed Cloud AI Services</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Institutional</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Cloud GPU</a:t>
            </a:r>
          </a:p>
        </p:txBody>
      </p:sp>
      <p:sp>
        <p:nvSpPr>
          <p:cNvPr id="356" name="Content Placeholder 4">
            <a:extLst>
              <a:ext uri="{FF2B5EF4-FFF2-40B4-BE49-F238E27FC236}">
                <a16:creationId xmlns:a16="http://schemas.microsoft.com/office/drawing/2014/main" id="{6763D87E-9025-A36D-BD8B-0C05B0C661B3}"/>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Approaches to access LLMs/ SLMs</a:t>
            </a:r>
          </a:p>
        </p:txBody>
      </p:sp>
      <p:pic>
        <p:nvPicPr>
          <p:cNvPr id="4" name="Picture 3">
            <a:extLst>
              <a:ext uri="{FF2B5EF4-FFF2-40B4-BE49-F238E27FC236}">
                <a16:creationId xmlns:a16="http://schemas.microsoft.com/office/drawing/2014/main" id="{983222AD-E030-CECB-C91C-4DE96B6CB880}"/>
              </a:ext>
            </a:extLst>
          </p:cNvPr>
          <p:cNvPicPr>
            <a:picLocks noChangeAspect="1"/>
          </p:cNvPicPr>
          <p:nvPr/>
        </p:nvPicPr>
        <p:blipFill>
          <a:blip r:embed="rId2"/>
          <a:stretch>
            <a:fillRect/>
          </a:stretch>
        </p:blipFill>
        <p:spPr>
          <a:xfrm>
            <a:off x="6951747" y="1493831"/>
            <a:ext cx="1931648" cy="3804313"/>
          </a:xfrm>
          <a:prstGeom prst="rect">
            <a:avLst/>
          </a:prstGeom>
        </p:spPr>
      </p:pic>
      <p:sp>
        <p:nvSpPr>
          <p:cNvPr id="6" name="TextBox 5">
            <a:extLst>
              <a:ext uri="{FF2B5EF4-FFF2-40B4-BE49-F238E27FC236}">
                <a16:creationId xmlns:a16="http://schemas.microsoft.com/office/drawing/2014/main" id="{9783F092-9689-558F-788C-91CF65E21652}"/>
              </a:ext>
            </a:extLst>
          </p:cNvPr>
          <p:cNvSpPr txBox="1"/>
          <p:nvPr/>
        </p:nvSpPr>
        <p:spPr>
          <a:xfrm>
            <a:off x="7206575" y="5512099"/>
            <a:ext cx="1586905" cy="523220"/>
          </a:xfrm>
          <a:prstGeom prst="rect">
            <a:avLst/>
          </a:prstGeom>
          <a:noFill/>
        </p:spPr>
        <p:txBody>
          <a:bodyPr wrap="square" rtlCol="0">
            <a:spAutoFit/>
          </a:bodyPr>
          <a:lstStyle/>
          <a:p>
            <a:r>
              <a:rPr lang="en-US" sz="14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Where do these models execute?</a:t>
            </a:r>
          </a:p>
        </p:txBody>
      </p:sp>
    </p:spTree>
    <p:extLst>
      <p:ext uri="{BB962C8B-B14F-4D97-AF65-F5344CB8AC3E}">
        <p14:creationId xmlns:p14="http://schemas.microsoft.com/office/powerpoint/2010/main" val="286825579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12938-A7D4-5C8E-0773-3AED5F01EBD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1617B512-4C5D-043F-F43B-47A94EA221D8}"/>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Access commercially hosted LLMs through APIs. The provider manages the model, GPUs, scaling, and inference infrastructure.</a:t>
            </a:r>
          </a:p>
          <a:p>
            <a:pPr marL="0" lvl="0" indent="0">
              <a:lnSpc>
                <a:spcPct val="150000"/>
              </a:lnSpc>
            </a:pPr>
            <a:endPar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Options</a:t>
            </a:r>
          </a:p>
          <a:p>
            <a:pPr marL="171450" lvl="0" indent="-171450">
              <a:lnSpc>
                <a:spcPct val="150000"/>
              </a:lnSpc>
              <a:buFont typeface="Arial" panose="020B0604020202020204" pitchFamily="34" charset="0"/>
              <a:buChar char="•"/>
            </a:pPr>
            <a:r>
              <a:rPr lang="en-US" sz="1600"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OpenAI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Google Gemini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Anthropic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Azure OpenAI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Amazon Bedrock</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Google Vertex AI</a:t>
            </a:r>
          </a:p>
        </p:txBody>
      </p:sp>
      <p:sp>
        <p:nvSpPr>
          <p:cNvPr id="356" name="Content Placeholder 4">
            <a:extLst>
              <a:ext uri="{FF2B5EF4-FFF2-40B4-BE49-F238E27FC236}">
                <a16:creationId xmlns:a16="http://schemas.microsoft.com/office/drawing/2014/main" id="{1CF9BB89-4495-5C40-DDA4-A6EC3803BF01}"/>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600" dirty="0"/>
              <a:t>Managed API / Managed Cloud AI Services</a:t>
            </a:r>
          </a:p>
        </p:txBody>
      </p:sp>
    </p:spTree>
    <p:extLst>
      <p:ext uri="{BB962C8B-B14F-4D97-AF65-F5344CB8AC3E}">
        <p14:creationId xmlns:p14="http://schemas.microsoft.com/office/powerpoint/2010/main" val="409830101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2D9E1-D900-A6E8-D172-2DA50C3DB28C}"/>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628B894-7D30-46A3-0B11-A8EA4BAFD587}"/>
              </a:ext>
            </a:extLst>
          </p:cNvPr>
          <p:cNvSpPr txBox="1">
            <a:spLocks noGrp="1"/>
          </p:cNvSpPr>
          <p:nvPr>
            <p:ph type="body" idx="1"/>
          </p:nvPr>
        </p:nvSpPr>
        <p:spPr>
          <a:xfrm>
            <a:off x="304800" y="1493837"/>
            <a:ext cx="8229600"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Retrieval-Augmented Generation (RAG) is an AI architecture that enhances Large Language Models (LLMs) by grounding their responses in external, proprietary, or up-to-date data. </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By fetching relevant information first and injecting it into the prompt, RAG minimizes hallucinations without requiring expensive model retraining</a:t>
            </a:r>
            <a:endParaRPr lang="en-US" sz="1800" dirty="0"/>
          </a:p>
        </p:txBody>
      </p:sp>
      <p:sp>
        <p:nvSpPr>
          <p:cNvPr id="356" name="Content Placeholder 4">
            <a:extLst>
              <a:ext uri="{FF2B5EF4-FFF2-40B4-BE49-F238E27FC236}">
                <a16:creationId xmlns:a16="http://schemas.microsoft.com/office/drawing/2014/main" id="{7053D9FB-0BE3-D7B8-4292-9A4286786C28}"/>
              </a:ext>
            </a:extLst>
          </p:cNvPr>
          <p:cNvSpPr txBox="1"/>
          <p:nvPr/>
        </p:nvSpPr>
        <p:spPr>
          <a:xfrm>
            <a:off x="350519"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RAG Architecture</a:t>
            </a:r>
          </a:p>
        </p:txBody>
      </p:sp>
    </p:spTree>
    <p:extLst>
      <p:ext uri="{BB962C8B-B14F-4D97-AF65-F5344CB8AC3E}">
        <p14:creationId xmlns:p14="http://schemas.microsoft.com/office/powerpoint/2010/main" val="358340978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497F-58F3-772A-25FE-8A43493A5557}"/>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E066254E-8128-13CD-FE46-F42BDD009A0D}"/>
              </a:ext>
            </a:extLst>
          </p:cNvPr>
          <p:cNvSpPr txBox="1"/>
          <p:nvPr/>
        </p:nvSpPr>
        <p:spPr>
          <a:xfrm>
            <a:off x="269500" y="119921"/>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RAG Architecture [Simplistic]</a:t>
            </a:r>
          </a:p>
        </p:txBody>
      </p:sp>
      <p:pic>
        <p:nvPicPr>
          <p:cNvPr id="6" name="Picture 2" descr="What is Retrieval-Augmented Generation(RAG) in LLM and How it works? | by  Sahin Ahmed, Data Scientist | Medium">
            <a:extLst>
              <a:ext uri="{FF2B5EF4-FFF2-40B4-BE49-F238E27FC236}">
                <a16:creationId xmlns:a16="http://schemas.microsoft.com/office/drawing/2014/main" id="{3F1D42D3-E629-1A8F-A8DA-76AEE8CD3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0"/>
            <a:ext cx="8396288"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40913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724D-7B7E-B130-4F71-CB8F2B9B958E}"/>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A5295CF-5C61-7F77-F062-4FBB3DD20EAF}"/>
              </a:ext>
            </a:extLst>
          </p:cNvPr>
          <p:cNvSpPr txBox="1"/>
          <p:nvPr/>
        </p:nvSpPr>
        <p:spPr>
          <a:xfrm>
            <a:off x="152400" y="104931"/>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RAG Architecture [Detailed]</a:t>
            </a:r>
          </a:p>
        </p:txBody>
      </p:sp>
      <p:pic>
        <p:nvPicPr>
          <p:cNvPr id="8" name="Picture 2">
            <a:extLst>
              <a:ext uri="{FF2B5EF4-FFF2-40B4-BE49-F238E27FC236}">
                <a16:creationId xmlns:a16="http://schemas.microsoft.com/office/drawing/2014/main" id="{D9478901-A6B0-7270-2169-04D7A3AB980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0"/>
            <a:ext cx="86868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259584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BAF8-EC68-8BE7-CAC9-31F586082DE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14FA0AE6-EF21-F371-9A32-BDBD15DC5A56}"/>
              </a:ext>
            </a:extLst>
          </p:cNvPr>
          <p:cNvSpPr txBox="1">
            <a:spLocks noGrp="1"/>
          </p:cNvSpPr>
          <p:nvPr>
            <p:ph type="body" idx="1"/>
          </p:nvPr>
        </p:nvSpPr>
        <p:spPr>
          <a:xfrm>
            <a:off x="215781" y="1535061"/>
            <a:ext cx="8229600" cy="2553507"/>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800" dirty="0" err="1">
                <a:latin typeface="Microsoft Sans Serif" panose="020B0604020202020204" pitchFamily="34" charset="0"/>
                <a:ea typeface="Microsoft Sans Serif" panose="020B0604020202020204" pitchFamily="34" charset="0"/>
                <a:cs typeface="Microsoft Sans Serif" panose="020B0604020202020204" pitchFamily="34" charset="0"/>
              </a:rPr>
              <a:t>LangChain</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is an open-source framework designed to streamline the development of applications that integrate with language models, particularly large language models (LLMs) like OpenAI's GPT models. </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It is widely used to build advanced applications such as chatbots, virtual assistants, document summarizers, and any other software that requires natural language processing (NLP) capabilities.</a:t>
            </a:r>
          </a:p>
        </p:txBody>
      </p:sp>
      <p:sp>
        <p:nvSpPr>
          <p:cNvPr id="356" name="Content Placeholder 4">
            <a:extLst>
              <a:ext uri="{FF2B5EF4-FFF2-40B4-BE49-F238E27FC236}">
                <a16:creationId xmlns:a16="http://schemas.microsoft.com/office/drawing/2014/main" id="{620803C4-1D06-D4C8-3092-23B81F6F4784}"/>
              </a:ext>
            </a:extLst>
          </p:cNvPr>
          <p:cNvSpPr txBox="1"/>
          <p:nvPr/>
        </p:nvSpPr>
        <p:spPr>
          <a:xfrm>
            <a:off x="350519" y="152400"/>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err="1"/>
              <a:t>LangChain</a:t>
            </a:r>
            <a:endParaRPr lang="en-US" dirty="0"/>
          </a:p>
        </p:txBody>
      </p:sp>
    </p:spTree>
    <p:extLst>
      <p:ext uri="{BB962C8B-B14F-4D97-AF65-F5344CB8AC3E}">
        <p14:creationId xmlns:p14="http://schemas.microsoft.com/office/powerpoint/2010/main" val="375891594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52806-2200-4068-E4D2-EF580558A6BA}"/>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B702F29C-F805-80BF-86E1-43E8D181B54A}"/>
              </a:ext>
            </a:extLst>
          </p:cNvPr>
          <p:cNvSpPr txBox="1">
            <a:spLocks noGrp="1"/>
          </p:cNvSpPr>
          <p:nvPr>
            <p:ph type="body" idx="1"/>
          </p:nvPr>
        </p:nvSpPr>
        <p:spPr>
          <a:xfrm>
            <a:off x="304800" y="1493837"/>
            <a:ext cx="8229600"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600" b="1"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OpenAI Embeddings</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Embeddings generated by OpenAI's models, suitable for a wide range of NLP tasks.</a:t>
            </a:r>
          </a:p>
          <a:p>
            <a:pPr marL="0" indent="0" algn="just">
              <a:lnSpc>
                <a:spcPct val="150000"/>
              </a:lnSpc>
              <a:spcBef>
                <a:spcPts val="0"/>
              </a:spcBef>
            </a:pPr>
            <a:r>
              <a:rPr lang="en-US" sz="1600"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600" b="1"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Ex: text-embedding-3-large, text-embedding-3-small</a:t>
            </a:r>
          </a:p>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BERT Embeddings: Derived from the BERT model, capturing semantic meaning and context in text.</a:t>
            </a:r>
          </a:p>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Sentence Transformers (e.g., Sentence-BERT): Specially optimized for sentence and document embeddings, capturing semantic relationships effectively.</a:t>
            </a:r>
          </a:p>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FAIR’s Dense Passage Retriever (DPR): Optimized for retrieval tasks, commonly used in open-domain question answering.</a:t>
            </a:r>
          </a:p>
          <a:p>
            <a:pPr marL="285750" indent="-285750" algn="just">
              <a:lnSpc>
                <a:spcPct val="150000"/>
              </a:lnSpc>
              <a:spcBef>
                <a:spcPts val="0"/>
              </a:spcBef>
              <a:buFont typeface="Arial" panose="020B0604020202020204" pitchFamily="34" charset="0"/>
              <a:buChar char="•"/>
            </a:pPr>
            <a:r>
              <a:rPr lang="en-US" sz="1600" dirty="0" err="1">
                <a:latin typeface="Microsoft Sans Serif" panose="020B0604020202020204" pitchFamily="34" charset="0"/>
                <a:ea typeface="Microsoft Sans Serif" panose="020B0604020202020204" pitchFamily="34" charset="0"/>
                <a:cs typeface="Microsoft Sans Serif" panose="020B0604020202020204" pitchFamily="34" charset="0"/>
              </a:rPr>
              <a:t>GloVe</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(Global Vectors for Word Representation): Pre-trained embeddings that capture semantic relationships between words, though they lack contextual awareness.</a:t>
            </a:r>
          </a:p>
        </p:txBody>
      </p:sp>
      <p:sp>
        <p:nvSpPr>
          <p:cNvPr id="356" name="Content Placeholder 4">
            <a:extLst>
              <a:ext uri="{FF2B5EF4-FFF2-40B4-BE49-F238E27FC236}">
                <a16:creationId xmlns:a16="http://schemas.microsoft.com/office/drawing/2014/main" id="{42D54456-9471-BBA8-F8F2-32FD47DB0150}"/>
              </a:ext>
            </a:extLst>
          </p:cNvPr>
          <p:cNvSpPr txBox="1"/>
          <p:nvPr/>
        </p:nvSpPr>
        <p:spPr>
          <a:xfrm>
            <a:off x="350519" y="152400"/>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Embedding Types</a:t>
            </a:r>
          </a:p>
        </p:txBody>
      </p:sp>
    </p:spTree>
    <p:extLst>
      <p:ext uri="{BB962C8B-B14F-4D97-AF65-F5344CB8AC3E}">
        <p14:creationId xmlns:p14="http://schemas.microsoft.com/office/powerpoint/2010/main" val="149409410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0360A-73AB-B5E8-7C08-57DE1E37FF8B}"/>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595FE05-E36A-0908-EB9D-88EAA1632851}"/>
              </a:ext>
            </a:extLst>
          </p:cNvPr>
          <p:cNvSpPr txBox="1">
            <a:spLocks noGrp="1"/>
          </p:cNvSpPr>
          <p:nvPr>
            <p:ph type="body" idx="1"/>
          </p:nvPr>
        </p:nvSpPr>
        <p:spPr>
          <a:xfrm>
            <a:off x="304800" y="1493837"/>
            <a:ext cx="8229600"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Pinecone: A managed vector database offering scalable and fast similarity search for high-dimensional embeddings.</a:t>
            </a:r>
          </a:p>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FAISS (Facebook AI Similarity Search): An open-source library by Facebook optimized for fast, large-scale similarity search.</a:t>
            </a:r>
          </a:p>
          <a:p>
            <a:pPr marL="285750" indent="-285750" algn="just">
              <a:lnSpc>
                <a:spcPct val="150000"/>
              </a:lnSpc>
              <a:spcBef>
                <a:spcPts val="0"/>
              </a:spcBef>
              <a:buFont typeface="Arial" panose="020B0604020202020204" pitchFamily="34" charset="0"/>
              <a:buChar char="•"/>
            </a:pPr>
            <a:r>
              <a:rPr lang="en-US" sz="1600" b="1"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Chroma (</a:t>
            </a:r>
            <a:r>
              <a:rPr lang="en-US" sz="1600" b="1" dirty="0" err="1">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ChromaDB</a:t>
            </a:r>
            <a:r>
              <a:rPr lang="en-US" sz="1600" b="1" dirty="0">
                <a:solidFill>
                  <a:srgbClr val="00B05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is an open-source vector database designed to store, manage, and retrieve embeddings for AI applications like semantic search and RAG systems.</a:t>
            </a:r>
          </a:p>
          <a:p>
            <a:pPr marL="285750" indent="-285750" algn="just">
              <a:lnSpc>
                <a:spcPct val="150000"/>
              </a:lnSpc>
              <a:spcBef>
                <a:spcPts val="0"/>
              </a:spcBef>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It combines efficient vector indexing with lightweight metadata storage (using SQLite) for fast, local-first development.</a:t>
            </a:r>
          </a:p>
          <a:p>
            <a:pPr marL="285750" indent="-285750" algn="just">
              <a:lnSpc>
                <a:spcPct val="150000"/>
              </a:lnSpc>
              <a:spcBef>
                <a:spcPts val="0"/>
              </a:spcBef>
              <a:buFont typeface="Arial" panose="020B0604020202020204" pitchFamily="34" charset="0"/>
              <a:buChar char="•"/>
            </a:pPr>
            <a:r>
              <a:rPr lang="en-US" sz="1600" dirty="0" err="1">
                <a:latin typeface="Microsoft Sans Serif" panose="020B0604020202020204" pitchFamily="34" charset="0"/>
                <a:ea typeface="Microsoft Sans Serif" panose="020B0604020202020204" pitchFamily="34" charset="0"/>
                <a:cs typeface="Microsoft Sans Serif" panose="020B0604020202020204" pitchFamily="34" charset="0"/>
              </a:rPr>
              <a:t>ElasticSearch</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with KNN Plugin: A search engine with a plugin for k-nearest neighbors (KNN) search, enabling vector-based similarity search within text-based indices.</a:t>
            </a:r>
          </a:p>
        </p:txBody>
      </p:sp>
      <p:sp>
        <p:nvSpPr>
          <p:cNvPr id="356" name="Content Placeholder 4">
            <a:extLst>
              <a:ext uri="{FF2B5EF4-FFF2-40B4-BE49-F238E27FC236}">
                <a16:creationId xmlns:a16="http://schemas.microsoft.com/office/drawing/2014/main" id="{A711FDDC-4C21-7F37-B5B4-AC431C206B50}"/>
              </a:ext>
            </a:extLst>
          </p:cNvPr>
          <p:cNvSpPr txBox="1"/>
          <p:nvPr/>
        </p:nvSpPr>
        <p:spPr>
          <a:xfrm>
            <a:off x="350519" y="152400"/>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Vector Stores</a:t>
            </a:r>
          </a:p>
        </p:txBody>
      </p:sp>
    </p:spTree>
    <p:extLst>
      <p:ext uri="{BB962C8B-B14F-4D97-AF65-F5344CB8AC3E}">
        <p14:creationId xmlns:p14="http://schemas.microsoft.com/office/powerpoint/2010/main" val="386081288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DBFE-0AAF-ECA7-548C-0B426E34737C}"/>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1D2445F-86B8-5D60-6415-59A47A5A4BD5}"/>
              </a:ext>
            </a:extLst>
          </p:cNvPr>
          <p:cNvSpPr txBox="1">
            <a:spLocks noGrp="1"/>
          </p:cNvSpPr>
          <p:nvPr>
            <p:ph type="body" idx="1"/>
          </p:nvPr>
        </p:nvSpPr>
        <p:spPr>
          <a:xfrm>
            <a:off x="320712" y="4398182"/>
            <a:ext cx="8229600" cy="2553507"/>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500" dirty="0" err="1">
                <a:latin typeface="Microsoft Sans Serif" panose="020B0604020202020204" pitchFamily="34" charset="0"/>
                <a:ea typeface="Microsoft Sans Serif" panose="020B0604020202020204" pitchFamily="34" charset="0"/>
                <a:cs typeface="Microsoft Sans Serif" panose="020B0604020202020204" pitchFamily="34" charset="0"/>
              </a:rPr>
              <a:t>ChromaDB</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stores text in SQLite tables and embeddings as vectors linked to those records.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Each chunk = one document in </a:t>
            </a:r>
            <a:r>
              <a:rPr lang="en-US" sz="1500" dirty="0" err="1">
                <a:latin typeface="Microsoft Sans Serif" panose="020B0604020202020204" pitchFamily="34" charset="0"/>
                <a:ea typeface="Microsoft Sans Serif" panose="020B0604020202020204" pitchFamily="34" charset="0"/>
                <a:cs typeface="Microsoft Sans Serif" panose="020B0604020202020204" pitchFamily="34" charset="0"/>
              </a:rPr>
              <a:t>ChromaDB</a:t>
            </a:r>
            <a:endPar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It uses an HNSW index for fast similarity search over embeddings.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HNSW (Hierarchical Navigable Small World) index is a data structure used for fast similarity search</a:t>
            </a:r>
          </a:p>
        </p:txBody>
      </p:sp>
      <p:sp>
        <p:nvSpPr>
          <p:cNvPr id="356" name="Content Placeholder 4">
            <a:extLst>
              <a:ext uri="{FF2B5EF4-FFF2-40B4-BE49-F238E27FC236}">
                <a16:creationId xmlns:a16="http://schemas.microsoft.com/office/drawing/2014/main" id="{A48FB5F6-9B71-0E8B-9085-2DC27AE4B6C1}"/>
              </a:ext>
            </a:extLst>
          </p:cNvPr>
          <p:cNvSpPr txBox="1"/>
          <p:nvPr/>
        </p:nvSpPr>
        <p:spPr>
          <a:xfrm>
            <a:off x="350519" y="152400"/>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Chroma DB</a:t>
            </a:r>
          </a:p>
        </p:txBody>
      </p:sp>
      <p:sp>
        <p:nvSpPr>
          <p:cNvPr id="2" name="Rectangle 2">
            <a:extLst>
              <a:ext uri="{FF2B5EF4-FFF2-40B4-BE49-F238E27FC236}">
                <a16:creationId xmlns:a16="http://schemas.microsoft.com/office/drawing/2014/main" id="{4500241E-094E-C4D2-5F8F-30C783B86B64}"/>
              </a:ext>
            </a:extLst>
          </p:cNvPr>
          <p:cNvSpPr>
            <a:spLocks noChangeArrowheads="1"/>
          </p:cNvSpPr>
          <p:nvPr/>
        </p:nvSpPr>
        <p:spPr bwMode="auto">
          <a:xfrm>
            <a:off x="152400" y="1384300"/>
            <a:ext cx="8077200"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lnSpc>
                <a:spcPct val="150000"/>
              </a:lnSpc>
              <a:spcBef>
                <a:spcPct val="0"/>
              </a:spcBef>
              <a:defRPr/>
            </a:pPr>
            <a:endParaRPr lang="en-US" altLang="en-US" sz="1800" b="1" dirty="0">
              <a:solidFill>
                <a:srgbClr val="C00000"/>
              </a:solidFill>
              <a:latin typeface="Microsoft Sans Serif" panose="020B0604020202020204" pitchFamily="34" charset="0"/>
              <a:cs typeface="Microsoft Sans Serif" panose="020B0604020202020204" pitchFamily="34" charset="0"/>
            </a:endParaRPr>
          </a:p>
        </p:txBody>
      </p:sp>
      <p:sp>
        <p:nvSpPr>
          <p:cNvPr id="3" name="TextBox 2">
            <a:extLst>
              <a:ext uri="{FF2B5EF4-FFF2-40B4-BE49-F238E27FC236}">
                <a16:creationId xmlns:a16="http://schemas.microsoft.com/office/drawing/2014/main" id="{560442B0-A140-D961-F299-9C15E4F28519}"/>
              </a:ext>
            </a:extLst>
          </p:cNvPr>
          <p:cNvSpPr txBox="1"/>
          <p:nvPr/>
        </p:nvSpPr>
        <p:spPr>
          <a:xfrm>
            <a:off x="320712" y="1542357"/>
            <a:ext cx="3338651"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Collection</a:t>
            </a:r>
          </a:p>
          <a:p>
            <a:r>
              <a:rPr lang="en-US" dirty="0"/>
              <a:t>   ├── IDs</a:t>
            </a:r>
          </a:p>
          <a:p>
            <a:r>
              <a:rPr lang="en-US" dirty="0"/>
              <a:t>   ├── Documents (text)</a:t>
            </a:r>
          </a:p>
          <a:p>
            <a:r>
              <a:rPr lang="en-US" dirty="0"/>
              <a:t>   ├── Metadata</a:t>
            </a:r>
          </a:p>
          <a:p>
            <a:r>
              <a:rPr lang="en-US" dirty="0"/>
              <a:t>   └── Embeddings (vectors)</a:t>
            </a:r>
          </a:p>
          <a:p>
            <a:r>
              <a:rPr lang="en-US" dirty="0"/>
              <a:t>           ↓</a:t>
            </a:r>
          </a:p>
          <a:p>
            <a:r>
              <a:rPr lang="en-US" dirty="0"/>
              <a:t>   SQLite (storage)</a:t>
            </a:r>
          </a:p>
          <a:p>
            <a:r>
              <a:rPr lang="en-US" dirty="0"/>
              <a:t>   +</a:t>
            </a:r>
          </a:p>
          <a:p>
            <a:r>
              <a:rPr lang="en-US" dirty="0"/>
              <a:t>   HNSW index (fast retrieval)</a:t>
            </a:r>
          </a:p>
        </p:txBody>
      </p:sp>
      <p:sp>
        <p:nvSpPr>
          <p:cNvPr id="4" name="TextBox 3">
            <a:extLst>
              <a:ext uri="{FF2B5EF4-FFF2-40B4-BE49-F238E27FC236}">
                <a16:creationId xmlns:a16="http://schemas.microsoft.com/office/drawing/2014/main" id="{C152F79D-7E44-CC24-531E-67E8A74F7FBB}"/>
              </a:ext>
            </a:extLst>
          </p:cNvPr>
          <p:cNvSpPr txBox="1"/>
          <p:nvPr/>
        </p:nvSpPr>
        <p:spPr>
          <a:xfrm>
            <a:off x="4367459" y="1604447"/>
            <a:ext cx="36576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ID: chunk_1</a:t>
            </a:r>
          </a:p>
          <a:p>
            <a:r>
              <a:rPr lang="en-US" dirty="0"/>
              <a:t>Document: "Text from page 1..."</a:t>
            </a:r>
          </a:p>
          <a:p>
            <a:r>
              <a:rPr lang="en-US" dirty="0"/>
              <a:t>Embedding: [0.23, -0.11, ...]</a:t>
            </a:r>
          </a:p>
          <a:p>
            <a:r>
              <a:rPr lang="en-US" dirty="0"/>
              <a:t>Metadata: {</a:t>
            </a:r>
          </a:p>
          <a:p>
            <a:r>
              <a:rPr lang="en-US" dirty="0"/>
              <a:t>    "source": "file.pdf",</a:t>
            </a:r>
          </a:p>
          <a:p>
            <a:r>
              <a:rPr lang="en-US" dirty="0"/>
              <a:t>    "page": 1,</a:t>
            </a:r>
          </a:p>
          <a:p>
            <a:r>
              <a:rPr lang="en-US" dirty="0"/>
              <a:t>    "chunk": 1</a:t>
            </a:r>
          </a:p>
          <a:p>
            <a:r>
              <a:rPr lang="en-US" dirty="0"/>
              <a:t>}</a:t>
            </a:r>
          </a:p>
        </p:txBody>
      </p:sp>
    </p:spTree>
    <p:extLst>
      <p:ext uri="{BB962C8B-B14F-4D97-AF65-F5344CB8AC3E}">
        <p14:creationId xmlns:p14="http://schemas.microsoft.com/office/powerpoint/2010/main" val="151115420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8728-92E7-F5FF-7FAF-A6AFC44A57D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A9B2C8AC-433A-6DF7-D3D3-0C63A957E6BC}"/>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u="sng" dirty="0">
                <a:solidFill>
                  <a:srgbClr val="002060"/>
                </a:solidFill>
              </a:rPr>
              <a:t>Use Case</a:t>
            </a:r>
          </a:p>
          <a:p>
            <a:r>
              <a:rPr lang="en-US" sz="2800" dirty="0">
                <a:solidFill>
                  <a:srgbClr val="00B050"/>
                </a:solidFill>
              </a:rPr>
              <a:t>RAG-Based Academic Lecture Assistant</a:t>
            </a:r>
          </a:p>
        </p:txBody>
      </p:sp>
      <p:pic>
        <p:nvPicPr>
          <p:cNvPr id="5" name="Picture 4">
            <a:extLst>
              <a:ext uri="{FF2B5EF4-FFF2-40B4-BE49-F238E27FC236}">
                <a16:creationId xmlns:a16="http://schemas.microsoft.com/office/drawing/2014/main" id="{084F96A9-6522-D74F-BF54-46F97F740294}"/>
              </a:ext>
            </a:extLst>
          </p:cNvPr>
          <p:cNvPicPr>
            <a:picLocks noChangeAspect="1"/>
          </p:cNvPicPr>
          <p:nvPr/>
        </p:nvPicPr>
        <p:blipFill>
          <a:blip r:embed="rId2"/>
          <a:stretch>
            <a:fillRect/>
          </a:stretch>
        </p:blipFill>
        <p:spPr>
          <a:xfrm>
            <a:off x="299480" y="1364105"/>
            <a:ext cx="6889380" cy="4771949"/>
          </a:xfrm>
          <a:prstGeom prst="rect">
            <a:avLst/>
          </a:prstGeom>
        </p:spPr>
      </p:pic>
      <p:sp>
        <p:nvSpPr>
          <p:cNvPr id="6" name="TextBox 5">
            <a:extLst>
              <a:ext uri="{FF2B5EF4-FFF2-40B4-BE49-F238E27FC236}">
                <a16:creationId xmlns:a16="http://schemas.microsoft.com/office/drawing/2014/main" id="{5C5EE733-7703-5422-BC77-0F025F9F7485}"/>
              </a:ext>
            </a:extLst>
          </p:cNvPr>
          <p:cNvSpPr txBox="1"/>
          <p:nvPr/>
        </p:nvSpPr>
        <p:spPr>
          <a:xfrm>
            <a:off x="299480" y="6136054"/>
            <a:ext cx="8545040" cy="3231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0000"/>
                </a:solidFill>
                <a:effectLst/>
                <a:uFillTx/>
                <a:latin typeface="Microsoft Sans Serif" panose="020B0604020202020204" pitchFamily="34" charset="0"/>
                <a:ea typeface="Microsoft Sans Serif" panose="020B0604020202020204" pitchFamily="34" charset="0"/>
                <a:cs typeface="Microsoft Sans Serif" panose="020B0604020202020204" pitchFamily="34" charset="0"/>
                <a:sym typeface="Calibri"/>
              </a:rPr>
              <a:t>We require Open AI APIs for Stage 3 – “Generate Embeddings” and Stage 7 – “Generate Answer”</a:t>
            </a:r>
          </a:p>
        </p:txBody>
      </p:sp>
    </p:spTree>
    <p:extLst>
      <p:ext uri="{BB962C8B-B14F-4D97-AF65-F5344CB8AC3E}">
        <p14:creationId xmlns:p14="http://schemas.microsoft.com/office/powerpoint/2010/main" val="337323331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B7A83-0630-4169-DF59-C3E586278E27}"/>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A571480B-1885-B019-B252-994BF20463C1}"/>
              </a:ext>
            </a:extLst>
          </p:cNvPr>
          <p:cNvSpPr txBox="1"/>
          <p:nvPr/>
        </p:nvSpPr>
        <p:spPr>
          <a:xfrm>
            <a:off x="350519" y="152400"/>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Demo &amp; Hands-On</a:t>
            </a:r>
          </a:p>
        </p:txBody>
      </p:sp>
    </p:spTree>
    <p:extLst>
      <p:ext uri="{BB962C8B-B14F-4D97-AF65-F5344CB8AC3E}">
        <p14:creationId xmlns:p14="http://schemas.microsoft.com/office/powerpoint/2010/main" val="286328510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218B-4008-1CAD-C722-54E1B8CBE9E1}"/>
            </a:ext>
          </a:extLst>
        </p:cNvPr>
        <p:cNvGrpSpPr/>
        <p:nvPr/>
      </p:nvGrpSpPr>
      <p:grpSpPr>
        <a:xfrm>
          <a:off x="0" y="0"/>
          <a:ext cx="0" cy="0"/>
          <a:chOff x="0" y="0"/>
          <a:chExt cx="0" cy="0"/>
        </a:xfrm>
      </p:grpSpPr>
      <p:pic>
        <p:nvPicPr>
          <p:cNvPr id="2050" name="Picture 2" descr="Thank You Stock Photos, Images and ...">
            <a:extLst>
              <a:ext uri="{FF2B5EF4-FFF2-40B4-BE49-F238E27FC236}">
                <a16:creationId xmlns:a16="http://schemas.microsoft.com/office/drawing/2014/main" id="{2501F4FB-E29C-180C-483D-7E20CE1EE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605" y="2396631"/>
            <a:ext cx="4206146" cy="266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11767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4D5A-CE4C-1C04-7E3D-42249C8A6C88}"/>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47C30EF4-727C-369B-6D2B-7A5A722FA2FF}"/>
              </a:ext>
            </a:extLst>
          </p:cNvPr>
          <p:cNvSpPr txBox="1"/>
          <p:nvPr/>
        </p:nvSpPr>
        <p:spPr>
          <a:xfrm>
            <a:off x="2958808" y="2550826"/>
            <a:ext cx="648160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200" dirty="0"/>
              <a:t>APPENDIX</a:t>
            </a:r>
            <a:endParaRPr lang="en-US" sz="3000" dirty="0"/>
          </a:p>
        </p:txBody>
      </p:sp>
    </p:spTree>
    <p:extLst>
      <p:ext uri="{BB962C8B-B14F-4D97-AF65-F5344CB8AC3E}">
        <p14:creationId xmlns:p14="http://schemas.microsoft.com/office/powerpoint/2010/main" val="305078336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2E194-E71C-D031-E49F-CA595E2E9F75}"/>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FB12AB0-E72D-7619-381E-75A887287518}"/>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Local</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Hosted Open-Source API</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Managed API / Managed Cloud AI Services</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Institutional</a:t>
            </a:r>
          </a:p>
          <a:p>
            <a:pPr lvl="0">
              <a:lnSpc>
                <a:spcPct val="150000"/>
              </a:lnSpc>
              <a:spcBef>
                <a:spcPts val="0"/>
              </a:spcBef>
              <a:buFont typeface="+mj-lt"/>
              <a:buAutoNum type="arabicPeriod"/>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Cloud GPU</a:t>
            </a:r>
          </a:p>
        </p:txBody>
      </p:sp>
      <p:sp>
        <p:nvSpPr>
          <p:cNvPr id="356" name="Content Placeholder 4">
            <a:extLst>
              <a:ext uri="{FF2B5EF4-FFF2-40B4-BE49-F238E27FC236}">
                <a16:creationId xmlns:a16="http://schemas.microsoft.com/office/drawing/2014/main" id="{58655B61-D693-2D6F-0E46-15246DFAB7A0}"/>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Approaches to access LLMs/ SLMs</a:t>
            </a:r>
          </a:p>
        </p:txBody>
      </p:sp>
      <p:pic>
        <p:nvPicPr>
          <p:cNvPr id="4" name="Picture 3">
            <a:extLst>
              <a:ext uri="{FF2B5EF4-FFF2-40B4-BE49-F238E27FC236}">
                <a16:creationId xmlns:a16="http://schemas.microsoft.com/office/drawing/2014/main" id="{30E2EFD8-93FC-9212-2980-1A692D9DFAB4}"/>
              </a:ext>
            </a:extLst>
          </p:cNvPr>
          <p:cNvPicPr>
            <a:picLocks noChangeAspect="1"/>
          </p:cNvPicPr>
          <p:nvPr/>
        </p:nvPicPr>
        <p:blipFill>
          <a:blip r:embed="rId2"/>
          <a:stretch>
            <a:fillRect/>
          </a:stretch>
        </p:blipFill>
        <p:spPr>
          <a:xfrm>
            <a:off x="6951747" y="1493831"/>
            <a:ext cx="1931648" cy="3804313"/>
          </a:xfrm>
          <a:prstGeom prst="rect">
            <a:avLst/>
          </a:prstGeom>
        </p:spPr>
      </p:pic>
      <p:sp>
        <p:nvSpPr>
          <p:cNvPr id="6" name="TextBox 5">
            <a:extLst>
              <a:ext uri="{FF2B5EF4-FFF2-40B4-BE49-F238E27FC236}">
                <a16:creationId xmlns:a16="http://schemas.microsoft.com/office/drawing/2014/main" id="{02D5E02D-2E1E-FB6A-94CB-DCA3C79D74B6}"/>
              </a:ext>
            </a:extLst>
          </p:cNvPr>
          <p:cNvSpPr txBox="1"/>
          <p:nvPr/>
        </p:nvSpPr>
        <p:spPr>
          <a:xfrm>
            <a:off x="7206575" y="5512099"/>
            <a:ext cx="1586905" cy="523220"/>
          </a:xfrm>
          <a:prstGeom prst="rect">
            <a:avLst/>
          </a:prstGeom>
          <a:noFill/>
        </p:spPr>
        <p:txBody>
          <a:bodyPr wrap="square" rtlCol="0">
            <a:spAutoFit/>
          </a:bodyPr>
          <a:lstStyle/>
          <a:p>
            <a:r>
              <a:rPr lang="en-US" sz="14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Where do these models execute?</a:t>
            </a:r>
          </a:p>
        </p:txBody>
      </p:sp>
    </p:spTree>
    <p:extLst>
      <p:ext uri="{BB962C8B-B14F-4D97-AF65-F5344CB8AC3E}">
        <p14:creationId xmlns:p14="http://schemas.microsoft.com/office/powerpoint/2010/main" val="294064570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69CFC-E7EE-A0DD-98A0-9672B1719666}"/>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4A7CCE1A-D676-BFE2-E825-7832B58CAB16}"/>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Run the LLM/SLM directly on a local laptop, desktop, or workstation.</a:t>
            </a:r>
          </a:p>
          <a:p>
            <a:pPr marL="0" lvl="0" indent="0">
              <a:lnSpc>
                <a:spcPct val="150000"/>
              </a:lnSpc>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Creates a “Local GPT” for users.</a:t>
            </a:r>
          </a:p>
          <a:p>
            <a:pPr marL="0" lvl="0" indent="0">
              <a:lnSpc>
                <a:spcPct val="150000"/>
              </a:lnSpc>
            </a:pPr>
            <a:endPar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Options</a:t>
            </a:r>
          </a:p>
          <a:p>
            <a:pPr marL="171450" lvl="0" indent="-171450">
              <a:lnSpc>
                <a:spcPct val="150000"/>
              </a:lnSpc>
              <a:buFont typeface="Arial" panose="020B0604020202020204" pitchFamily="34" charset="0"/>
              <a:buChar char="•"/>
            </a:pPr>
            <a:r>
              <a:rPr lang="en-US" sz="18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Ollama</a:t>
            </a:r>
            <a:endParaRPr lang="en-US" sz="18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1450" lvl="0" indent="-171450">
              <a:lnSpc>
                <a:spcPct val="150000"/>
              </a:lnSpc>
              <a:buFont typeface="Arial" panose="020B0604020202020204" pitchFamily="34" charset="0"/>
              <a:buChar char="•"/>
            </a:pPr>
            <a:r>
              <a:rPr lang="en-US" sz="18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LM Studio</a:t>
            </a:r>
          </a:p>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llama.cpp</a:t>
            </a:r>
          </a:p>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GPT4All</a:t>
            </a:r>
          </a:p>
        </p:txBody>
      </p:sp>
      <p:sp>
        <p:nvSpPr>
          <p:cNvPr id="356" name="Content Placeholder 4">
            <a:extLst>
              <a:ext uri="{FF2B5EF4-FFF2-40B4-BE49-F238E27FC236}">
                <a16:creationId xmlns:a16="http://schemas.microsoft.com/office/drawing/2014/main" id="{E56D4E93-BA68-555E-FDB0-95B2D262959C}"/>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Local </a:t>
            </a:r>
          </a:p>
        </p:txBody>
      </p:sp>
    </p:spTree>
    <p:extLst>
      <p:ext uri="{BB962C8B-B14F-4D97-AF65-F5344CB8AC3E}">
        <p14:creationId xmlns:p14="http://schemas.microsoft.com/office/powerpoint/2010/main" val="315152026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1098-5D0D-99C4-3898-08DC2E663A5C}"/>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C14BC68F-D4D7-3B8A-C74F-373921C56B3B}"/>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Local - </a:t>
            </a:r>
            <a:r>
              <a:rPr lang="en-US" sz="3200" dirty="0" err="1"/>
              <a:t>Ollama</a:t>
            </a:r>
            <a:endParaRPr lang="en-US" sz="3200" dirty="0"/>
          </a:p>
        </p:txBody>
      </p:sp>
      <p:sp>
        <p:nvSpPr>
          <p:cNvPr id="5" name="TextBox 4">
            <a:extLst>
              <a:ext uri="{FF2B5EF4-FFF2-40B4-BE49-F238E27FC236}">
                <a16:creationId xmlns:a16="http://schemas.microsoft.com/office/drawing/2014/main" id="{3915A563-ABBC-CC41-64CC-3249AFD0840E}"/>
              </a:ext>
            </a:extLst>
          </p:cNvPr>
          <p:cNvSpPr txBox="1"/>
          <p:nvPr/>
        </p:nvSpPr>
        <p:spPr>
          <a:xfrm>
            <a:off x="425083" y="1600708"/>
            <a:ext cx="8089330"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Laptop / PC</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Install </a:t>
            </a:r>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endPar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endParaRP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a:t>
            </a:r>
          </a:p>
          <a:p>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pull gemma2:2b  / </a:t>
            </a:r>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r>
              <a:rPr lang="en-US" dirty="0">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pull nomic-embed-text [</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Pulls from </a:t>
            </a:r>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Model registry]</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a:t>
            </a:r>
          </a:p>
          <a:p>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run gemma2:2b [Test: Give me Binary search code in Python; </a:t>
            </a:r>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Ctrl+d</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to exit]</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Python / RAG / Agent framework [</a:t>
            </a:r>
            <a:r>
              <a:rPr lang="en-US" dirty="0" err="1">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ollama</a:t>
            </a:r>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list]</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    ↓</a:t>
            </a:r>
          </a:p>
          <a:p>
            <a:r>
              <a:rPr lang="en-US" dirty="0">
                <a:solidFill>
                  <a:schemeClr val="dk1"/>
                </a:solidFill>
                <a:latin typeface="Microsoft Sans Serif" panose="020B0604020202020204" pitchFamily="34" charset="0"/>
                <a:ea typeface="Microsoft Sans Serif" panose="020B0604020202020204" pitchFamily="34" charset="0"/>
                <a:cs typeface="Microsoft Sans Serif" panose="020B0604020202020204" pitchFamily="34" charset="0"/>
                <a:sym typeface="Helvetica Neue"/>
              </a:rPr>
              <a:t>Local Gemma 2B</a:t>
            </a:r>
          </a:p>
        </p:txBody>
      </p:sp>
    </p:spTree>
    <p:extLst>
      <p:ext uri="{BB962C8B-B14F-4D97-AF65-F5344CB8AC3E}">
        <p14:creationId xmlns:p14="http://schemas.microsoft.com/office/powerpoint/2010/main" val="241827969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4BE5D-FA95-FCE4-40DB-FF98885FDD1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2D8622A4-09EB-853C-0E45-A8C71D1C9A97}"/>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Access open-source/open-weight LLMs through an API, without managing the underlying GPU infrastructure yourself</a:t>
            </a:r>
          </a:p>
          <a:p>
            <a:pPr marL="0" lvl="0" indent="0">
              <a:lnSpc>
                <a:spcPct val="150000"/>
              </a:lnSpc>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Options</a:t>
            </a:r>
          </a:p>
          <a:p>
            <a:pPr marL="171450" lvl="0" indent="-171450">
              <a:lnSpc>
                <a:spcPct val="150000"/>
              </a:lnSpc>
              <a:buFont typeface="Arial" panose="020B0604020202020204" pitchFamily="34" charset="0"/>
              <a:buChar char="•"/>
            </a:pPr>
            <a:r>
              <a:rPr lang="en-US" sz="18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Hugging Face Inference</a:t>
            </a:r>
          </a:p>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Together AI</a:t>
            </a:r>
          </a:p>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Fireworks AI</a:t>
            </a:r>
          </a:p>
          <a:p>
            <a:pPr marL="171450" lvl="0" indent="-171450">
              <a:lnSpc>
                <a:spcPct val="150000"/>
              </a:lnSpc>
              <a:buFont typeface="Arial" panose="020B0604020202020204" pitchFamily="34" charset="0"/>
              <a:buChar char="•"/>
            </a:pPr>
            <a:r>
              <a:rPr lang="en-US" sz="1800" dirty="0" err="1">
                <a:latin typeface="Microsoft Sans Serif" panose="020B0604020202020204" pitchFamily="34" charset="0"/>
                <a:ea typeface="Microsoft Sans Serif" panose="020B0604020202020204" pitchFamily="34" charset="0"/>
                <a:cs typeface="Microsoft Sans Serif" panose="020B0604020202020204" pitchFamily="34" charset="0"/>
              </a:rPr>
              <a:t>Groq</a:t>
            </a:r>
            <a:endPar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1450" lvl="0" indent="-171450">
              <a:lnSpc>
                <a:spcPct val="150000"/>
              </a:lnSpc>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Cerebras</a:t>
            </a:r>
          </a:p>
        </p:txBody>
      </p:sp>
      <p:sp>
        <p:nvSpPr>
          <p:cNvPr id="356" name="Content Placeholder 4">
            <a:extLst>
              <a:ext uri="{FF2B5EF4-FFF2-40B4-BE49-F238E27FC236}">
                <a16:creationId xmlns:a16="http://schemas.microsoft.com/office/drawing/2014/main" id="{332C1C0B-EB3C-5E67-DA76-385E88AF3831}"/>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Hosted Open-Source API</a:t>
            </a:r>
          </a:p>
        </p:txBody>
      </p:sp>
    </p:spTree>
    <p:extLst>
      <p:ext uri="{BB962C8B-B14F-4D97-AF65-F5344CB8AC3E}">
        <p14:creationId xmlns:p14="http://schemas.microsoft.com/office/powerpoint/2010/main" val="29141565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A86CE-222E-4A74-E1E4-C6410423A02B}"/>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C82E6717-7159-F45C-8651-B3919CDD2644}"/>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6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Options for LLM</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Qwen/Qwen2.5-7B-Instruct</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HuggingFaceH4/zephyr-7b-beta</a:t>
            </a:r>
          </a:p>
          <a:p>
            <a:pPr marL="171450" indent="-171450">
              <a:buFont typeface="Arial" panose="020B0604020202020204" pitchFamily="34" charset="0"/>
              <a:buChar char="•"/>
            </a:pPr>
            <a:r>
              <a:rPr lang="en-US" sz="16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microsoft</a:t>
            </a: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/Phi-3-mini-4k-instruct</a:t>
            </a:r>
          </a:p>
          <a:p>
            <a:pPr marL="171450" indent="-171450">
              <a:buFont typeface="Arial" panose="020B0604020202020204" pitchFamily="34" charset="0"/>
              <a:buChar char="•"/>
            </a:pPr>
            <a:endPar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r>
              <a:rPr lang="en-US" sz="16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Options for SLM</a:t>
            </a:r>
          </a:p>
          <a:p>
            <a:pPr marL="171450" lvl="0" indent="-171450">
              <a:buFont typeface="Arial" panose="020B0604020202020204" pitchFamily="34" charset="0"/>
              <a:buChar char="•"/>
            </a:pPr>
            <a:r>
              <a:rPr lang="en-US" sz="16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HuggingFaceTB</a:t>
            </a: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/SmolLM2-1.7B-Instruct</a:t>
            </a:r>
          </a:p>
          <a:p>
            <a:pPr marL="171450" lvl="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google/gemma-2-2b-it</a:t>
            </a:r>
          </a:p>
          <a:p>
            <a:pPr marL="0" lvl="0" indent="0">
              <a:lnSpc>
                <a:spcPct val="150000"/>
              </a:lnSpc>
            </a:pPr>
            <a:endPar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r>
              <a:rPr lang="en-US" sz="16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Options for Embedding</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sentence-transformers/all-MiniLM-L6-v2</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BAAI/bge-small-en-v1.5</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sentence-transformers/all-mpnet-base-v2</a:t>
            </a:r>
          </a:p>
          <a:p>
            <a:pPr marL="171450" indent="-171450">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16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mixedbread</a:t>
            </a: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-ai/mxbai-embed-large-v1</a:t>
            </a:r>
          </a:p>
          <a:p>
            <a:pPr marL="171450" indent="-171450">
              <a:buFont typeface="Arial" panose="020B0604020202020204" pitchFamily="34" charset="0"/>
              <a:buChar char="•"/>
            </a:pPr>
            <a:endPar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1450" indent="-171450">
              <a:buFont typeface="Arial" panose="020B0604020202020204" pitchFamily="34" charset="0"/>
              <a:buChar char="•"/>
            </a:pPr>
            <a:endPar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endParaRPr lang="en-US" sz="16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E3AC6E8F-D1D6-CD65-93CF-3A74C3A3D700}"/>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Hugging Face Inference</a:t>
            </a:r>
          </a:p>
        </p:txBody>
      </p:sp>
    </p:spTree>
    <p:extLst>
      <p:ext uri="{BB962C8B-B14F-4D97-AF65-F5344CB8AC3E}">
        <p14:creationId xmlns:p14="http://schemas.microsoft.com/office/powerpoint/2010/main" val="294728007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B52D-8FB7-DD76-AD0D-BDF81736844B}"/>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568D55C3-93D9-68F0-3200-5C7A5AC00497}"/>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Access commercially hosted LLMs through APIs. The provider manages the model, GPUs, scaling, and inference infrastructure.</a:t>
            </a:r>
          </a:p>
          <a:p>
            <a:pPr marL="0" lvl="0" indent="0">
              <a:lnSpc>
                <a:spcPct val="150000"/>
              </a:lnSpc>
            </a:pPr>
            <a:endPar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lvl="0" indent="0">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Options</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OpenAI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Google Gemini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Anthropic API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Azure OpenAI</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Amazon Bedrock</a:t>
            </a:r>
          </a:p>
          <a:p>
            <a:pPr marL="171450" lvl="0" indent="-171450">
              <a:lnSpc>
                <a:spcPct val="150000"/>
              </a:lnSpc>
              <a:buFont typeface="Arial" panose="020B0604020202020204" pitchFamily="34" charset="0"/>
              <a:buChar char="•"/>
            </a:pP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Google Vertex AI</a:t>
            </a:r>
          </a:p>
        </p:txBody>
      </p:sp>
      <p:sp>
        <p:nvSpPr>
          <p:cNvPr id="356" name="Content Placeholder 4">
            <a:extLst>
              <a:ext uri="{FF2B5EF4-FFF2-40B4-BE49-F238E27FC236}">
                <a16:creationId xmlns:a16="http://schemas.microsoft.com/office/drawing/2014/main" id="{8242A82E-E554-26C6-2278-74F8202AB935}"/>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600" dirty="0"/>
              <a:t>Managed API / Managed Cloud AI Services</a:t>
            </a:r>
          </a:p>
        </p:txBody>
      </p:sp>
    </p:spTree>
    <p:extLst>
      <p:ext uri="{BB962C8B-B14F-4D97-AF65-F5344CB8AC3E}">
        <p14:creationId xmlns:p14="http://schemas.microsoft.com/office/powerpoint/2010/main" val="126737690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5737-407E-1EF3-A295-0EECFF9484C6}"/>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DA7DA55-77AA-162A-8389-BE65A3EF7D71}"/>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lvl="0" indent="0">
              <a:lnSpc>
                <a:spcPct val="150000"/>
              </a:lnSpc>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Rent GPU infrastructure from a cloud provider and deploy/manage the model yourself.</a:t>
            </a:r>
          </a:p>
          <a:p>
            <a:pPr marL="0" lvl="0" indent="0">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Options</a:t>
            </a:r>
          </a:p>
          <a:p>
            <a:pPr marL="171450" lvl="0" indent="-171450">
              <a:lnSpc>
                <a:spcPct val="150000"/>
              </a:lnSpc>
              <a:buFont typeface="Arial" panose="020B0604020202020204" pitchFamily="34" charset="0"/>
              <a:buChar char="•"/>
            </a:pPr>
            <a:r>
              <a:rPr lang="en-US" sz="16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RunPod</a:t>
            </a:r>
            <a:r>
              <a:rPr lang="en-US" sz="16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 Pods / Serverless approaches *</a:t>
            </a:r>
          </a:p>
          <a:p>
            <a:pPr marL="171450" lvl="0" indent="-171450">
              <a:lnSpc>
                <a:spcPct val="150000"/>
              </a:lnSpc>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AWS EC2 GPU instances</a:t>
            </a:r>
          </a:p>
          <a:p>
            <a:pPr marL="171450" lvl="0" indent="-171450">
              <a:lnSpc>
                <a:spcPct val="150000"/>
              </a:lnSpc>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Azure GPU VMs</a:t>
            </a:r>
          </a:p>
          <a:p>
            <a:pPr marL="171450" lvl="0" indent="-171450">
              <a:lnSpc>
                <a:spcPct val="150000"/>
              </a:lnSpc>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Google Cloud GPU VMs</a:t>
            </a:r>
          </a:p>
          <a:p>
            <a:pPr marL="171450" lvl="0" indent="-171450">
              <a:lnSpc>
                <a:spcPct val="150000"/>
              </a:lnSpc>
              <a:buFont typeface="Arial" panose="020B0604020202020204" pitchFamily="34" charset="0"/>
              <a:buChar char="•"/>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Other GPU cloud providers</a:t>
            </a:r>
          </a:p>
          <a:p>
            <a:pPr marL="0" lvl="0" indent="0">
              <a:lnSpc>
                <a:spcPct val="150000"/>
              </a:lnSpc>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600" dirty="0" err="1">
                <a:latin typeface="Microsoft Sans Serif" panose="020B0604020202020204" pitchFamily="34" charset="0"/>
                <a:ea typeface="Microsoft Sans Serif" panose="020B0604020202020204" pitchFamily="34" charset="0"/>
                <a:cs typeface="Microsoft Sans Serif" panose="020B0604020202020204" pitchFamily="34" charset="0"/>
              </a:rPr>
              <a:t>RunPod</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Pod - dedicated GPU environment; you manage the deployment</a:t>
            </a:r>
          </a:p>
          <a:p>
            <a:pPr marL="0" lvl="0" indent="0">
              <a:lnSpc>
                <a:spcPct val="150000"/>
              </a:lnSpc>
            </a:pP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600" dirty="0" err="1">
                <a:latin typeface="Microsoft Sans Serif" panose="020B0604020202020204" pitchFamily="34" charset="0"/>
                <a:ea typeface="Microsoft Sans Serif" panose="020B0604020202020204" pitchFamily="34" charset="0"/>
                <a:cs typeface="Microsoft Sans Serif" panose="020B0604020202020204" pitchFamily="34" charset="0"/>
              </a:rPr>
              <a:t>RunPod</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Serverless - on-demand GPU inference; infrastructure scaling is handled by the platform</a:t>
            </a:r>
          </a:p>
        </p:txBody>
      </p:sp>
      <p:sp>
        <p:nvSpPr>
          <p:cNvPr id="356" name="Content Placeholder 4">
            <a:extLst>
              <a:ext uri="{FF2B5EF4-FFF2-40B4-BE49-F238E27FC236}">
                <a16:creationId xmlns:a16="http://schemas.microsoft.com/office/drawing/2014/main" id="{A32BA63F-3FB7-E989-0CED-6E1799523777}"/>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Cloud GPU</a:t>
            </a:r>
            <a:endParaRPr lang="en-US" sz="2600" dirty="0"/>
          </a:p>
        </p:txBody>
      </p:sp>
    </p:spTree>
    <p:extLst>
      <p:ext uri="{BB962C8B-B14F-4D97-AF65-F5344CB8AC3E}">
        <p14:creationId xmlns:p14="http://schemas.microsoft.com/office/powerpoint/2010/main" val="795695219"/>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4370</TotalTime>
  <Words>1440</Words>
  <Application>Microsoft Office PowerPoint</Application>
  <PresentationFormat>On-screen Show (4:3)</PresentationFormat>
  <Paragraphs>195</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Microsoft Sans Serif</vt:lpstr>
      <vt:lpstr>Office Theme</vt:lpstr>
      <vt:lpstr>FDP  From Pipelines to Production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Shreyas Suresh Rao .</cp:lastModifiedBy>
  <cp:revision>512</cp:revision>
  <dcterms:modified xsi:type="dcterms:W3CDTF">2026-09-30T05:54:34Z</dcterms:modified>
</cp:coreProperties>
</file>