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537" r:id="rId4"/>
    <p:sldId id="672" r:id="rId5"/>
    <p:sldId id="673" r:id="rId6"/>
    <p:sldId id="559" r:id="rId7"/>
    <p:sldId id="664" r:id="rId8"/>
    <p:sldId id="655" r:id="rId9"/>
    <p:sldId id="656" r:id="rId10"/>
    <p:sldId id="666" r:id="rId11"/>
    <p:sldId id="657" r:id="rId12"/>
    <p:sldId id="670" r:id="rId13"/>
    <p:sldId id="671" r:id="rId14"/>
    <p:sldId id="665" r:id="rId15"/>
    <p:sldId id="667" r:id="rId16"/>
    <p:sldId id="668" r:id="rId17"/>
    <p:sldId id="669" r:id="rId18"/>
    <p:sldId id="393" r:id="rId19"/>
    <p:sldId id="556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6"/>
    <p:restoredTop sz="94667"/>
  </p:normalViewPr>
  <p:slideViewPr>
    <p:cSldViewPr snapToGrid="0">
      <p:cViewPr varScale="1">
        <p:scale>
          <a:sx n="64" d="100"/>
          <a:sy n="64" d="100"/>
        </p:scale>
        <p:origin x="16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09FF428-FD03-A3ED-E874-F7399C457B5A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4627D7-A115-550F-D7B3-42FC43297FF1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Picture 10" descr="Picture 10">
            <a:extLst>
              <a:ext uri="{FF2B5EF4-FFF2-40B4-BE49-F238E27FC236}">
                <a16:creationId xmlns:a16="http://schemas.microsoft.com/office/drawing/2014/main" id="{D695F453-58E4-7D66-AB7F-98878BD64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93711A98-B303-E78D-34AC-04374950E07A}"/>
              </a:ext>
            </a:extLst>
          </p:cNvPr>
          <p:cNvSpPr txBox="1"/>
          <p:nvPr userDrawn="1"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2667000" y="3898061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7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6903719" y="7620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BITS</a:t>
            </a:r>
            <a:r>
              <a:rPr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E9826F6-77EC-4995-BFD7-0318A680BA1A}"/>
              </a:ext>
            </a:extLst>
          </p:cNvPr>
          <p:cNvGrpSpPr/>
          <p:nvPr userDrawn="1"/>
        </p:nvGrpSpPr>
        <p:grpSpPr>
          <a:xfrm>
            <a:off x="0" y="0"/>
            <a:ext cx="9144001" cy="6857673"/>
            <a:chOff x="0" y="0"/>
            <a:chExt cx="9144001" cy="6857673"/>
          </a:xfrm>
        </p:grpSpPr>
        <p:grpSp>
          <p:nvGrpSpPr>
            <p:cNvPr id="46" name="Group 6">
              <a:extLst>
                <a:ext uri="{FF2B5EF4-FFF2-40B4-BE49-F238E27FC236}">
                  <a16:creationId xmlns:a16="http://schemas.microsoft.com/office/drawing/2014/main" id="{32D72169-E06F-45D8-A5EC-D681EB602EE5}"/>
                </a:ext>
              </a:extLst>
            </p:cNvPr>
            <p:cNvGrpSpPr/>
            <p:nvPr userDrawn="1"/>
          </p:nvGrpSpPr>
          <p:grpSpPr>
            <a:xfrm>
              <a:off x="0" y="1295400"/>
              <a:ext cx="7010401" cy="46038"/>
              <a:chOff x="0" y="0"/>
              <a:chExt cx="7010400" cy="46037"/>
            </a:xfrm>
          </p:grpSpPr>
          <p:sp>
            <p:nvSpPr>
              <p:cNvPr id="53" name="Rectangle 6">
                <a:extLst>
                  <a:ext uri="{FF2B5EF4-FFF2-40B4-BE49-F238E27FC236}">
                    <a16:creationId xmlns:a16="http://schemas.microsoft.com/office/drawing/2014/main" id="{31663E90-6CD3-4B00-A313-2FF6AA636CAA}"/>
                  </a:ext>
                </a:extLst>
              </p:cNvPr>
              <p:cNvSpPr/>
              <p:nvPr/>
            </p:nvSpPr>
            <p:spPr>
              <a:xfrm>
                <a:off x="2362199" y="0"/>
                <a:ext cx="2328865" cy="46038"/>
              </a:xfrm>
              <a:prstGeom prst="rect">
                <a:avLst/>
              </a:prstGeom>
              <a:solidFill>
                <a:srgbClr val="76C2E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4" name="Rectangle 7">
                <a:extLst>
                  <a:ext uri="{FF2B5EF4-FFF2-40B4-BE49-F238E27FC236}">
                    <a16:creationId xmlns:a16="http://schemas.microsoft.com/office/drawing/2014/main" id="{991F866D-51D8-403E-B66D-97E9D9FB560B}"/>
                  </a:ext>
                </a:extLst>
              </p:cNvPr>
              <p:cNvSpPr/>
              <p:nvPr/>
            </p:nvSpPr>
            <p:spPr>
              <a:xfrm>
                <a:off x="-1" y="0"/>
                <a:ext cx="2362201" cy="46038"/>
              </a:xfrm>
              <a:prstGeom prst="rect">
                <a:avLst/>
              </a:prstGeom>
              <a:solidFill>
                <a:srgbClr val="FCB01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5" name="Rectangle 8">
                <a:extLst>
                  <a:ext uri="{FF2B5EF4-FFF2-40B4-BE49-F238E27FC236}">
                    <a16:creationId xmlns:a16="http://schemas.microsoft.com/office/drawing/2014/main" id="{35316865-7F39-4EDA-9213-10248D1FBE99}"/>
                  </a:ext>
                </a:extLst>
              </p:cNvPr>
              <p:cNvSpPr/>
              <p:nvPr/>
            </p:nvSpPr>
            <p:spPr>
              <a:xfrm>
                <a:off x="4681537" y="0"/>
                <a:ext cx="2328864" cy="4603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47" name="Group 10">
              <a:extLst>
                <a:ext uri="{FF2B5EF4-FFF2-40B4-BE49-F238E27FC236}">
                  <a16:creationId xmlns:a16="http://schemas.microsoft.com/office/drawing/2014/main" id="{2D2DD56F-AE09-49F0-9B99-D2EE701D8FF5}"/>
                </a:ext>
              </a:extLst>
            </p:cNvPr>
            <p:cNvGrpSpPr/>
            <p:nvPr userDrawn="1"/>
          </p:nvGrpSpPr>
          <p:grpSpPr>
            <a:xfrm>
              <a:off x="2133600" y="6553200"/>
              <a:ext cx="7010401" cy="46038"/>
              <a:chOff x="0" y="0"/>
              <a:chExt cx="7010400" cy="46037"/>
            </a:xfrm>
          </p:grpSpPr>
          <p:sp>
            <p:nvSpPr>
              <p:cNvPr id="50" name="Rectangle 10">
                <a:extLst>
                  <a:ext uri="{FF2B5EF4-FFF2-40B4-BE49-F238E27FC236}">
                    <a16:creationId xmlns:a16="http://schemas.microsoft.com/office/drawing/2014/main" id="{DAEB79DB-4734-4234-BD44-76AB6ABA11F2}"/>
                  </a:ext>
                </a:extLst>
              </p:cNvPr>
              <p:cNvSpPr/>
              <p:nvPr/>
            </p:nvSpPr>
            <p:spPr>
              <a:xfrm>
                <a:off x="2362199" y="0"/>
                <a:ext cx="2328865" cy="46038"/>
              </a:xfrm>
              <a:prstGeom prst="rect">
                <a:avLst/>
              </a:prstGeom>
              <a:solidFill>
                <a:srgbClr val="76C2E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1" name="Rectangle 11">
                <a:extLst>
                  <a:ext uri="{FF2B5EF4-FFF2-40B4-BE49-F238E27FC236}">
                    <a16:creationId xmlns:a16="http://schemas.microsoft.com/office/drawing/2014/main" id="{508D804C-A4C7-412F-8063-43C12673820B}"/>
                  </a:ext>
                </a:extLst>
              </p:cNvPr>
              <p:cNvSpPr/>
              <p:nvPr/>
            </p:nvSpPr>
            <p:spPr>
              <a:xfrm>
                <a:off x="-1" y="0"/>
                <a:ext cx="2362201" cy="46038"/>
              </a:xfrm>
              <a:prstGeom prst="rect">
                <a:avLst/>
              </a:prstGeom>
              <a:solidFill>
                <a:srgbClr val="FCB017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2" name="Rectangle 12">
                <a:extLst>
                  <a:ext uri="{FF2B5EF4-FFF2-40B4-BE49-F238E27FC236}">
                    <a16:creationId xmlns:a16="http://schemas.microsoft.com/office/drawing/2014/main" id="{827A04DF-D4FE-44C0-87D7-AF2AA37D3F97}"/>
                  </a:ext>
                </a:extLst>
              </p:cNvPr>
              <p:cNvSpPr/>
              <p:nvPr/>
            </p:nvSpPr>
            <p:spPr>
              <a:xfrm>
                <a:off x="4681537" y="0"/>
                <a:ext cx="2328864" cy="46038"/>
              </a:xfrm>
              <a:prstGeom prst="rect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48" name="Picture 14" descr="Picture 14">
              <a:extLst>
                <a:ext uri="{FF2B5EF4-FFF2-40B4-BE49-F238E27FC236}">
                  <a16:creationId xmlns:a16="http://schemas.microsoft.com/office/drawing/2014/main" id="{5DC18BF1-5331-4F2F-A174-787311906D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2677" b="2677"/>
            <a:stretch>
              <a:fillRect/>
            </a:stretch>
          </p:blipFill>
          <p:spPr>
            <a:xfrm>
              <a:off x="6629400" y="0"/>
              <a:ext cx="2193925" cy="69215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BA5796A7-03C0-4F17-B86D-A3B33F3BC2CE}"/>
                </a:ext>
              </a:extLst>
            </p:cNvPr>
            <p:cNvSpPr txBox="1"/>
            <p:nvPr userDrawn="1"/>
          </p:nvSpPr>
          <p:spPr>
            <a:xfrm>
              <a:off x="3322319" y="6596063"/>
              <a:ext cx="5775962" cy="2616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/>
            <a:p>
              <a:pPr algn="r">
                <a:defRPr sz="1100" b="1">
                  <a:solidFill>
                    <a:srgbClr val="101141"/>
                  </a:solidFill>
                  <a:latin typeface="+mj-lt"/>
                  <a:ea typeface="+mj-ea"/>
                  <a:cs typeface="+mj-cs"/>
                  <a:sym typeface="Arial"/>
                </a:defRPr>
              </a:pPr>
              <a:r>
                <a:rPr lang="en-IN" dirty="0"/>
                <a:t>BITS </a:t>
              </a:r>
              <a:r>
                <a:rPr lang="en-IN" b="0" dirty="0" err="1"/>
                <a:t>Pilani</a:t>
              </a:r>
              <a:r>
                <a:rPr lang="en-IN" b="0" dirty="0"/>
                <a:t>, Deemed to be University under Section 3 of UGC Act, 1956</a:t>
              </a:r>
            </a:p>
          </p:txBody>
        </p:sp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FD8716B-A31C-47B4-A0C5-7548CDD430C6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680844E-99C5-4EC4-B180-E92A119739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DF246C4-7681-40D2-BD7F-05D1FC48F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1C3A5CD5-E5A4-4ACE-A91A-27B1E844C5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9469C547-61A0-45EB-B6FA-25B60785AF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17C0F69-5C4A-46A1-81DF-1368943C85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F7D3B5F-9C84-4CDD-ADC5-1C7AEA7FFA30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id="{94E0EC27-CD44-4116-BDFE-8C07A845F21D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id="{A6BF9062-0344-4685-A2A4-47E7FFFD7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id="{64025BE1-99DE-43D5-BA61-5EE12DD7C1C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id="{074D5DEA-390A-4108-83CB-EE96445CE40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id="{552E09F6-519C-4756-9EA7-45D6DCBE310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id="{F6963B12-636B-4383-B53F-0920A9A2D2A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id="{6D65AAF7-65CB-490D-AE4C-56EB3A380F6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id="{82692E83-6BB2-4F17-81B3-5FB0B92EA780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id="{70822080-A35E-497B-A345-0B4F6B3CEC3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id="{35FF49B6-322B-45EA-ADB7-89C68BCD8C5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5201B7A3-E0CF-49C7-BCF5-6D53993FB4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3C6F3F4-5751-43BB-8C7D-E213EC59F5AA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100B7FA-AEEE-4B3E-BF82-561149B2BC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A1F78BE-6A45-4BEE-B3D7-5B27F29777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4F972F80-0475-4E37-81F3-DF25FE0B4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0C8BCD8D-488C-4254-8236-C54B88630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2EDFD120-14DA-495A-8AED-AED69AF682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2740D71-E14A-4547-9EF5-592B9A01A999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id="{20AE3508-2CAE-49F6-9380-FEBEC6AE18A1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id="{24132926-3854-4E73-9F61-FFAE5A7A1A47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id="{62E95AD1-C80F-4E74-A9C5-D34DE62DE82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id="{CCFFD9FF-0E13-4ACB-BF93-17B024793B9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id="{0D855871-BE12-498A-AB58-46EF62159C4F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id="{C977D99F-D1F8-45A3-ADF9-564B6E2C33B2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id="{31017A24-6422-4F19-B9AA-92767E4CE1B0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id="{9653E56F-820B-4B37-B055-A3C49FF7E2F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id="{E9AFB7EB-F4A0-4F61-B3FC-95170197BC5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0A56C53E-F093-4235-B0C3-8FDF84D95BFF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B0F0EE30-1431-48B8-8A47-F3CED9AB2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82708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D5745CB-06AA-4B81-957F-FB40813E1114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9CF6619D-D89D-4695-84F2-4D14B9CE5C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F684C8C-B74B-40AF-ABA0-D163472572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347B43F-FF3F-4A48-9060-6D5ED0C6A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E002E591-4F7B-48A9-9F72-9E4DE09C2B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09B02342-AE14-4FD7-923C-6D9B53B916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2F6725C-53D2-4236-87F9-62DF3413A481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8" name="Group 6">
                <a:extLst>
                  <a:ext uri="{FF2B5EF4-FFF2-40B4-BE49-F238E27FC236}">
                    <a16:creationId xmlns:a16="http://schemas.microsoft.com/office/drawing/2014/main" id="{5D5570D8-518F-4A65-AB4C-10057F149106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5" name="Rectangle 6">
                  <a:extLst>
                    <a:ext uri="{FF2B5EF4-FFF2-40B4-BE49-F238E27FC236}">
                      <a16:creationId xmlns:a16="http://schemas.microsoft.com/office/drawing/2014/main" id="{F8BC0A35-0293-4229-B935-BFF81052072D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6" name="Rectangle 7">
                  <a:extLst>
                    <a:ext uri="{FF2B5EF4-FFF2-40B4-BE49-F238E27FC236}">
                      <a16:creationId xmlns:a16="http://schemas.microsoft.com/office/drawing/2014/main" id="{F86283D0-4A1E-43CD-B49A-B5DEF391613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8">
                  <a:extLst>
                    <a:ext uri="{FF2B5EF4-FFF2-40B4-BE49-F238E27FC236}">
                      <a16:creationId xmlns:a16="http://schemas.microsoft.com/office/drawing/2014/main" id="{21009D49-5D49-47D3-9581-2B06B0F95B53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id="{F6AC508B-8E77-4674-8422-3B4DA12D07F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2" name="Rectangle 10">
                  <a:extLst>
                    <a:ext uri="{FF2B5EF4-FFF2-40B4-BE49-F238E27FC236}">
                      <a16:creationId xmlns:a16="http://schemas.microsoft.com/office/drawing/2014/main" id="{EF35E278-0085-4428-A96D-7CA4168C754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3" name="Rectangle 11">
                  <a:extLst>
                    <a:ext uri="{FF2B5EF4-FFF2-40B4-BE49-F238E27FC236}">
                      <a16:creationId xmlns:a16="http://schemas.microsoft.com/office/drawing/2014/main" id="{476F634D-3AEE-4698-B03A-21206F97095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2">
                  <a:extLst>
                    <a:ext uri="{FF2B5EF4-FFF2-40B4-BE49-F238E27FC236}">
                      <a16:creationId xmlns:a16="http://schemas.microsoft.com/office/drawing/2014/main" id="{3EC4A554-78FE-4858-9D34-5D12D86AB4F8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0" name="Picture 14" descr="Picture 14">
                <a:extLst>
                  <a:ext uri="{FF2B5EF4-FFF2-40B4-BE49-F238E27FC236}">
                    <a16:creationId xmlns:a16="http://schemas.microsoft.com/office/drawing/2014/main" id="{D53E0125-E6C8-4170-8576-A8B945924E8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1" name="TextBox 14">
                <a:extLst>
                  <a:ext uri="{FF2B5EF4-FFF2-40B4-BE49-F238E27FC236}">
                    <a16:creationId xmlns:a16="http://schemas.microsoft.com/office/drawing/2014/main" id="{3BF71A74-AAB4-4ED8-9AC1-98341ED06B55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AF9A04AC-78E1-4BBC-9A65-F911836357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BA91D93-81E9-4E44-BA3B-BFC4DB61B9B1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03074E5-C395-4142-B82C-55575CC375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5043B723-FDC1-4C80-B36E-65A0302A4A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DB4FDD8-D8D7-4A39-973E-FF204CF26F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76FF869-530C-4BCB-92FE-054992EB10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D919A7FA-FDD4-4C10-97CC-BCD6F27C1D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CCFF274-1225-4563-806D-A565D4704B4E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49" name="Group 6">
                <a:extLst>
                  <a:ext uri="{FF2B5EF4-FFF2-40B4-BE49-F238E27FC236}">
                    <a16:creationId xmlns:a16="http://schemas.microsoft.com/office/drawing/2014/main" id="{A78C547C-62FD-49F4-8220-87E6108E1DC0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56" name="Rectangle 6">
                  <a:extLst>
                    <a:ext uri="{FF2B5EF4-FFF2-40B4-BE49-F238E27FC236}">
                      <a16:creationId xmlns:a16="http://schemas.microsoft.com/office/drawing/2014/main" id="{E131FBB3-C3F0-4F2C-AA58-58B5D5B147F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7" name="Rectangle 7">
                  <a:extLst>
                    <a:ext uri="{FF2B5EF4-FFF2-40B4-BE49-F238E27FC236}">
                      <a16:creationId xmlns:a16="http://schemas.microsoft.com/office/drawing/2014/main" id="{7C694F41-E945-4E8B-BA86-DC9A598526C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id="{857E2CF2-3046-46A4-889D-40063CCC6F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50" name="Group 10">
                <a:extLst>
                  <a:ext uri="{FF2B5EF4-FFF2-40B4-BE49-F238E27FC236}">
                    <a16:creationId xmlns:a16="http://schemas.microsoft.com/office/drawing/2014/main" id="{EC7C1379-6432-4776-8A30-B023A4412329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53" name="Rectangle 10">
                  <a:extLst>
                    <a:ext uri="{FF2B5EF4-FFF2-40B4-BE49-F238E27FC236}">
                      <a16:creationId xmlns:a16="http://schemas.microsoft.com/office/drawing/2014/main" id="{A8A7BDE8-B2DB-48A5-BEC9-63C3D85E29DE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4" name="Rectangle 11">
                  <a:extLst>
                    <a:ext uri="{FF2B5EF4-FFF2-40B4-BE49-F238E27FC236}">
                      <a16:creationId xmlns:a16="http://schemas.microsoft.com/office/drawing/2014/main" id="{13B51388-D487-404B-8E80-29EBE51F59E4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55" name="Rectangle 12">
                  <a:extLst>
                    <a:ext uri="{FF2B5EF4-FFF2-40B4-BE49-F238E27FC236}">
                      <a16:creationId xmlns:a16="http://schemas.microsoft.com/office/drawing/2014/main" id="{0726AA02-C9CE-4E8C-A77E-9A458E9F0225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51" name="Picture 14" descr="Picture 14">
                <a:extLst>
                  <a:ext uri="{FF2B5EF4-FFF2-40B4-BE49-F238E27FC236}">
                    <a16:creationId xmlns:a16="http://schemas.microsoft.com/office/drawing/2014/main" id="{F4752845-A425-4626-8999-478B6153E30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52" name="TextBox 14">
                <a:extLst>
                  <a:ext uri="{FF2B5EF4-FFF2-40B4-BE49-F238E27FC236}">
                    <a16:creationId xmlns:a16="http://schemas.microsoft.com/office/drawing/2014/main" id="{E2DF6F5B-D493-4810-B293-745C2BA1A0FC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9623608-3D09-45A2-8F67-52AC08DC49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600200"/>
            <a:ext cx="300831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0635ADB2-6EA8-4BAD-8DAD-0182A2D9B5D3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A2BB439D-C20C-4C61-883B-5D07B84E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A2344A81-D7C5-4E75-BD95-2C31857749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493B14BD-1E4B-4DAF-8B9A-008ACC84DB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80" name="Graphic 79">
              <a:extLst>
                <a:ext uri="{FF2B5EF4-FFF2-40B4-BE49-F238E27FC236}">
                  <a16:creationId xmlns:a16="http://schemas.microsoft.com/office/drawing/2014/main" id="{1017A1EE-D786-4AD9-8114-7031497F1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5EB74B49-6A5D-4E90-A8EF-F1A27B22DD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0B25D4E-B9E2-4A64-A8A8-6B92913B4C6C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84" name="Group 6">
                <a:extLst>
                  <a:ext uri="{FF2B5EF4-FFF2-40B4-BE49-F238E27FC236}">
                    <a16:creationId xmlns:a16="http://schemas.microsoft.com/office/drawing/2014/main" id="{A2EA67C3-44DA-4665-8AE2-141440DB23E2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91" name="Rectangle 6">
                  <a:extLst>
                    <a:ext uri="{FF2B5EF4-FFF2-40B4-BE49-F238E27FC236}">
                      <a16:creationId xmlns:a16="http://schemas.microsoft.com/office/drawing/2014/main" id="{D463F1CA-4C9D-4BCC-B0BD-14721FADA3F5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2" name="Rectangle 7">
                  <a:extLst>
                    <a:ext uri="{FF2B5EF4-FFF2-40B4-BE49-F238E27FC236}">
                      <a16:creationId xmlns:a16="http://schemas.microsoft.com/office/drawing/2014/main" id="{2EF7E6B7-9421-4BAA-AB81-AE89E08FDF0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3" name="Rectangle 8">
                  <a:extLst>
                    <a:ext uri="{FF2B5EF4-FFF2-40B4-BE49-F238E27FC236}">
                      <a16:creationId xmlns:a16="http://schemas.microsoft.com/office/drawing/2014/main" id="{AFEE1048-04C1-4DCE-8973-4784C897E7F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85" name="Group 10">
                <a:extLst>
                  <a:ext uri="{FF2B5EF4-FFF2-40B4-BE49-F238E27FC236}">
                    <a16:creationId xmlns:a16="http://schemas.microsoft.com/office/drawing/2014/main" id="{62DA8075-114E-4D1A-8199-46D51587204A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88" name="Rectangle 10">
                  <a:extLst>
                    <a:ext uri="{FF2B5EF4-FFF2-40B4-BE49-F238E27FC236}">
                      <a16:creationId xmlns:a16="http://schemas.microsoft.com/office/drawing/2014/main" id="{42070327-4A30-4BA2-A8E6-6E330B5F30EB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89" name="Rectangle 11">
                  <a:extLst>
                    <a:ext uri="{FF2B5EF4-FFF2-40B4-BE49-F238E27FC236}">
                      <a16:creationId xmlns:a16="http://schemas.microsoft.com/office/drawing/2014/main" id="{EB4AF601-277A-494B-9871-87FBA75E5451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0" name="Rectangle 12">
                  <a:extLst>
                    <a:ext uri="{FF2B5EF4-FFF2-40B4-BE49-F238E27FC236}">
                      <a16:creationId xmlns:a16="http://schemas.microsoft.com/office/drawing/2014/main" id="{AB04FF31-B9E9-4A43-98B4-8DB577BD383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86" name="Picture 14" descr="Picture 14">
                <a:extLst>
                  <a:ext uri="{FF2B5EF4-FFF2-40B4-BE49-F238E27FC236}">
                    <a16:creationId xmlns:a16="http://schemas.microsoft.com/office/drawing/2014/main" id="{F8C276B3-EE15-4980-9AC5-AF2F16814A5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87" name="TextBox 14">
                <a:extLst>
                  <a:ext uri="{FF2B5EF4-FFF2-40B4-BE49-F238E27FC236}">
                    <a16:creationId xmlns:a16="http://schemas.microsoft.com/office/drawing/2014/main" id="{D133DA9B-065F-4040-94C1-D75BBB8A8147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DD930F25-DAB1-4FE7-A1F6-75A37FD15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711825"/>
            <a:ext cx="54864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1828800"/>
            <a:ext cx="54864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83BBAD0-43A5-4D32-8FC9-062F956D4D42}"/>
              </a:ext>
            </a:extLst>
          </p:cNvPr>
          <p:cNvGrpSpPr/>
          <p:nvPr userDrawn="1"/>
        </p:nvGrpSpPr>
        <p:grpSpPr>
          <a:xfrm>
            <a:off x="-59470" y="-641099"/>
            <a:ext cx="9267429" cy="8253818"/>
            <a:chOff x="-59470" y="-641099"/>
            <a:chExt cx="9267429" cy="825381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48972" y="1734076"/>
              <a:ext cx="5246055" cy="524605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C9D4848-2B9E-4B8D-B630-AD31B35203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24369">
              <a:off x="-59470" y="4282884"/>
              <a:ext cx="3329835" cy="3329835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635F0174-0096-461B-8212-566B0011E8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78124" y="4281440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18" y="-641098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3604717">
              <a:off x="5806918" y="-64109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10002" y="2493406"/>
              <a:ext cx="1523997" cy="15239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90160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pc="-200"/>
            </a:lvl1pPr>
          </a:lstStyle>
          <a:p>
            <a:pPr algn="ctr"/>
            <a:r>
              <a:rPr lang="en-US" dirty="0"/>
              <a:t>FDP </a:t>
            </a:r>
            <a:br>
              <a:rPr lang="en-US" dirty="0"/>
            </a:br>
            <a:r>
              <a:rPr lang="en-US" dirty="0"/>
              <a:t>From Pipelines to Production</a:t>
            </a:r>
            <a:endParaRPr dirty="0"/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defTabSz="886968">
              <a:lnSpc>
                <a:spcPct val="150000"/>
              </a:lnSpc>
              <a:defRPr sz="1746"/>
            </a:pPr>
            <a:r>
              <a:rPr lang="en-US" sz="1600" dirty="0"/>
              <a:t>Dr. Shreyas Rao</a:t>
            </a:r>
          </a:p>
          <a:p>
            <a:pPr defTabSz="886968">
              <a:lnSpc>
                <a:spcPct val="150000"/>
              </a:lnSpc>
              <a:defRPr sz="1746"/>
            </a:pPr>
            <a:r>
              <a:rPr lang="en-US" sz="1600" dirty="0"/>
              <a:t>Professor, Dept. of CSIS, BITS-Pilani</a:t>
            </a:r>
            <a:endParaRPr sz="16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algn="ctr" eaLnBrk="1" hangingPunct="1">
              <a:spcBef>
                <a:spcPct val="0"/>
              </a:spcBef>
              <a:defRPr/>
            </a:pPr>
            <a:r>
              <a:rPr lang="en-US" dirty="0"/>
              <a:t>Day 3</a:t>
            </a:r>
          </a:p>
          <a:p>
            <a:pPr algn="ctr" eaLnBrk="1" hangingPunct="1">
              <a:spcBef>
                <a:spcPct val="0"/>
              </a:spcBef>
              <a:defRPr/>
            </a:pPr>
            <a:r>
              <a:rPr lang="en-US" dirty="0">
                <a:latin typeface="Arial" charset="0"/>
                <a:cs typeface="Arial" charset="0"/>
              </a:rPr>
              <a:t>The Generative System: RAG, </a:t>
            </a:r>
            <a:r>
              <a:rPr lang="en-US" dirty="0" err="1">
                <a:latin typeface="Arial" charset="0"/>
                <a:cs typeface="Arial" charset="0"/>
              </a:rPr>
              <a:t>LLMOps</a:t>
            </a:r>
            <a:r>
              <a:rPr lang="en-US" dirty="0">
                <a:latin typeface="Arial" charset="0"/>
                <a:cs typeface="Arial" charset="0"/>
              </a:rPr>
              <a:t> and </a:t>
            </a:r>
            <a:r>
              <a:rPr lang="en-US" dirty="0" err="1">
                <a:latin typeface="Arial" charset="0"/>
                <a:cs typeface="Arial" charset="0"/>
              </a:rPr>
              <a:t>AgentOps</a:t>
            </a: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9387-164A-46EF-00EB-B8246988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>
            <a:extLst>
              <a:ext uri="{FF2B5EF4-FFF2-40B4-BE49-F238E27FC236}">
                <a16:creationId xmlns:a16="http://schemas.microsoft.com/office/drawing/2014/main" id="{CD997DF4-9190-E92C-3F28-E491093E4A69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dirty="0" err="1">
                <a:latin typeface="Arial" charset="0"/>
                <a:cs typeface="Arial" charset="0"/>
              </a:rPr>
              <a:t>LLMOps</a:t>
            </a:r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95086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A3FB-0D15-84E2-58DD-70FA3B59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39C9B99E-DCB5-20FF-EE2E-52EE0885FB1F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What is </a:t>
            </a:r>
            <a:r>
              <a:rPr lang="en-IN" sz="2800" dirty="0" err="1"/>
              <a:t>LLMOps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9D96B-37A9-82BD-DA83-D0AC8DA44F6F}"/>
              </a:ext>
            </a:extLst>
          </p:cNvPr>
          <p:cNvSpPr txBox="1"/>
          <p:nvPr/>
        </p:nvSpPr>
        <p:spPr>
          <a:xfrm>
            <a:off x="240890" y="1499532"/>
            <a:ext cx="8662220" cy="2117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LLMOps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or large language model operations, refers to the practices and processes involved in managing and operating large language models (LLMs)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LLMOps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 specialized subset of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MLOps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(machine learning operations), which focuses specifically on the challenges and requirements of managing LLMs</a:t>
            </a:r>
          </a:p>
          <a:p>
            <a:pPr>
              <a:lnSpc>
                <a:spcPct val="150000"/>
              </a:lnSpc>
            </a:pP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2C3F4-5EF1-D19C-8CE3-8FA77A1773A3}"/>
              </a:ext>
            </a:extLst>
          </p:cNvPr>
          <p:cNvSpPr txBox="1"/>
          <p:nvPr/>
        </p:nvSpPr>
        <p:spPr>
          <a:xfrm>
            <a:off x="301503" y="5987693"/>
            <a:ext cx="618989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https://cloud.google.com/discover/what-is-llmops</a:t>
            </a:r>
          </a:p>
        </p:txBody>
      </p:sp>
    </p:spTree>
    <p:extLst>
      <p:ext uri="{BB962C8B-B14F-4D97-AF65-F5344CB8AC3E}">
        <p14:creationId xmlns:p14="http://schemas.microsoft.com/office/powerpoint/2010/main" val="141281576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AF2E-5419-0903-3663-B1618059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F7FFBAC7-D0AB-6275-BB90-32EDFF918900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What is </a:t>
            </a:r>
            <a:r>
              <a:rPr lang="en-IN" sz="2800" dirty="0" err="1"/>
              <a:t>LLMOps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F7DE5-0EF9-AF82-52E6-16683EE295A0}"/>
              </a:ext>
            </a:extLst>
          </p:cNvPr>
          <p:cNvSpPr txBox="1"/>
          <p:nvPr/>
        </p:nvSpPr>
        <p:spPr>
          <a:xfrm>
            <a:off x="326037" y="1446815"/>
            <a:ext cx="8578120" cy="1701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Perspective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this workshop, we are looking at </a:t>
            </a:r>
            <a:r>
              <a:rPr lang="en-US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LLMOps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from the perspective of an LLM-powered RAG application, rather than from the perspective of developing and training the underlying foundation model.</a:t>
            </a:r>
            <a:endParaRPr lang="en-IN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338EF1-C329-C64A-4772-EC7FDDDE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07" y="3414703"/>
            <a:ext cx="4425998" cy="28452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37650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382E-96DD-FE6E-A0D9-AA4D946C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4ED7E4AF-694A-9F60-CCB6-EF7ECE8A8643}"/>
              </a:ext>
            </a:extLst>
          </p:cNvPr>
          <p:cNvSpPr txBox="1"/>
          <p:nvPr/>
        </p:nvSpPr>
        <p:spPr>
          <a:xfrm>
            <a:off x="299480" y="0"/>
            <a:ext cx="623316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 err="1"/>
              <a:t>LLMOps</a:t>
            </a:r>
            <a:r>
              <a:rPr lang="en-US" dirty="0"/>
              <a:t> Tools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2776C-7044-0CCD-5C0E-AD042E9AE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597132"/>
              </p:ext>
            </p:extLst>
          </p:nvPr>
        </p:nvGraphicFramePr>
        <p:xfrm>
          <a:off x="534329" y="1510257"/>
          <a:ext cx="7685598" cy="47740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3881">
                  <a:extLst>
                    <a:ext uri="{9D8B030D-6E8A-4147-A177-3AD203B41FA5}">
                      <a16:colId xmlns:a16="http://schemas.microsoft.com/office/drawing/2014/main" val="1154432860"/>
                    </a:ext>
                  </a:extLst>
                </a:gridCol>
                <a:gridCol w="2143593">
                  <a:extLst>
                    <a:ext uri="{9D8B030D-6E8A-4147-A177-3AD203B41FA5}">
                      <a16:colId xmlns:a16="http://schemas.microsoft.com/office/drawing/2014/main" val="3304224651"/>
                    </a:ext>
                  </a:extLst>
                </a:gridCol>
                <a:gridCol w="3348124">
                  <a:extLst>
                    <a:ext uri="{9D8B030D-6E8A-4147-A177-3AD203B41FA5}">
                      <a16:colId xmlns:a16="http://schemas.microsoft.com/office/drawing/2014/main" val="1392916029"/>
                    </a:ext>
                  </a:extLst>
                </a:gridCol>
              </a:tblGrid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LLMOps</a:t>
                      </a:r>
                      <a:r>
                        <a:rPr lang="en-US" sz="14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Area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Tool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Purpose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6865797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LLM Model / Embedding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OpenAI API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Generate responses and embeddings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422581986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 Framework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LangChain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Build the RAG pipeline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846254397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Vector Database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ChromaDB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Store and retrieve document embeddings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4027422079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Document Processing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PyPDF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/ </a:t>
                      </a:r>
                      <a:r>
                        <a:rPr lang="en-US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PyMuPDF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PDF ingestion and text extraction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4038535752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Observability / Tracing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Langfuse</a:t>
                      </a:r>
                      <a:endParaRPr lang="en-US" sz="1200" dirty="0">
                        <a:solidFill>
                          <a:srgbClr val="0070C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Trace LLM calls, prompts, retrieval, latency, tokens, costs, errors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552937317"/>
                  </a:ext>
                </a:extLst>
              </a:tr>
              <a:tr h="597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Evaluation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Evaluate RAG quality using metrics such as faithfulness, answer relevance and context relevance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901664363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Experiment Tracking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Langfuse</a:t>
                      </a:r>
                      <a:endParaRPr lang="en-US" sz="1200" dirty="0">
                        <a:solidFill>
                          <a:srgbClr val="0070C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Compare runs, prompts, models and performance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111420123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Prompt Management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Langfuse</a:t>
                      </a:r>
                      <a:endParaRPr lang="en-US" sz="1200" dirty="0">
                        <a:solidFill>
                          <a:srgbClr val="0070C0"/>
                        </a:solidFill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Store/version prompts and evaluate prompt changes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426970617"/>
                  </a:ext>
                </a:extLst>
              </a:tr>
              <a:tr h="42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Dataset / Test Set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JSON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Maintain question–answer–context evaluation datasets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931530942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Application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Streamlit</a:t>
                      </a:r>
                      <a:endParaRPr lang="en-US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Build a RAG application/UI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006838995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Configuration / Secrets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.env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Manage API keys securely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72950816"/>
                  </a:ext>
                </a:extLst>
              </a:tr>
              <a:tr h="2561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Development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VS Code</a:t>
                      </a: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Development and experimentation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94332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6774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5355-4167-60A6-B7DB-EE34FAEF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>
            <a:extLst>
              <a:ext uri="{FF2B5EF4-FFF2-40B4-BE49-F238E27FC236}">
                <a16:creationId xmlns:a16="http://schemas.microsoft.com/office/drawing/2014/main" id="{883BB921-46A5-2CB0-F516-C67A537D92B8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0" y="4573250"/>
            <a:ext cx="8458200" cy="966019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algn="ctr">
              <a:lnSpc>
                <a:spcPct val="170000"/>
              </a:lnSpc>
            </a:pPr>
            <a:r>
              <a:rPr lang="en-IN" dirty="0"/>
              <a:t>	RAGAS framework for RAG Evaluation</a:t>
            </a:r>
            <a:endParaRPr lang="en-US" sz="1400" dirty="0"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D8E73-D3E7-5FE8-1B02-5022C27D85A6}"/>
              </a:ext>
            </a:extLst>
          </p:cNvPr>
          <p:cNvSpPr txBox="1"/>
          <p:nvPr/>
        </p:nvSpPr>
        <p:spPr>
          <a:xfrm>
            <a:off x="1232942" y="6178659"/>
            <a:ext cx="462446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https://www.ragas.io/</a:t>
            </a:r>
          </a:p>
        </p:txBody>
      </p:sp>
    </p:spTree>
    <p:extLst>
      <p:ext uri="{BB962C8B-B14F-4D97-AF65-F5344CB8AC3E}">
        <p14:creationId xmlns:p14="http://schemas.microsoft.com/office/powerpoint/2010/main" val="392753558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514C1-0545-0BA0-31A9-8BC1B83F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88B2687F-5534-0BE8-EDA1-1D2B4F6FC074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RAGAS Framework for RAG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B55DD-5CC5-0529-BE4C-1957272C6C59}"/>
              </a:ext>
            </a:extLst>
          </p:cNvPr>
          <p:cNvSpPr txBox="1"/>
          <p:nvPr/>
        </p:nvSpPr>
        <p:spPr>
          <a:xfrm>
            <a:off x="275303" y="1604463"/>
            <a:ext cx="8662220" cy="3640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Evaluating Generative AI Applications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RAG:</a:t>
            </a:r>
            <a:r>
              <a:rPr lang="en-IN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Retrieval-Augmented Generation (combining LLMs with external databases).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The Problem:</a:t>
            </a:r>
            <a:r>
              <a:rPr lang="en-IN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Traditional metrics (BLEU, ROUGE) are inadequate for measuring hallucination and context relevance.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RAGAS:</a:t>
            </a:r>
            <a:r>
              <a:rPr lang="en-IN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Retrieval Augmented Generation Assessment.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Objective:</a:t>
            </a:r>
            <a:r>
              <a:rPr lang="en-IN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 automated framework using an LLM evaluator to score the distinct components of a RAG pipeline without human labels.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45391-3557-EAC9-FBA2-FEEC8ED2527F}"/>
              </a:ext>
            </a:extLst>
          </p:cNvPr>
          <p:cNvSpPr txBox="1"/>
          <p:nvPr/>
        </p:nvSpPr>
        <p:spPr>
          <a:xfrm>
            <a:off x="670810" y="5991280"/>
            <a:ext cx="457949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https://www.ragas.io/</a:t>
            </a:r>
          </a:p>
        </p:txBody>
      </p:sp>
    </p:spTree>
    <p:extLst>
      <p:ext uri="{BB962C8B-B14F-4D97-AF65-F5344CB8AC3E}">
        <p14:creationId xmlns:p14="http://schemas.microsoft.com/office/powerpoint/2010/main" val="30339041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04C0-EC24-0C06-F406-DC5B3495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05A762AB-1256-C401-0F75-EB729F1A86D6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RAG Two-Pipeline Architecture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50BCB-FC48-D288-FF0D-9ABBDFEE364F}"/>
              </a:ext>
            </a:extLst>
          </p:cNvPr>
          <p:cNvSpPr txBox="1"/>
          <p:nvPr/>
        </p:nvSpPr>
        <p:spPr>
          <a:xfrm>
            <a:off x="275303" y="1604463"/>
            <a:ext cx="866222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Understanding What to Evaluate</a:t>
            </a:r>
            <a:r>
              <a:rPr lang="en-IN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Every RAG system has two distinct paths that must be optimized and evaluated independently.</a:t>
            </a:r>
          </a:p>
          <a:p>
            <a:endParaRPr lang="en-IN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endParaRPr lang="en-IN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endParaRPr lang="en-IN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B8EA8-1806-3532-11ED-F33DD2CE9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2439956"/>
            <a:ext cx="8209936" cy="1406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018A89-3559-E146-CABD-0668DB00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77" y="3917284"/>
            <a:ext cx="5768840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310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683E-7C5B-0B34-23C3-24EA73B8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E6FA99D7-0EB6-76E2-3289-12D643FDF4D4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RAGAS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8E4D9-8FEB-B86E-1B50-326BC12D3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93" y="1070548"/>
            <a:ext cx="8049718" cy="536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019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4682-57FE-29A7-1CB0-9D810A91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23FD06A8-0421-C4EF-D4D6-8933A841D2CA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Core Metrics in RAGAS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C9D95-D8C4-4C51-E6D6-C3E6417995D5}"/>
              </a:ext>
            </a:extLst>
          </p:cNvPr>
          <p:cNvSpPr txBox="1"/>
          <p:nvPr/>
        </p:nvSpPr>
        <p:spPr>
          <a:xfrm>
            <a:off x="275303" y="1604463"/>
            <a:ext cx="866222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Evaluating the Generator (The LLM)</a:t>
            </a:r>
          </a:p>
          <a:p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Faithfulness: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Measures if the generated answer is strictly grounded in the retrieved context to detect hallucinations.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Answer Relevance: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Measures how well the generated answer directly addresses the user's initial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Measurement Tool: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RAGAS uses foundation models as an automated judge to score these dimensions.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CB55C-7039-40CA-A389-9F348DDFD6DC}"/>
              </a:ext>
            </a:extLst>
          </p:cNvPr>
          <p:cNvSpPr txBox="1"/>
          <p:nvPr/>
        </p:nvSpPr>
        <p:spPr>
          <a:xfrm>
            <a:off x="329382" y="4067449"/>
            <a:ext cx="866222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Evaluating the Retriever (The Vector Search)</a:t>
            </a:r>
          </a:p>
          <a:p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Context Precision: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Evaluates if the top retrieved chunks are highly relevant to the query, rather than just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Context Recall: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Ensures that the retrieval mechanism successfully fetched all the necessary facts required to answer the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Balance: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High precision means no junk data; high recall means no missing facts.</a:t>
            </a:r>
          </a:p>
        </p:txBody>
      </p:sp>
    </p:spTree>
    <p:extLst>
      <p:ext uri="{BB962C8B-B14F-4D97-AF65-F5344CB8AC3E}">
        <p14:creationId xmlns:p14="http://schemas.microsoft.com/office/powerpoint/2010/main" val="404754957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4A873-9C7F-F28F-AE6B-B1753625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>
            <a:extLst>
              <a:ext uri="{FF2B5EF4-FFF2-40B4-BE49-F238E27FC236}">
                <a16:creationId xmlns:a16="http://schemas.microsoft.com/office/drawing/2014/main" id="{75569A95-0F08-FD26-2F81-34539C706010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304800" y="4648200"/>
            <a:ext cx="8458200" cy="96601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ctr">
              <a:lnSpc>
                <a:spcPct val="170000"/>
              </a:lnSpc>
            </a:pPr>
            <a:r>
              <a:rPr lang="en-IN" dirty="0" err="1"/>
              <a:t>Langfuse</a:t>
            </a:r>
            <a:endParaRPr lang="en-US" sz="1400" dirty="0"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2211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1F9C-2DB5-DDCD-A76B-881B3D1A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7C4B3D72-CB96-A6B3-D81E-983A03E54610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 err="1"/>
              <a:t>Langfuse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0FDE7-1B7C-F609-E9D5-F8485565CF6C}"/>
              </a:ext>
            </a:extLst>
          </p:cNvPr>
          <p:cNvSpPr txBox="1"/>
          <p:nvPr/>
        </p:nvSpPr>
        <p:spPr>
          <a:xfrm>
            <a:off x="400987" y="6006271"/>
            <a:ext cx="4579494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600" dirty="0"/>
              <a:t>https://langfuse.com/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73ABD-25DF-7B9F-CDFC-5F8DDAAFF989}"/>
              </a:ext>
            </a:extLst>
          </p:cNvPr>
          <p:cNvSpPr txBox="1"/>
          <p:nvPr/>
        </p:nvSpPr>
        <p:spPr>
          <a:xfrm>
            <a:off x="155647" y="1539840"/>
            <a:ext cx="8778491" cy="4359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is an LLM observability platform that enables tracing, monitoring, debugging, and analysis of LLM applications, making it an important component of the </a:t>
            </a:r>
            <a:r>
              <a:rPr lang="en-US" sz="17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LLMOps</a:t>
            </a: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lifecycle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Captures answers for the following questions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 did the LLM do?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Why did it produce this answer?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 long did it take?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 many tokens did it use?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What context was retrieved?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 much did it cost?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Was the answer grounded?</a:t>
            </a:r>
          </a:p>
        </p:txBody>
      </p:sp>
    </p:spTree>
    <p:extLst>
      <p:ext uri="{BB962C8B-B14F-4D97-AF65-F5344CB8AC3E}">
        <p14:creationId xmlns:p14="http://schemas.microsoft.com/office/powerpoint/2010/main" val="325544702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BB28-8FC5-E3F6-0A1A-7EEDA3820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961DE8C8-D730-D88C-D065-EDE4C2C10A5A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RAGAS - Practical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423F9-1F6F-93F1-A657-B7D9B99B7C53}"/>
              </a:ext>
            </a:extLst>
          </p:cNvPr>
          <p:cNvSpPr txBox="1"/>
          <p:nvPr/>
        </p:nvSpPr>
        <p:spPr>
          <a:xfrm>
            <a:off x="660692" y="5653928"/>
            <a:ext cx="4581832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70C0"/>
                </a:solidFill>
              </a:rPr>
              <a:t>ragas-demo.py</a:t>
            </a:r>
          </a:p>
        </p:txBody>
      </p:sp>
    </p:spTree>
    <p:extLst>
      <p:ext uri="{BB962C8B-B14F-4D97-AF65-F5344CB8AC3E}">
        <p14:creationId xmlns:p14="http://schemas.microsoft.com/office/powerpoint/2010/main" val="14494266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7EC0-9CF8-47B4-EECC-557872FF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C62BC364-BF4B-9C1C-32C0-4E36109244CC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Steps 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B7446-FB60-51DD-3AE5-D13E3909D8A7}"/>
              </a:ext>
            </a:extLst>
          </p:cNvPr>
          <p:cNvSpPr txBox="1"/>
          <p:nvPr/>
        </p:nvSpPr>
        <p:spPr>
          <a:xfrm>
            <a:off x="240890" y="1499532"/>
            <a:ext cx="8662220" cy="5062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Take the RAG application code </a:t>
            </a:r>
          </a:p>
          <a:p>
            <a:pPr marL="342900" indent="-342900"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Update “requirements.txt” file to include 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ragas</a:t>
            </a:r>
          </a:p>
          <a:p>
            <a:pPr marL="342900" indent="-342900"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the terminal, execute “pip install -r requirements.txt”</a:t>
            </a:r>
          </a:p>
          <a:p>
            <a:pPr marL="342900" indent="-342900"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 “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eval.json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” file [new] – </a:t>
            </a:r>
            <a:r>
              <a:rPr lang="en-IN" sz="1700" dirty="0">
                <a:solidFill>
                  <a:srgbClr val="0070C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 questions relevant to your datastore</a:t>
            </a:r>
          </a:p>
          <a:p>
            <a:pPr marL="342900" indent="-342900">
              <a:buFontTx/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Register for the free 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account at “</a:t>
            </a: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cloud.langfuse.com”; select any region and login with your </a:t>
            </a:r>
            <a:r>
              <a:rPr lang="en-US" sz="17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gmail</a:t>
            </a: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(personal) credentials</a:t>
            </a:r>
          </a:p>
          <a:p>
            <a:pPr marL="342900" indent="-342900">
              <a:buFontTx/>
              <a:buAutoNum type="arabicPeriod"/>
            </a:pP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Create a new project in </a:t>
            </a:r>
            <a:r>
              <a:rPr lang="en-US" sz="17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US" sz="17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and generate API keys for them</a:t>
            </a:r>
          </a:p>
          <a:p>
            <a:pPr marL="342900" indent="-342900">
              <a:buFontTx/>
              <a:buAutoNum type="arabicPeriod"/>
            </a:pP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Go to “Tracing” -&gt; “Create API Keys” -&gt; Copy the “.env” settings and paste inside the local “.env” file</a:t>
            </a:r>
          </a:p>
          <a:p>
            <a:pPr marL="342900" indent="-342900">
              <a:buFontTx/>
              <a:buAutoNum type="arabicPeriod"/>
            </a:pP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Change “</a:t>
            </a:r>
            <a:r>
              <a:rPr lang="en-US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langfuse_base_url</a:t>
            </a: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” to “</a:t>
            </a:r>
            <a:r>
              <a:rPr lang="en-US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langfuse_host</a:t>
            </a: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”</a:t>
            </a:r>
          </a:p>
          <a:p>
            <a:pPr marL="342900" indent="-342900">
              <a:buFontTx/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Update the “.env” file to include 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endParaRPr lang="en-IN" sz="17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Update config.py file with </a:t>
            </a:r>
            <a:r>
              <a:rPr lang="en-US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details</a:t>
            </a:r>
          </a:p>
          <a:p>
            <a:pPr marL="342900" indent="-342900">
              <a:buFontTx/>
              <a:buAutoNum type="arabicPeriod"/>
            </a:pP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 changes in “ingest.py” since during ingestion, we don’t use monitoring </a:t>
            </a:r>
          </a:p>
          <a:p>
            <a:pPr marL="342900" indent="-342900">
              <a:buFontTx/>
              <a:buAutoNum type="arabicPeriod"/>
            </a:pPr>
            <a:r>
              <a:rPr lang="en-US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Update “rag.py” to include </a:t>
            </a:r>
            <a:r>
              <a:rPr lang="en-US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endParaRPr lang="en-US" sz="17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Add “evaluate.py” to include 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+ ragas [new]</a:t>
            </a:r>
          </a:p>
          <a:p>
            <a:pPr marL="342900" indent="-342900">
              <a:buFontTx/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Update “app.py” to include 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langfuse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code + ragas</a:t>
            </a:r>
          </a:p>
          <a:p>
            <a:pPr marL="342900" indent="-342900">
              <a:buFontTx/>
              <a:buAutoNum type="arabicPeriod"/>
            </a:pP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Sequence of execution -&gt; “python ingest.py”, “python evaluate.py” and “</a:t>
            </a:r>
            <a:r>
              <a:rPr lang="en-IN" sz="17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streamlit</a:t>
            </a:r>
            <a:r>
              <a:rPr lang="en-IN" sz="1700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run app.py”</a:t>
            </a:r>
          </a:p>
          <a:p>
            <a:pPr marL="342900" indent="-342900">
              <a:buAutoNum type="arabicPeriod"/>
            </a:pPr>
            <a:endParaRPr lang="en-IN" sz="17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101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700F-6DC4-49D5-0B95-70E784A5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54FB2738-051B-0B4F-0836-5B24473F6063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/>
              <a:t>What to observe in </a:t>
            </a:r>
            <a:r>
              <a:rPr lang="en-IN" sz="2800" dirty="0" err="1"/>
              <a:t>Langfuse</a:t>
            </a:r>
            <a:r>
              <a:rPr lang="en-IN" sz="2800" dirty="0"/>
              <a:t>? 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B3AC5-08FD-9BF7-BF60-03E19A28F510}"/>
              </a:ext>
            </a:extLst>
          </p:cNvPr>
          <p:cNvSpPr txBox="1"/>
          <p:nvPr/>
        </p:nvSpPr>
        <p:spPr>
          <a:xfrm>
            <a:off x="240890" y="1499532"/>
            <a:ext cx="8662220" cy="2542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Scores under Evaluation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Sessions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Tracing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[Original code -&gt; Final Code -&gt; Basic Rag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Changes -&gt; rag-increment-</a:t>
            </a:r>
            <a:r>
              <a:rPr lang="en-US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llmops</a:t>
            </a:r>
            <a:r>
              <a:rPr lang="en-US" dirty="0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]</a:t>
            </a:r>
            <a:endParaRPr lang="en-IN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2E633-8522-D5CF-31CB-D289FAEBC5D0}"/>
              </a:ext>
            </a:extLst>
          </p:cNvPr>
          <p:cNvSpPr txBox="1"/>
          <p:nvPr/>
        </p:nvSpPr>
        <p:spPr>
          <a:xfrm>
            <a:off x="660692" y="5653928"/>
            <a:ext cx="4581832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0070C0"/>
                </a:solidFill>
              </a:rPr>
              <a:t>rag-increment-llmops.py</a:t>
            </a:r>
          </a:p>
        </p:txBody>
      </p:sp>
    </p:spTree>
    <p:extLst>
      <p:ext uri="{BB962C8B-B14F-4D97-AF65-F5344CB8AC3E}">
        <p14:creationId xmlns:p14="http://schemas.microsoft.com/office/powerpoint/2010/main" val="46113474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4B13C-4306-056A-A0F1-015D993A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A021BD3B-5E92-76C9-4018-24F1431AEE01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IN" sz="2800" dirty="0" err="1"/>
              <a:t>LLMOps</a:t>
            </a:r>
            <a:r>
              <a:rPr lang="en-IN" sz="2800" dirty="0"/>
              <a:t> – Additional Metrics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52EDA-1192-6854-C3AE-DFD6863D382F}"/>
              </a:ext>
            </a:extLst>
          </p:cNvPr>
          <p:cNvSpPr txBox="1"/>
          <p:nvPr/>
        </p:nvSpPr>
        <p:spPr>
          <a:xfrm>
            <a:off x="247881" y="6092889"/>
            <a:ext cx="45818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llmops-additionalmetrics.py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739D6D-890F-30DB-3A4B-CCF6CD7C9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805948"/>
              </p:ext>
            </p:extLst>
          </p:nvPr>
        </p:nvGraphicFramePr>
        <p:xfrm>
          <a:off x="247881" y="1430477"/>
          <a:ext cx="8239546" cy="45738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04591">
                  <a:extLst>
                    <a:ext uri="{9D8B030D-6E8A-4147-A177-3AD203B41FA5}">
                      <a16:colId xmlns:a16="http://schemas.microsoft.com/office/drawing/2014/main" val="4003264699"/>
                    </a:ext>
                  </a:extLst>
                </a:gridCol>
                <a:gridCol w="4634955">
                  <a:extLst>
                    <a:ext uri="{9D8B030D-6E8A-4147-A177-3AD203B41FA5}">
                      <a16:colId xmlns:a16="http://schemas.microsoft.com/office/drawing/2014/main" val="426522388"/>
                    </a:ext>
                  </a:extLst>
                </a:gridCol>
              </a:tblGrid>
              <a:tr h="2155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Term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Meaning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426179421"/>
                  </a:ext>
                </a:extLst>
              </a:tr>
              <a:tr h="2155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answer_length_words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Number of words in the generated answer.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418237643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ragas_answer_relevancy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how directly the generated answer addresses the user's question.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719154764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ragas_conciseness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whether the answer is concise and avoids unnecessary information.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067773925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ragas_faithfulness</a:t>
                      </a:r>
                      <a:endParaRPr lang="en-US" sz="10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whether the answer's claims are supported by the retrieved context.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324063321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ragas_llm_context_precision_without_reference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how precisely the retrieved context contains information relevant to the question, without using a reference answer.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459152477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ragas_nv_context_relevance</a:t>
                      </a:r>
                      <a:endParaRPr lang="en-US" sz="10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how relevant the retrieved context is to the user's question.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911679797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ragas_nv_response_groundedness</a:t>
                      </a:r>
                      <a:endParaRPr lang="en-US" sz="10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Measures how well the generated answer is grounded in the retrieved context.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904080413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refused_to_answer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Indicates whether the system refused to generate an answer.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901346472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retrieval_mean_score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Average similarity score of all retrieved chunks/documents.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276029791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retrieval_top_score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Similarity score of the highest-ranked retrieved chunk/document.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540776197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top_source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The source document associated with the highest-ranked retrieved content.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861302366"/>
                  </a:ext>
                </a:extLst>
              </a:tr>
              <a:tr h="3592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unique_sources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Number of distinct source documents used in the retrieved context.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31272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11778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218B-4008-1CAD-C722-54E1B8CB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Stock Photos, Images and ...">
            <a:extLst>
              <a:ext uri="{FF2B5EF4-FFF2-40B4-BE49-F238E27FC236}">
                <a16:creationId xmlns:a16="http://schemas.microsoft.com/office/drawing/2014/main" id="{2501F4FB-E29C-180C-483D-7E20CE1EE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605" y="2396631"/>
            <a:ext cx="4206146" cy="266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176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5096-8AFE-03A6-DF4B-C3BFC6BA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ontent Placeholder 4">
            <a:extLst>
              <a:ext uri="{FF2B5EF4-FFF2-40B4-BE49-F238E27FC236}">
                <a16:creationId xmlns:a16="http://schemas.microsoft.com/office/drawing/2014/main" id="{BB65969E-CA64-4D8C-BA1B-D2D6608FB551}"/>
              </a:ext>
            </a:extLst>
          </p:cNvPr>
          <p:cNvSpPr txBox="1"/>
          <p:nvPr/>
        </p:nvSpPr>
        <p:spPr>
          <a:xfrm>
            <a:off x="155647" y="152400"/>
            <a:ext cx="648160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342900" indent="-685800">
              <a:lnSpc>
                <a:spcPts val="3600"/>
              </a:lnSpc>
              <a:defRPr sz="3600" b="1" spc="-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 hangingPunct="1">
              <a:defRPr/>
            </a:pPr>
            <a:r>
              <a:rPr lang="en-US" sz="3200" dirty="0"/>
              <a:t>Appendix – Overall Metrics</a:t>
            </a:r>
            <a:endParaRPr lang="en-US" sz="3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CAE9E9-AB1C-0DD5-942F-01F0C9CAA427}"/>
              </a:ext>
            </a:extLst>
          </p:cNvPr>
          <p:cNvGraphicFramePr>
            <a:graphicFrameLocks noGrp="1"/>
          </p:cNvGraphicFramePr>
          <p:nvPr/>
        </p:nvGraphicFramePr>
        <p:xfrm>
          <a:off x="287774" y="1342752"/>
          <a:ext cx="8631374" cy="4941084"/>
        </p:xfrm>
        <a:graphic>
          <a:graphicData uri="http://schemas.openxmlformats.org/drawingml/2006/table">
            <a:tbl>
              <a:tblPr/>
              <a:tblGrid>
                <a:gridCol w="1848208">
                  <a:extLst>
                    <a:ext uri="{9D8B030D-6E8A-4147-A177-3AD203B41FA5}">
                      <a16:colId xmlns:a16="http://schemas.microsoft.com/office/drawing/2014/main" val="273793680"/>
                    </a:ext>
                  </a:extLst>
                </a:gridCol>
                <a:gridCol w="2007308">
                  <a:extLst>
                    <a:ext uri="{9D8B030D-6E8A-4147-A177-3AD203B41FA5}">
                      <a16:colId xmlns:a16="http://schemas.microsoft.com/office/drawing/2014/main" val="151811140"/>
                    </a:ext>
                  </a:extLst>
                </a:gridCol>
                <a:gridCol w="2618014">
                  <a:extLst>
                    <a:ext uri="{9D8B030D-6E8A-4147-A177-3AD203B41FA5}">
                      <a16:colId xmlns:a16="http://schemas.microsoft.com/office/drawing/2014/main" val="3208203599"/>
                    </a:ext>
                  </a:extLst>
                </a:gridCol>
                <a:gridCol w="2157844">
                  <a:extLst>
                    <a:ext uri="{9D8B030D-6E8A-4147-A177-3AD203B41FA5}">
                      <a16:colId xmlns:a16="http://schemas.microsoft.com/office/drawing/2014/main" val="916159419"/>
                    </a:ext>
                  </a:extLst>
                </a:gridCol>
              </a:tblGrid>
              <a:tr h="3377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Category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MLOps (Predictive Models)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LLMOps (Large Language Models)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AgentOps (AI Agents)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664143"/>
                  </a:ext>
                </a:extLst>
              </a:tr>
              <a:tr h="3377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Primary Goal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Accurate predictions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High-quality text generation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Successful autonomous task execution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204643"/>
                  </a:ext>
                </a:extLst>
              </a:tr>
              <a:tr h="607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Model Quality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Accuracy, Precision, Recall, F1-score, ROC-AUC, RMSE, MAE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BLEU, ROUGE, BERTScore, Exact Match (EM), Semantic Similarity, Hallucination Rate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Task Success Rate, Goal Completion Rate, Decision Accuracy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598954"/>
                  </a:ext>
                </a:extLst>
              </a:tr>
              <a:tr h="607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Operational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Inference Latency, Throughput, Model Drift, Data Drift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Token Latency (TTFT, Tokens/sec), Response Time, Cost per Request, Token Usage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End-to-End Task Latency, Workflow Completion Time, Agent Utilization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02433"/>
                  </a:ext>
                </a:extLst>
              </a:tr>
              <a:tr h="4728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Reliability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Model Availability, Prediction Error Rate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Response Consistency, Hallucination Rate, Safety Violations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Task Failure Rate, Recovery Rate, Retry Success Rate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63564"/>
                  </a:ext>
                </a:extLst>
              </a:tr>
              <a:tr h="607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Data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Data Quality, Missing Values, Feature Drift, Data Freshness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Prompt Quality, Context Window Utilization, Retrieval Accuracy (for RAG)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Memory Retrieval Accuracy, Context Retention, Knowledge Freshness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743304"/>
                  </a:ext>
                </a:extLst>
              </a:tr>
              <a:tr h="4728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Efficiency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CPU/GPU Utilization, Batch Throughput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Token Consumption, Cost per 1K Tokens, GPU Utilization, Cache Hit Rate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Number of Tool Calls, Planning Efficiency, Resource Utilization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976867"/>
                  </a:ext>
                </a:extLst>
              </a:tr>
              <a:tr h="4728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User-Centric Metrics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Prediction Accuracy, Business KPIs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 Satisfaction, Helpfulness, Relevance, Human Evaluation Scores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User Task Success, User Satisfaction, Number of Human Interventions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251139"/>
                  </a:ext>
                </a:extLst>
              </a:tr>
              <a:tr h="607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Monitoring Focus</a:t>
                      </a:r>
                      <a:endParaRPr lang="en-US" sz="120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Model degradation and data drift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Prompt performance, hallucinations, token usage, response quality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Agent reasoning, planning, tool usage, memory, collaboration, task execution</a:t>
                      </a:r>
                    </a:p>
                  </a:txBody>
                  <a:tcPr marL="67552" marR="67552" marT="33776" marB="33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9537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4569</TotalTime>
  <Words>1313</Words>
  <Application>Microsoft Office PowerPoint</Application>
  <PresentationFormat>On-screen Show (4:3)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Microsoft Sans Serif</vt:lpstr>
      <vt:lpstr>Office Theme</vt:lpstr>
      <vt:lpstr>FDP  From Pipelines to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Shreyas Suresh Rao .</cp:lastModifiedBy>
  <cp:revision>555</cp:revision>
  <dcterms:modified xsi:type="dcterms:W3CDTF">2026-09-30T07:13:55Z</dcterms:modified>
</cp:coreProperties>
</file>